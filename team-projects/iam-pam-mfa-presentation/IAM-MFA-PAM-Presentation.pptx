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660" autoAdjust="0"/>
    <p:restoredTop sz="94610"/>
  </p:normalViewPr>
  <p:slideViewPr>
    <p:cSldViewPr snapToGrid="0" snapToObjects="1">
      <p:cViewPr varScale="1">
        <p:scale>
          <a:sx n="50" d="100"/>
          <a:sy n="50" d="100"/>
        </p:scale>
        <p:origin x="48"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7.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4.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1.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6.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5.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6.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0E7C7B">
              <a:alpha val="16000"/>
            </a:srgbClr>
          </a:solidFill>
        </p:spPr>
        <p:txBody>
          <a:bodyPr/>
          <a:lstStyle/>
          <a:p>
            <a:endParaRPr lang="ar-EG"/>
          </a:p>
        </p:txBody>
      </p:sp>
      <p:sp>
        <p:nvSpPr>
          <p:cNvPr id="3" name="Shape 1"/>
          <p:cNvSpPr/>
          <p:nvPr/>
        </p:nvSpPr>
        <p:spPr>
          <a:xfrm>
            <a:off x="10332720" y="3291840"/>
            <a:ext cx="3840480" cy="3840480"/>
          </a:xfrm>
          <a:prstGeom prst="ellipse">
            <a:avLst/>
          </a:prstGeom>
          <a:solidFill>
            <a:srgbClr val="E8871E">
              <a:alpha val="14000"/>
            </a:srgbClr>
          </a:solidFill>
        </p:spPr>
        <p:txBody>
          <a:bodyPr/>
          <a:lstStyle/>
          <a:p>
            <a:endParaRPr lang="ar-EG"/>
          </a:p>
        </p:txBody>
      </p:sp>
      <p:sp>
        <p:nvSpPr>
          <p:cNvPr id="4" name="Shape 2"/>
          <p:cNvSpPr/>
          <p:nvPr/>
        </p:nvSpPr>
        <p:spPr>
          <a:xfrm>
            <a:off x="640080" y="566928"/>
            <a:ext cx="868680" cy="868680"/>
          </a:xfrm>
          <a:prstGeom prst="ellipse">
            <a:avLst/>
          </a:prstGeom>
          <a:solidFill>
            <a:srgbClr val="0E7C7B"/>
          </a:solidFill>
        </p:spPr>
        <p:txBody>
          <a:bodyPr/>
          <a:lstStyle/>
          <a:p>
            <a:endParaRPr lang="ar-EG"/>
          </a:p>
        </p:txBody>
      </p:sp>
      <p:pic>
        <p:nvPicPr>
          <p:cNvPr id="5" name="Image 0" descr="/home/claude/deck/icons/user_shield.png"/>
          <p:cNvPicPr>
            <a:picLocks noChangeAspect="1"/>
          </p:cNvPicPr>
          <p:nvPr/>
        </p:nvPicPr>
        <p:blipFill>
          <a:blip r:embed="rId3"/>
          <a:stretch>
            <a:fillRect/>
          </a:stretch>
        </p:blipFill>
        <p:spPr>
          <a:xfrm>
            <a:off x="831190" y="758038"/>
            <a:ext cx="486461" cy="486461"/>
          </a:xfrm>
          <a:prstGeom prst="rect">
            <a:avLst/>
          </a:prstGeom>
        </p:spPr>
      </p:pic>
      <p:sp>
        <p:nvSpPr>
          <p:cNvPr id="6" name="Text 3"/>
          <p:cNvSpPr/>
          <p:nvPr/>
        </p:nvSpPr>
        <p:spPr>
          <a:xfrm>
            <a:off x="640080" y="2331720"/>
            <a:ext cx="10607040" cy="320040"/>
          </a:xfrm>
          <a:prstGeom prst="rect">
            <a:avLst/>
          </a:prstGeom>
          <a:noFill/>
        </p:spPr>
        <p:txBody>
          <a:bodyPr wrap="square" rtlCol="0" anchor="ctr"/>
          <a:lstStyle/>
          <a:p>
            <a:pPr marL="0" indent="0">
              <a:buNone/>
            </a:pPr>
            <a:r>
              <a:rPr lang="en-US" sz="1400" b="1" kern="0" spc="200" dirty="0">
                <a:solidFill>
                  <a:srgbClr val="0E7C7B"/>
                </a:solidFill>
                <a:latin typeface="Calibri" panose="020F0502020204030204" pitchFamily="34" charset="0"/>
                <a:ea typeface="Calibri" panose="020F0502020204030204" pitchFamily="34" charset="-122"/>
                <a:cs typeface="Calibri" panose="020F0502020204030204" pitchFamily="34" charset="-120"/>
              </a:rPr>
              <a:t>IDENTITY &amp; ACCESS SECURITY</a:t>
            </a:r>
            <a:endParaRPr lang="en-US" sz="1400" dirty="0"/>
          </a:p>
        </p:txBody>
      </p:sp>
      <p:sp>
        <p:nvSpPr>
          <p:cNvPr id="7" name="Text 4"/>
          <p:cNvSpPr/>
          <p:nvPr/>
        </p:nvSpPr>
        <p:spPr>
          <a:xfrm>
            <a:off x="621792" y="2651760"/>
            <a:ext cx="10881360" cy="1737360"/>
          </a:xfrm>
          <a:prstGeom prst="rect">
            <a:avLst/>
          </a:prstGeom>
          <a:noFill/>
        </p:spPr>
        <p:txBody>
          <a:bodyPr wrap="square" rtlCol="0" anchor="ctr"/>
          <a:lstStyle/>
          <a:p>
            <a:pPr marL="0" indent="0">
              <a:lnSpc>
                <a:spcPts val="5000"/>
              </a:lnSpc>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IAM, MFA, PAM &amp;</a:t>
            </a:r>
            <a:endParaRPr lang="en-US" sz="4600" dirty="0"/>
          </a:p>
          <a:p>
            <a:pPr marL="0" indent="0">
              <a:lnSpc>
                <a:spcPts val="5000"/>
              </a:lnSpc>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MFA Fatigue Protection</a:t>
            </a:r>
            <a:endParaRPr lang="en-US" sz="4600" dirty="0"/>
          </a:p>
        </p:txBody>
      </p:sp>
      <p:sp>
        <p:nvSpPr>
          <p:cNvPr id="9" name="Shape 6"/>
          <p:cNvSpPr/>
          <p:nvPr/>
        </p:nvSpPr>
        <p:spPr>
          <a:xfrm>
            <a:off x="640080" y="5257800"/>
            <a:ext cx="10881360" cy="0"/>
          </a:xfrm>
          <a:prstGeom prst="line">
            <a:avLst/>
          </a:prstGeom>
          <a:noFill/>
          <a:ln w="12700">
            <a:solidFill>
              <a:srgbClr val="44484A"/>
            </a:solidFill>
            <a:prstDash val="solid"/>
          </a:ln>
        </p:spPr>
        <p:txBody>
          <a:bodyPr/>
          <a:lstStyle/>
          <a:p>
            <a:endParaRPr lang="ar-EG"/>
          </a:p>
        </p:txBody>
      </p:sp>
      <p:sp>
        <p:nvSpPr>
          <p:cNvPr id="10" name="Text 7"/>
          <p:cNvSpPr/>
          <p:nvPr/>
        </p:nvSpPr>
        <p:spPr>
          <a:xfrm>
            <a:off x="640080" y="5440680"/>
            <a:ext cx="2743200" cy="256032"/>
          </a:xfrm>
          <a:prstGeom prst="rect">
            <a:avLst/>
          </a:prstGeom>
          <a:noFill/>
        </p:spPr>
        <p:txBody>
          <a:bodyPr wrap="square" rtlCol="0" anchor="ctr"/>
          <a:lstStyle/>
          <a:p>
            <a:pPr marL="0" indent="0">
              <a:buNone/>
            </a:pPr>
            <a:r>
              <a:rPr lang="en-US" sz="1050" b="1" kern="0" spc="150" dirty="0">
                <a:solidFill>
                  <a:srgbClr val="8B939A"/>
                </a:solidFill>
                <a:latin typeface="Calibri" panose="020F0502020204030204" pitchFamily="34" charset="0"/>
                <a:ea typeface="Calibri" panose="020F0502020204030204" pitchFamily="34" charset="-122"/>
                <a:cs typeface="Calibri" panose="020F0502020204030204" pitchFamily="34" charset="-120"/>
              </a:rPr>
              <a:t>PRESENTED BY</a:t>
            </a:r>
            <a:endParaRPr lang="en-US" sz="1050" dirty="0"/>
          </a:p>
        </p:txBody>
      </p:sp>
      <p:sp>
        <p:nvSpPr>
          <p:cNvPr id="11" name="Text 8"/>
          <p:cNvSpPr/>
          <p:nvPr/>
        </p:nvSpPr>
        <p:spPr>
          <a:xfrm>
            <a:off x="640080" y="5742432"/>
            <a:ext cx="10881360" cy="45720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Yasmin Amgad   ·   Aya AbuElhamed   ·   Suhaila Saeed   ·   Sandy Sadek   ·   Jana Hady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AGENDA</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ROADMAP</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What We'll Cover — 5 Sections</a:t>
            </a:r>
            <a:endParaRPr lang="en-US" sz="3000" dirty="0"/>
          </a:p>
        </p:txBody>
      </p:sp>
      <p:sp>
        <p:nvSpPr>
          <p:cNvPr id="7" name="Shape 5"/>
          <p:cNvSpPr/>
          <p:nvPr/>
        </p:nvSpPr>
        <p:spPr>
          <a:xfrm>
            <a:off x="502920" y="1417320"/>
            <a:ext cx="11201400" cy="786384"/>
          </a:xfrm>
          <a:prstGeom prst="roundRect">
            <a:avLst>
              <a:gd name="adj" fmla="val 8140"/>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685800" y="1554480"/>
            <a:ext cx="548640" cy="512064"/>
          </a:xfrm>
          <a:prstGeom prst="rect">
            <a:avLst/>
          </a:prstGeom>
          <a:noFill/>
        </p:spPr>
        <p:txBody>
          <a:bodyPr wrap="square" rtlCol="0" anchor="ctr"/>
          <a:lstStyle/>
          <a:p>
            <a:pPr marL="0" indent="0" algn="ctr">
              <a:buNone/>
            </a:pPr>
            <a:r>
              <a:rPr lang="en-US" sz="2600" b="1" dirty="0">
                <a:solidFill>
                  <a:srgbClr val="C7DAD9"/>
                </a:solidFill>
                <a:latin typeface="Cambria" panose="02040503050406030204" pitchFamily="34" charset="0"/>
                <a:ea typeface="Cambria" panose="02040503050406030204" pitchFamily="34" charset="-122"/>
                <a:cs typeface="Cambria" panose="02040503050406030204" pitchFamily="34" charset="-120"/>
              </a:rPr>
              <a:t>1</a:t>
            </a:r>
            <a:endParaRPr lang="en-US" sz="2600" dirty="0"/>
          </a:p>
        </p:txBody>
      </p:sp>
      <p:pic>
        <p:nvPicPr>
          <p:cNvPr id="9" name="Image 0" descr="/home/claude/deck/icons/shield_teal.png"/>
          <p:cNvPicPr>
            <a:picLocks noChangeAspect="1"/>
          </p:cNvPicPr>
          <p:nvPr/>
        </p:nvPicPr>
        <p:blipFill>
          <a:blip r:embed="rId3"/>
          <a:stretch>
            <a:fillRect/>
          </a:stretch>
        </p:blipFill>
        <p:spPr>
          <a:xfrm>
            <a:off x="1371600" y="1572768"/>
            <a:ext cx="457200" cy="457200"/>
          </a:xfrm>
          <a:prstGeom prst="rect">
            <a:avLst/>
          </a:prstGeom>
        </p:spPr>
      </p:pic>
      <p:sp>
        <p:nvSpPr>
          <p:cNvPr id="10" name="Text 7"/>
          <p:cNvSpPr/>
          <p:nvPr/>
        </p:nvSpPr>
        <p:spPr>
          <a:xfrm>
            <a:off x="2057400" y="1472184"/>
            <a:ext cx="5852160" cy="320040"/>
          </a:xfrm>
          <a:prstGeom prst="rect">
            <a:avLst/>
          </a:prstGeom>
          <a:noFill/>
        </p:spPr>
        <p:txBody>
          <a:bodyPr wrap="square" rtlCol="0" anchor="ctr"/>
          <a:lstStyle/>
          <a:p>
            <a:pPr marL="0" indent="0">
              <a:buNone/>
            </a:pPr>
            <a:r>
              <a:rPr lang="en-US" sz="1550" b="1" dirty="0">
                <a:solidFill>
                  <a:srgbClr val="2B2D2F"/>
                </a:solidFill>
                <a:latin typeface="Calibri" panose="020F0502020204030204" pitchFamily="34" charset="0"/>
                <a:ea typeface="Calibri" panose="020F0502020204030204" pitchFamily="34" charset="-122"/>
                <a:cs typeface="Calibri" panose="020F0502020204030204" pitchFamily="34" charset="-120"/>
              </a:rPr>
              <a:t>Introduction &amp; IAM Foundations</a:t>
            </a:r>
            <a:endParaRPr lang="en-US" sz="1550" dirty="0"/>
          </a:p>
        </p:txBody>
      </p:sp>
      <p:sp>
        <p:nvSpPr>
          <p:cNvPr id="11" name="Text 8"/>
          <p:cNvSpPr/>
          <p:nvPr/>
        </p:nvSpPr>
        <p:spPr>
          <a:xfrm>
            <a:off x="2057400" y="1801368"/>
            <a:ext cx="9052560" cy="32004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Why identity is the new perimeter, IAM definition &amp; architecture</a:t>
            </a:r>
            <a:endParaRPr lang="en-US" sz="1150" dirty="0"/>
          </a:p>
        </p:txBody>
      </p:sp>
      <p:sp>
        <p:nvSpPr>
          <p:cNvPr id="12" name="Shape 9"/>
          <p:cNvSpPr/>
          <p:nvPr/>
        </p:nvSpPr>
        <p:spPr>
          <a:xfrm>
            <a:off x="502920" y="2350008"/>
            <a:ext cx="11201400" cy="786384"/>
          </a:xfrm>
          <a:prstGeom prst="roundRect">
            <a:avLst>
              <a:gd name="adj" fmla="val 8140"/>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3" name="Text 10"/>
          <p:cNvSpPr/>
          <p:nvPr/>
        </p:nvSpPr>
        <p:spPr>
          <a:xfrm>
            <a:off x="685800" y="2487168"/>
            <a:ext cx="548640" cy="512064"/>
          </a:xfrm>
          <a:prstGeom prst="rect">
            <a:avLst/>
          </a:prstGeom>
          <a:noFill/>
        </p:spPr>
        <p:txBody>
          <a:bodyPr wrap="square" rtlCol="0" anchor="ctr"/>
          <a:lstStyle/>
          <a:p>
            <a:pPr marL="0" indent="0" algn="ctr">
              <a:buNone/>
            </a:pPr>
            <a:r>
              <a:rPr lang="en-US" sz="2600" b="1" dirty="0">
                <a:solidFill>
                  <a:srgbClr val="C7DAD9"/>
                </a:solidFill>
                <a:latin typeface="Cambria" panose="02040503050406030204" pitchFamily="34" charset="0"/>
                <a:ea typeface="Cambria" panose="02040503050406030204" pitchFamily="34" charset="-122"/>
                <a:cs typeface="Cambria" panose="02040503050406030204" pitchFamily="34" charset="-120"/>
              </a:rPr>
              <a:t>2</a:t>
            </a:r>
            <a:endParaRPr lang="en-US" sz="2600" dirty="0"/>
          </a:p>
        </p:txBody>
      </p:sp>
      <p:pic>
        <p:nvPicPr>
          <p:cNvPr id="14" name="Image 1" descr="/home/claude/deck/icons/sitemap_teal.png"/>
          <p:cNvPicPr>
            <a:picLocks noChangeAspect="1"/>
          </p:cNvPicPr>
          <p:nvPr/>
        </p:nvPicPr>
        <p:blipFill>
          <a:blip r:embed="rId4"/>
          <a:stretch>
            <a:fillRect/>
          </a:stretch>
        </p:blipFill>
        <p:spPr>
          <a:xfrm>
            <a:off x="1371600" y="2505456"/>
            <a:ext cx="457200" cy="457200"/>
          </a:xfrm>
          <a:prstGeom prst="rect">
            <a:avLst/>
          </a:prstGeom>
        </p:spPr>
      </p:pic>
      <p:sp>
        <p:nvSpPr>
          <p:cNvPr id="15" name="Text 11"/>
          <p:cNvSpPr/>
          <p:nvPr/>
        </p:nvSpPr>
        <p:spPr>
          <a:xfrm>
            <a:off x="2057400" y="2404872"/>
            <a:ext cx="5852160" cy="320040"/>
          </a:xfrm>
          <a:prstGeom prst="rect">
            <a:avLst/>
          </a:prstGeom>
          <a:noFill/>
        </p:spPr>
        <p:txBody>
          <a:bodyPr wrap="square" rtlCol="0" anchor="ctr"/>
          <a:lstStyle/>
          <a:p>
            <a:pPr marL="0" indent="0">
              <a:buNone/>
            </a:pPr>
            <a:r>
              <a:rPr lang="en-US" sz="1550" b="1" dirty="0">
                <a:solidFill>
                  <a:srgbClr val="2B2D2F"/>
                </a:solidFill>
                <a:latin typeface="Calibri" panose="020F0502020204030204" pitchFamily="34" charset="0"/>
                <a:ea typeface="Calibri" panose="020F0502020204030204" pitchFamily="34" charset="-122"/>
                <a:cs typeface="Calibri" panose="020F0502020204030204" pitchFamily="34" charset="-120"/>
              </a:rPr>
              <a:t>IAM Core Components</a:t>
            </a:r>
            <a:endParaRPr lang="en-US" sz="1550" dirty="0"/>
          </a:p>
        </p:txBody>
      </p:sp>
      <p:sp>
        <p:nvSpPr>
          <p:cNvPr id="16" name="Text 12"/>
          <p:cNvSpPr/>
          <p:nvPr/>
        </p:nvSpPr>
        <p:spPr>
          <a:xfrm>
            <a:off x="2057400" y="2734056"/>
            <a:ext cx="9052560" cy="32004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Identity lifecycle, RBAC/ABAC, SSO, SAML, OAuth2 &amp; OIDC</a:t>
            </a:r>
            <a:endParaRPr lang="en-US" sz="1150" dirty="0"/>
          </a:p>
        </p:txBody>
      </p:sp>
      <p:sp>
        <p:nvSpPr>
          <p:cNvPr id="17" name="Shape 13"/>
          <p:cNvSpPr/>
          <p:nvPr/>
        </p:nvSpPr>
        <p:spPr>
          <a:xfrm>
            <a:off x="502920" y="3282696"/>
            <a:ext cx="11201400" cy="786384"/>
          </a:xfrm>
          <a:prstGeom prst="roundRect">
            <a:avLst>
              <a:gd name="adj" fmla="val 8140"/>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8" name="Text 14"/>
          <p:cNvSpPr/>
          <p:nvPr/>
        </p:nvSpPr>
        <p:spPr>
          <a:xfrm>
            <a:off x="685800" y="3419856"/>
            <a:ext cx="548640" cy="512064"/>
          </a:xfrm>
          <a:prstGeom prst="rect">
            <a:avLst/>
          </a:prstGeom>
          <a:noFill/>
        </p:spPr>
        <p:txBody>
          <a:bodyPr wrap="square" rtlCol="0" anchor="ctr"/>
          <a:lstStyle/>
          <a:p>
            <a:pPr marL="0" indent="0" algn="ctr">
              <a:buNone/>
            </a:pPr>
            <a:r>
              <a:rPr lang="en-US" sz="2600" b="1" dirty="0">
                <a:solidFill>
                  <a:srgbClr val="C7DAD9"/>
                </a:solidFill>
                <a:latin typeface="Cambria" panose="02040503050406030204" pitchFamily="34" charset="0"/>
                <a:ea typeface="Cambria" panose="02040503050406030204" pitchFamily="34" charset="-122"/>
                <a:cs typeface="Cambria" panose="02040503050406030204" pitchFamily="34" charset="-120"/>
              </a:rPr>
              <a:t>3</a:t>
            </a:r>
            <a:endParaRPr lang="en-US" sz="2600" dirty="0"/>
          </a:p>
        </p:txBody>
      </p:sp>
      <p:pic>
        <p:nvPicPr>
          <p:cNvPr id="19" name="Image 2" descr="/home/claude/deck/icons/fingerprint_teal.png"/>
          <p:cNvPicPr>
            <a:picLocks noChangeAspect="1"/>
          </p:cNvPicPr>
          <p:nvPr/>
        </p:nvPicPr>
        <p:blipFill>
          <a:blip r:embed="rId5"/>
          <a:stretch>
            <a:fillRect/>
          </a:stretch>
        </p:blipFill>
        <p:spPr>
          <a:xfrm>
            <a:off x="1371600" y="3438144"/>
            <a:ext cx="457200" cy="457200"/>
          </a:xfrm>
          <a:prstGeom prst="rect">
            <a:avLst/>
          </a:prstGeom>
        </p:spPr>
      </p:pic>
      <p:sp>
        <p:nvSpPr>
          <p:cNvPr id="20" name="Text 15"/>
          <p:cNvSpPr/>
          <p:nvPr/>
        </p:nvSpPr>
        <p:spPr>
          <a:xfrm>
            <a:off x="2057400" y="3337560"/>
            <a:ext cx="5852160" cy="320040"/>
          </a:xfrm>
          <a:prstGeom prst="rect">
            <a:avLst/>
          </a:prstGeom>
          <a:noFill/>
        </p:spPr>
        <p:txBody>
          <a:bodyPr wrap="square" rtlCol="0" anchor="ctr"/>
          <a:lstStyle/>
          <a:p>
            <a:pPr marL="0" indent="0">
              <a:buNone/>
            </a:pPr>
            <a:r>
              <a:rPr lang="en-US" sz="1550" b="1" dirty="0">
                <a:solidFill>
                  <a:srgbClr val="2B2D2F"/>
                </a:solidFill>
                <a:latin typeface="Calibri" panose="020F0502020204030204" pitchFamily="34" charset="0"/>
                <a:ea typeface="Calibri" panose="020F0502020204030204" pitchFamily="34" charset="-122"/>
                <a:cs typeface="Calibri" panose="020F0502020204030204" pitchFamily="34" charset="-120"/>
              </a:rPr>
              <a:t>Multi-Factor Authentication (MFA)</a:t>
            </a:r>
            <a:endParaRPr lang="en-US" sz="1550" dirty="0"/>
          </a:p>
        </p:txBody>
      </p:sp>
      <p:sp>
        <p:nvSpPr>
          <p:cNvPr id="21" name="Text 16"/>
          <p:cNvSpPr/>
          <p:nvPr/>
        </p:nvSpPr>
        <p:spPr>
          <a:xfrm>
            <a:off x="2057400" y="3666744"/>
            <a:ext cx="9052560" cy="32004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Factors, TOTP, FIDO2/WebAuthn, and the MFA Fatigue attack</a:t>
            </a:r>
            <a:endParaRPr lang="en-US" sz="1150" dirty="0"/>
          </a:p>
        </p:txBody>
      </p:sp>
      <p:sp>
        <p:nvSpPr>
          <p:cNvPr id="22" name="Shape 17"/>
          <p:cNvSpPr/>
          <p:nvPr/>
        </p:nvSpPr>
        <p:spPr>
          <a:xfrm>
            <a:off x="502920" y="4215384"/>
            <a:ext cx="11201400" cy="786384"/>
          </a:xfrm>
          <a:prstGeom prst="roundRect">
            <a:avLst>
              <a:gd name="adj" fmla="val 8140"/>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3" name="Text 18"/>
          <p:cNvSpPr/>
          <p:nvPr/>
        </p:nvSpPr>
        <p:spPr>
          <a:xfrm>
            <a:off x="685800" y="4352544"/>
            <a:ext cx="548640" cy="512064"/>
          </a:xfrm>
          <a:prstGeom prst="rect">
            <a:avLst/>
          </a:prstGeom>
          <a:noFill/>
        </p:spPr>
        <p:txBody>
          <a:bodyPr wrap="square" rtlCol="0" anchor="ctr"/>
          <a:lstStyle/>
          <a:p>
            <a:pPr marL="0" indent="0" algn="ctr">
              <a:buNone/>
            </a:pPr>
            <a:r>
              <a:rPr lang="en-US" sz="2600" b="1" dirty="0">
                <a:solidFill>
                  <a:srgbClr val="C7DAD9"/>
                </a:solidFill>
                <a:latin typeface="Cambria" panose="02040503050406030204" pitchFamily="34" charset="0"/>
                <a:ea typeface="Cambria" panose="02040503050406030204" pitchFamily="34" charset="-122"/>
                <a:cs typeface="Cambria" panose="02040503050406030204" pitchFamily="34" charset="-120"/>
              </a:rPr>
              <a:t>4</a:t>
            </a:r>
            <a:endParaRPr lang="en-US" sz="2600" dirty="0"/>
          </a:p>
        </p:txBody>
      </p:sp>
      <p:pic>
        <p:nvPicPr>
          <p:cNvPr id="24" name="Image 3" descr="/home/claude/deck/icons/user_clock_teal.png"/>
          <p:cNvPicPr>
            <a:picLocks noChangeAspect="1"/>
          </p:cNvPicPr>
          <p:nvPr/>
        </p:nvPicPr>
        <p:blipFill>
          <a:blip r:embed="rId6"/>
          <a:stretch>
            <a:fillRect/>
          </a:stretch>
        </p:blipFill>
        <p:spPr>
          <a:xfrm>
            <a:off x="1371600" y="4370832"/>
            <a:ext cx="457200" cy="457200"/>
          </a:xfrm>
          <a:prstGeom prst="rect">
            <a:avLst/>
          </a:prstGeom>
        </p:spPr>
      </p:pic>
      <p:sp>
        <p:nvSpPr>
          <p:cNvPr id="25" name="Text 19"/>
          <p:cNvSpPr/>
          <p:nvPr/>
        </p:nvSpPr>
        <p:spPr>
          <a:xfrm>
            <a:off x="2057400" y="4270248"/>
            <a:ext cx="5852160" cy="320040"/>
          </a:xfrm>
          <a:prstGeom prst="rect">
            <a:avLst/>
          </a:prstGeom>
          <a:noFill/>
        </p:spPr>
        <p:txBody>
          <a:bodyPr wrap="square" rtlCol="0" anchor="ctr"/>
          <a:lstStyle/>
          <a:p>
            <a:pPr marL="0" indent="0">
              <a:buNone/>
            </a:pPr>
            <a:r>
              <a:rPr lang="en-US" sz="1550" b="1" dirty="0">
                <a:solidFill>
                  <a:srgbClr val="2B2D2F"/>
                </a:solidFill>
                <a:latin typeface="Calibri" panose="020F0502020204030204" pitchFamily="34" charset="0"/>
                <a:ea typeface="Calibri" panose="020F0502020204030204" pitchFamily="34" charset="-122"/>
                <a:cs typeface="Calibri" panose="020F0502020204030204" pitchFamily="34" charset="-120"/>
              </a:rPr>
              <a:t>Privileged Access Management (PAM)</a:t>
            </a:r>
            <a:endParaRPr lang="en-US" sz="1550" dirty="0"/>
          </a:p>
        </p:txBody>
      </p:sp>
      <p:sp>
        <p:nvSpPr>
          <p:cNvPr id="26" name="Text 20"/>
          <p:cNvSpPr/>
          <p:nvPr/>
        </p:nvSpPr>
        <p:spPr>
          <a:xfrm>
            <a:off x="2057400" y="4599432"/>
            <a:ext cx="9052560" cy="32004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Credential vaulting, session brokers, Just-In-Time access</a:t>
            </a:r>
            <a:endParaRPr lang="en-US" sz="1150" dirty="0"/>
          </a:p>
        </p:txBody>
      </p:sp>
      <p:sp>
        <p:nvSpPr>
          <p:cNvPr id="27" name="Shape 21"/>
          <p:cNvSpPr/>
          <p:nvPr/>
        </p:nvSpPr>
        <p:spPr>
          <a:xfrm>
            <a:off x="502920" y="5148072"/>
            <a:ext cx="11201400" cy="786384"/>
          </a:xfrm>
          <a:prstGeom prst="roundRect">
            <a:avLst>
              <a:gd name="adj" fmla="val 8140"/>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8" name="Text 22"/>
          <p:cNvSpPr/>
          <p:nvPr/>
        </p:nvSpPr>
        <p:spPr>
          <a:xfrm>
            <a:off x="685800" y="5285232"/>
            <a:ext cx="548640" cy="512064"/>
          </a:xfrm>
          <a:prstGeom prst="rect">
            <a:avLst/>
          </a:prstGeom>
          <a:noFill/>
        </p:spPr>
        <p:txBody>
          <a:bodyPr wrap="square" rtlCol="0" anchor="ctr"/>
          <a:lstStyle/>
          <a:p>
            <a:pPr marL="0" indent="0" algn="ctr">
              <a:buNone/>
            </a:pPr>
            <a:r>
              <a:rPr lang="en-US" sz="2600" b="1" dirty="0">
                <a:solidFill>
                  <a:srgbClr val="C7DAD9"/>
                </a:solidFill>
                <a:latin typeface="Cambria" panose="02040503050406030204" pitchFamily="34" charset="0"/>
                <a:ea typeface="Cambria" panose="02040503050406030204" pitchFamily="34" charset="-122"/>
                <a:cs typeface="Cambria" panose="02040503050406030204" pitchFamily="34" charset="-120"/>
              </a:rPr>
              <a:t>5</a:t>
            </a:r>
            <a:endParaRPr lang="en-US" sz="2600" dirty="0"/>
          </a:p>
        </p:txBody>
      </p:sp>
      <p:pic>
        <p:nvPicPr>
          <p:cNvPr id="29" name="Image 4" descr="/home/claude/deck/icons/network_teal.png"/>
          <p:cNvPicPr>
            <a:picLocks noChangeAspect="1"/>
          </p:cNvPicPr>
          <p:nvPr/>
        </p:nvPicPr>
        <p:blipFill>
          <a:blip r:embed="rId7"/>
          <a:stretch>
            <a:fillRect/>
          </a:stretch>
        </p:blipFill>
        <p:spPr>
          <a:xfrm>
            <a:off x="1371600" y="5303520"/>
            <a:ext cx="457200" cy="457200"/>
          </a:xfrm>
          <a:prstGeom prst="rect">
            <a:avLst/>
          </a:prstGeom>
        </p:spPr>
      </p:pic>
      <p:sp>
        <p:nvSpPr>
          <p:cNvPr id="30" name="Text 23"/>
          <p:cNvSpPr/>
          <p:nvPr/>
        </p:nvSpPr>
        <p:spPr>
          <a:xfrm>
            <a:off x="2057400" y="5202936"/>
            <a:ext cx="5852160" cy="320040"/>
          </a:xfrm>
          <a:prstGeom prst="rect">
            <a:avLst/>
          </a:prstGeom>
          <a:noFill/>
        </p:spPr>
        <p:txBody>
          <a:bodyPr wrap="square" rtlCol="0" anchor="ctr"/>
          <a:lstStyle/>
          <a:p>
            <a:pPr marL="0" indent="0">
              <a:buNone/>
            </a:pPr>
            <a:r>
              <a:rPr lang="en-US" sz="1550" b="1" dirty="0">
                <a:solidFill>
                  <a:srgbClr val="2B2D2F"/>
                </a:solidFill>
                <a:latin typeface="Calibri" panose="020F0502020204030204" pitchFamily="34" charset="0"/>
                <a:ea typeface="Calibri" panose="020F0502020204030204" pitchFamily="34" charset="-122"/>
                <a:cs typeface="Calibri" panose="020F0502020204030204" pitchFamily="34" charset="-120"/>
              </a:rPr>
              <a:t>Integration &amp; Real Attack Scenario</a:t>
            </a:r>
            <a:endParaRPr lang="en-US" sz="1550" dirty="0"/>
          </a:p>
        </p:txBody>
      </p:sp>
      <p:sp>
        <p:nvSpPr>
          <p:cNvPr id="31" name="Text 24"/>
          <p:cNvSpPr/>
          <p:nvPr/>
        </p:nvSpPr>
        <p:spPr>
          <a:xfrm>
            <a:off x="2057400" y="5532120"/>
            <a:ext cx="9052560" cy="32004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Combined Zero Trust architecture and a breach walkthrough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INTRODUCTION &amp; IAM</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Why Identity Is the New Perimeter</a:t>
            </a:r>
            <a:endParaRPr lang="en-US" sz="3000" dirty="0"/>
          </a:p>
        </p:txBody>
      </p:sp>
      <p:sp>
        <p:nvSpPr>
          <p:cNvPr id="7" name="Shape 5"/>
          <p:cNvSpPr/>
          <p:nvPr/>
        </p:nvSpPr>
        <p:spPr>
          <a:xfrm>
            <a:off x="502920" y="1371600"/>
            <a:ext cx="3611880" cy="1417320"/>
          </a:xfrm>
          <a:prstGeom prst="roundRect">
            <a:avLst>
              <a:gd name="adj" fmla="val 4516"/>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685800" y="1463040"/>
            <a:ext cx="3291840" cy="640080"/>
          </a:xfrm>
          <a:prstGeom prst="rect">
            <a:avLst/>
          </a:prstGeom>
          <a:noFill/>
        </p:spPr>
        <p:txBody>
          <a:bodyPr wrap="square" rtlCol="0" anchor="ctr"/>
          <a:lstStyle/>
          <a:p>
            <a:pPr marL="0" indent="0">
              <a:buNone/>
            </a:pPr>
            <a:r>
              <a:rPr lang="en-US" sz="3400" b="1" dirty="0">
                <a:solidFill>
                  <a:srgbClr val="0E7C7B"/>
                </a:solidFill>
                <a:latin typeface="Cambria" panose="02040503050406030204" pitchFamily="34" charset="0"/>
                <a:ea typeface="Cambria" panose="02040503050406030204" pitchFamily="34" charset="-122"/>
                <a:cs typeface="Cambria" panose="02040503050406030204" pitchFamily="34" charset="-120"/>
              </a:rPr>
              <a:t>80%+</a:t>
            </a:r>
            <a:endParaRPr lang="en-US" sz="3400" dirty="0"/>
          </a:p>
        </p:txBody>
      </p:sp>
      <p:sp>
        <p:nvSpPr>
          <p:cNvPr id="9" name="Text 7"/>
          <p:cNvSpPr/>
          <p:nvPr/>
        </p:nvSpPr>
        <p:spPr>
          <a:xfrm>
            <a:off x="685800" y="2121408"/>
            <a:ext cx="3291840" cy="59436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of breaches involve compromised or stolen credentials</a:t>
            </a:r>
            <a:endParaRPr lang="en-US" sz="1150" dirty="0"/>
          </a:p>
        </p:txBody>
      </p:sp>
      <p:sp>
        <p:nvSpPr>
          <p:cNvPr id="10" name="Shape 8"/>
          <p:cNvSpPr/>
          <p:nvPr/>
        </p:nvSpPr>
        <p:spPr>
          <a:xfrm>
            <a:off x="4297680" y="1371600"/>
            <a:ext cx="3611880" cy="1417320"/>
          </a:xfrm>
          <a:prstGeom prst="roundRect">
            <a:avLst>
              <a:gd name="adj" fmla="val 4516"/>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1" name="Text 9"/>
          <p:cNvSpPr/>
          <p:nvPr/>
        </p:nvSpPr>
        <p:spPr>
          <a:xfrm>
            <a:off x="4480560" y="1463040"/>
            <a:ext cx="3291840" cy="640080"/>
          </a:xfrm>
          <a:prstGeom prst="rect">
            <a:avLst/>
          </a:prstGeom>
          <a:noFill/>
        </p:spPr>
        <p:txBody>
          <a:bodyPr wrap="square" rtlCol="0" anchor="ctr"/>
          <a:lstStyle/>
          <a:p>
            <a:pPr marL="0" indent="0">
              <a:buNone/>
            </a:pPr>
            <a:r>
              <a:rPr lang="en-US" sz="3400" b="1" dirty="0">
                <a:solidFill>
                  <a:srgbClr val="E8871E"/>
                </a:solidFill>
                <a:latin typeface="Cambria" panose="02040503050406030204" pitchFamily="34" charset="0"/>
                <a:ea typeface="Cambria" panose="02040503050406030204" pitchFamily="34" charset="-122"/>
                <a:cs typeface="Cambria" panose="02040503050406030204" pitchFamily="34" charset="-120"/>
              </a:rPr>
              <a:t>61%</a:t>
            </a:r>
            <a:endParaRPr lang="en-US" sz="3400" dirty="0"/>
          </a:p>
        </p:txBody>
      </p:sp>
      <p:sp>
        <p:nvSpPr>
          <p:cNvPr id="12" name="Text 10"/>
          <p:cNvSpPr/>
          <p:nvPr/>
        </p:nvSpPr>
        <p:spPr>
          <a:xfrm>
            <a:off x="4480560" y="2121408"/>
            <a:ext cx="3291840" cy="59436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of breaches involved credential data (Verizon DBIR)</a:t>
            </a:r>
            <a:endParaRPr lang="en-US" sz="1150" dirty="0"/>
          </a:p>
        </p:txBody>
      </p:sp>
      <p:sp>
        <p:nvSpPr>
          <p:cNvPr id="13" name="Shape 11"/>
          <p:cNvSpPr/>
          <p:nvPr/>
        </p:nvSpPr>
        <p:spPr>
          <a:xfrm>
            <a:off x="8092440" y="1371600"/>
            <a:ext cx="3611880" cy="1417320"/>
          </a:xfrm>
          <a:prstGeom prst="roundRect">
            <a:avLst>
              <a:gd name="adj" fmla="val 4516"/>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4" name="Text 12"/>
          <p:cNvSpPr/>
          <p:nvPr/>
        </p:nvSpPr>
        <p:spPr>
          <a:xfrm>
            <a:off x="8275320" y="1463040"/>
            <a:ext cx="3291840" cy="640080"/>
          </a:xfrm>
          <a:prstGeom prst="rect">
            <a:avLst/>
          </a:prstGeom>
          <a:noFill/>
        </p:spPr>
        <p:txBody>
          <a:bodyPr wrap="square" rtlCol="0" anchor="ctr"/>
          <a:lstStyle/>
          <a:p>
            <a:pPr marL="0" indent="0">
              <a:buNone/>
            </a:pPr>
            <a:r>
              <a:rPr lang="en-US" sz="3400" b="1" dirty="0">
                <a:solidFill>
                  <a:srgbClr val="2B2D2F"/>
                </a:solidFill>
                <a:latin typeface="Cambria" panose="02040503050406030204" pitchFamily="34" charset="0"/>
                <a:ea typeface="Cambria" panose="02040503050406030204" pitchFamily="34" charset="-122"/>
                <a:cs typeface="Cambria" panose="02040503050406030204" pitchFamily="34" charset="-120"/>
              </a:rPr>
              <a:t>Zero</a:t>
            </a:r>
            <a:endParaRPr lang="en-US" sz="3400" dirty="0"/>
          </a:p>
        </p:txBody>
      </p:sp>
      <p:sp>
        <p:nvSpPr>
          <p:cNvPr id="15" name="Text 13"/>
          <p:cNvSpPr/>
          <p:nvPr/>
        </p:nvSpPr>
        <p:spPr>
          <a:xfrm>
            <a:off x="8275320" y="2121408"/>
            <a:ext cx="3291840" cy="594360"/>
          </a:xfrm>
          <a:prstGeom prst="rect">
            <a:avLst/>
          </a:prstGeom>
          <a:noFill/>
        </p:spPr>
        <p:txBody>
          <a:bodyPr wrap="square" rtlCol="0" anchor="ctr"/>
          <a:lstStyle/>
          <a:p>
            <a:pPr marL="0" indent="0">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implicit trust in a Zero Trust identity model</a:t>
            </a:r>
            <a:endParaRPr lang="en-US" sz="1150" dirty="0"/>
          </a:p>
        </p:txBody>
      </p:sp>
      <p:sp>
        <p:nvSpPr>
          <p:cNvPr id="16" name="Shape 14"/>
          <p:cNvSpPr/>
          <p:nvPr/>
        </p:nvSpPr>
        <p:spPr>
          <a:xfrm>
            <a:off x="502920" y="3108960"/>
            <a:ext cx="5468112" cy="3063240"/>
          </a:xfrm>
          <a:prstGeom prst="roundRect">
            <a:avLst>
              <a:gd name="adj" fmla="val 2090"/>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7" name="Text 15"/>
          <p:cNvSpPr/>
          <p:nvPr/>
        </p:nvSpPr>
        <p:spPr>
          <a:xfrm>
            <a:off x="731520" y="3291840"/>
            <a:ext cx="4937760" cy="274320"/>
          </a:xfrm>
          <a:prstGeom prst="rect">
            <a:avLst/>
          </a:prstGeom>
          <a:noFill/>
        </p:spPr>
        <p:txBody>
          <a:bodyPr wrap="square" rtlCol="0" anchor="ctr"/>
          <a:lstStyle/>
          <a:p>
            <a:pPr marL="0" indent="0">
              <a:buNone/>
            </a:pPr>
            <a:r>
              <a:rPr lang="en-US" sz="1250" b="1" kern="0" spc="100" dirty="0">
                <a:solidFill>
                  <a:srgbClr val="5B6670"/>
                </a:solidFill>
                <a:latin typeface="Calibri" panose="020F0502020204030204" pitchFamily="34" charset="0"/>
                <a:ea typeface="Calibri" panose="020F0502020204030204" pitchFamily="34" charset="-122"/>
                <a:cs typeface="Calibri" panose="020F0502020204030204" pitchFamily="34" charset="-120"/>
              </a:rPr>
              <a:t>TRADITIONAL PERIMETER</a:t>
            </a:r>
            <a:endParaRPr lang="en-US" sz="1250" dirty="0"/>
          </a:p>
        </p:txBody>
      </p:sp>
      <p:sp>
        <p:nvSpPr>
          <p:cNvPr id="18" name="Text 16"/>
          <p:cNvSpPr/>
          <p:nvPr/>
        </p:nvSpPr>
        <p:spPr>
          <a:xfrm>
            <a:off x="731520" y="3657600"/>
            <a:ext cx="5029200" cy="2331720"/>
          </a:xfrm>
          <a:prstGeom prst="rect">
            <a:avLst/>
          </a:prstGeom>
          <a:noFill/>
        </p:spPr>
        <p:txBody>
          <a:bodyPr wrap="square" rtlCol="0" anchor="t"/>
          <a:lstStyle/>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Firewalls &amp; VPNs define a trusted network edge</a:t>
            </a:r>
            <a:endParaRPr lang="en-US" sz="1300" dirty="0"/>
          </a:p>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Anyone inside the network is implicitly trusted</a:t>
            </a:r>
            <a:endParaRPr lang="en-US" sz="1300" dirty="0"/>
          </a:p>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Security focuses on keeping attackers OUT</a:t>
            </a:r>
            <a:endParaRPr lang="en-US" sz="1300" dirty="0"/>
          </a:p>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Breaks down with cloud, remote work &amp; SaaS</a:t>
            </a:r>
            <a:endParaRPr lang="en-US" sz="1300" dirty="0"/>
          </a:p>
        </p:txBody>
      </p:sp>
      <p:sp>
        <p:nvSpPr>
          <p:cNvPr id="19" name="Shape 17"/>
          <p:cNvSpPr/>
          <p:nvPr/>
        </p:nvSpPr>
        <p:spPr>
          <a:xfrm>
            <a:off x="6217920" y="3108960"/>
            <a:ext cx="5468112" cy="3063240"/>
          </a:xfrm>
          <a:prstGeom prst="roundRect">
            <a:avLst>
              <a:gd name="adj" fmla="val 2090"/>
            </a:avLst>
          </a:prstGeom>
          <a:solidFill>
            <a:srgbClr val="E3F2F1"/>
          </a:solidFill>
          <a:ln w="12700">
            <a:solidFill>
              <a:srgbClr val="0E7C7B"/>
            </a:solidFill>
            <a:prstDash val="solid"/>
          </a:ln>
          <a:effectLst>
            <a:outerShdw blurRad="76200" dist="25400" dir="5400000" algn="bl" rotWithShape="0">
              <a:srgbClr val="8B939A">
                <a:alpha val="18000"/>
              </a:srgbClr>
            </a:outerShdw>
          </a:effectLst>
        </p:spPr>
        <p:txBody>
          <a:bodyPr/>
          <a:lstStyle/>
          <a:p>
            <a:endParaRPr lang="ar-EG"/>
          </a:p>
        </p:txBody>
      </p:sp>
      <p:sp>
        <p:nvSpPr>
          <p:cNvPr id="20" name="Text 18"/>
          <p:cNvSpPr/>
          <p:nvPr/>
        </p:nvSpPr>
        <p:spPr>
          <a:xfrm>
            <a:off x="6446520" y="3291840"/>
            <a:ext cx="4937760" cy="274320"/>
          </a:xfrm>
          <a:prstGeom prst="rect">
            <a:avLst/>
          </a:prstGeom>
          <a:noFill/>
        </p:spPr>
        <p:txBody>
          <a:bodyPr wrap="square" rtlCol="0" anchor="ctr"/>
          <a:lstStyle/>
          <a:p>
            <a:pPr marL="0" indent="0">
              <a:buNone/>
            </a:pPr>
            <a:r>
              <a:rPr lang="en-US" sz="1250" b="1" kern="0" spc="100" dirty="0">
                <a:solidFill>
                  <a:srgbClr val="0A5F5E"/>
                </a:solidFill>
                <a:latin typeface="Calibri" panose="020F0502020204030204" pitchFamily="34" charset="0"/>
                <a:ea typeface="Calibri" panose="020F0502020204030204" pitchFamily="34" charset="-122"/>
                <a:cs typeface="Calibri" panose="020F0502020204030204" pitchFamily="34" charset="-120"/>
              </a:rPr>
              <a:t>IDENTITY-CENTRIC / ZERO TRUST</a:t>
            </a:r>
            <a:endParaRPr lang="en-US" sz="1250" dirty="0"/>
          </a:p>
        </p:txBody>
      </p:sp>
      <p:sp>
        <p:nvSpPr>
          <p:cNvPr id="21" name="Text 19"/>
          <p:cNvSpPr/>
          <p:nvPr/>
        </p:nvSpPr>
        <p:spPr>
          <a:xfrm>
            <a:off x="6446520" y="3657600"/>
            <a:ext cx="5029200" cy="2331720"/>
          </a:xfrm>
          <a:prstGeom prst="rect">
            <a:avLst/>
          </a:prstGeom>
          <a:noFill/>
        </p:spPr>
        <p:txBody>
          <a:bodyPr wrap="square" rtlCol="0" anchor="t"/>
          <a:lstStyle/>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Every user &amp; device is verified continuously</a:t>
            </a:r>
            <a:endParaRPr lang="en-US" sz="1300" dirty="0"/>
          </a:p>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“Never trust, always verify” — no implicit trust</a:t>
            </a:r>
            <a:endParaRPr lang="en-US" sz="1300" dirty="0"/>
          </a:p>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Access is granted per-request, least privilege</a:t>
            </a:r>
            <a:endParaRPr lang="en-US" sz="1300" dirty="0"/>
          </a:p>
          <a:p>
            <a:pPr marL="342900" indent="-342900">
              <a:spcAft>
                <a:spcPts val="10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Identity, device posture &amp; context replace the edge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INTRODUCTION &amp; IAM</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What Is IAM?</a:t>
            </a:r>
            <a:endParaRPr lang="en-US" sz="3000" dirty="0"/>
          </a:p>
        </p:txBody>
      </p:sp>
      <p:sp>
        <p:nvSpPr>
          <p:cNvPr id="7" name="Shape 5"/>
          <p:cNvSpPr/>
          <p:nvPr/>
        </p:nvSpPr>
        <p:spPr>
          <a:xfrm>
            <a:off x="502920" y="1417320"/>
            <a:ext cx="5577840" cy="1874520"/>
          </a:xfrm>
          <a:prstGeom prst="roundRect">
            <a:avLst>
              <a:gd name="adj" fmla="val 3415"/>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731520" y="1572768"/>
            <a:ext cx="4572000" cy="274320"/>
          </a:xfrm>
          <a:prstGeom prst="rect">
            <a:avLst/>
          </a:prstGeom>
          <a:noFill/>
        </p:spPr>
        <p:txBody>
          <a:bodyPr wrap="square" rtlCol="0" anchor="ctr"/>
          <a:lstStyle/>
          <a:p>
            <a:pPr marL="0" indent="0">
              <a:buNone/>
            </a:pPr>
            <a:r>
              <a:rPr lang="en-US" sz="115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DEFINITION</a:t>
            </a:r>
            <a:endParaRPr lang="en-US" sz="1150" dirty="0"/>
          </a:p>
        </p:txBody>
      </p:sp>
      <p:sp>
        <p:nvSpPr>
          <p:cNvPr id="9" name="Text 7"/>
          <p:cNvSpPr/>
          <p:nvPr/>
        </p:nvSpPr>
        <p:spPr>
          <a:xfrm>
            <a:off x="731520" y="1874520"/>
            <a:ext cx="5120640" cy="1325880"/>
          </a:xfrm>
          <a:prstGeom prst="rect">
            <a:avLst/>
          </a:prstGeom>
          <a:noFill/>
        </p:spPr>
        <p:txBody>
          <a:bodyPr wrap="square" rtlCol="0" anchor="t"/>
          <a:lstStyle/>
          <a:p>
            <a:pPr marL="0" indent="0">
              <a:lnSpc>
                <a:spcPts val="1900"/>
              </a:lnSpc>
              <a:buNone/>
            </a:pPr>
            <a:r>
              <a:rPr lang="en-US" sz="1350" dirty="0">
                <a:solidFill>
                  <a:srgbClr val="2B2D2F"/>
                </a:solidFill>
                <a:latin typeface="Calibri" panose="020F0502020204030204" pitchFamily="34" charset="0"/>
                <a:ea typeface="Calibri" panose="020F0502020204030204" pitchFamily="34" charset="-122"/>
                <a:cs typeface="Calibri" panose="020F0502020204030204" pitchFamily="34" charset="-120"/>
              </a:rPr>
              <a:t>Identity and Access Management (IAM) is the framework of policies, processes, and technologies that ensures the right identities have the right access to the right resources, at the right time, for the right reasons.</a:t>
            </a:r>
            <a:endParaRPr lang="en-US" sz="1350" dirty="0"/>
          </a:p>
        </p:txBody>
      </p:sp>
      <p:sp>
        <p:nvSpPr>
          <p:cNvPr id="10" name="Shape 8"/>
          <p:cNvSpPr/>
          <p:nvPr/>
        </p:nvSpPr>
        <p:spPr>
          <a:xfrm>
            <a:off x="502920" y="3429000"/>
            <a:ext cx="5577840" cy="2743200"/>
          </a:xfrm>
          <a:prstGeom prst="roundRect">
            <a:avLst>
              <a:gd name="adj" fmla="val 2333"/>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1" name="Text 9"/>
          <p:cNvSpPr/>
          <p:nvPr/>
        </p:nvSpPr>
        <p:spPr>
          <a:xfrm>
            <a:off x="731520" y="3584448"/>
            <a:ext cx="4937760" cy="274320"/>
          </a:xfrm>
          <a:prstGeom prst="rect">
            <a:avLst/>
          </a:prstGeom>
          <a:noFill/>
        </p:spPr>
        <p:txBody>
          <a:bodyPr wrap="square" rtlCol="0" anchor="ctr"/>
          <a:lstStyle/>
          <a:p>
            <a:pPr marL="0" indent="0">
              <a:buNone/>
            </a:pPr>
            <a:r>
              <a:rPr lang="en-US" sz="115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THE “FIVE RIGHTS” OF IAM</a:t>
            </a:r>
            <a:endParaRPr lang="en-US" sz="1150" dirty="0"/>
          </a:p>
        </p:txBody>
      </p:sp>
      <p:sp>
        <p:nvSpPr>
          <p:cNvPr id="12" name="Shape 10"/>
          <p:cNvSpPr/>
          <p:nvPr/>
        </p:nvSpPr>
        <p:spPr>
          <a:xfrm>
            <a:off x="731520" y="3931920"/>
            <a:ext cx="164592" cy="164592"/>
          </a:xfrm>
          <a:prstGeom prst="ellipse">
            <a:avLst/>
          </a:prstGeom>
          <a:solidFill>
            <a:srgbClr val="0E7C7B"/>
          </a:solidFill>
        </p:spPr>
        <p:txBody>
          <a:bodyPr/>
          <a:lstStyle/>
          <a:p>
            <a:endParaRPr lang="ar-EG"/>
          </a:p>
        </p:txBody>
      </p:sp>
      <p:sp>
        <p:nvSpPr>
          <p:cNvPr id="13" name="Text 11"/>
          <p:cNvSpPr/>
          <p:nvPr/>
        </p:nvSpPr>
        <p:spPr>
          <a:xfrm>
            <a:off x="1005840" y="3858768"/>
            <a:ext cx="4754880" cy="292608"/>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Right Identity</a:t>
            </a:r>
            <a:endParaRPr lang="en-US" sz="1300" dirty="0"/>
          </a:p>
        </p:txBody>
      </p:sp>
      <p:sp>
        <p:nvSpPr>
          <p:cNvPr id="14" name="Shape 12"/>
          <p:cNvSpPr/>
          <p:nvPr/>
        </p:nvSpPr>
        <p:spPr>
          <a:xfrm>
            <a:off x="731520" y="4334256"/>
            <a:ext cx="164592" cy="164592"/>
          </a:xfrm>
          <a:prstGeom prst="ellipse">
            <a:avLst/>
          </a:prstGeom>
          <a:solidFill>
            <a:srgbClr val="0E7C7B"/>
          </a:solidFill>
        </p:spPr>
        <p:txBody>
          <a:bodyPr/>
          <a:lstStyle/>
          <a:p>
            <a:endParaRPr lang="ar-EG"/>
          </a:p>
        </p:txBody>
      </p:sp>
      <p:sp>
        <p:nvSpPr>
          <p:cNvPr id="15" name="Text 13"/>
          <p:cNvSpPr/>
          <p:nvPr/>
        </p:nvSpPr>
        <p:spPr>
          <a:xfrm>
            <a:off x="1005840" y="4261104"/>
            <a:ext cx="4754880" cy="292608"/>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Right Access</a:t>
            </a:r>
            <a:endParaRPr lang="en-US" sz="1300" dirty="0"/>
          </a:p>
        </p:txBody>
      </p:sp>
      <p:sp>
        <p:nvSpPr>
          <p:cNvPr id="16" name="Shape 14"/>
          <p:cNvSpPr/>
          <p:nvPr/>
        </p:nvSpPr>
        <p:spPr>
          <a:xfrm>
            <a:off x="731520" y="4736592"/>
            <a:ext cx="164592" cy="164592"/>
          </a:xfrm>
          <a:prstGeom prst="ellipse">
            <a:avLst/>
          </a:prstGeom>
          <a:solidFill>
            <a:srgbClr val="0E7C7B"/>
          </a:solidFill>
        </p:spPr>
        <p:txBody>
          <a:bodyPr/>
          <a:lstStyle/>
          <a:p>
            <a:endParaRPr lang="ar-EG"/>
          </a:p>
        </p:txBody>
      </p:sp>
      <p:sp>
        <p:nvSpPr>
          <p:cNvPr id="17" name="Text 15"/>
          <p:cNvSpPr/>
          <p:nvPr/>
        </p:nvSpPr>
        <p:spPr>
          <a:xfrm>
            <a:off x="1005840" y="4663440"/>
            <a:ext cx="4754880" cy="292608"/>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Right Resources</a:t>
            </a:r>
            <a:endParaRPr lang="en-US" sz="1300" dirty="0"/>
          </a:p>
        </p:txBody>
      </p:sp>
      <p:sp>
        <p:nvSpPr>
          <p:cNvPr id="18" name="Shape 16"/>
          <p:cNvSpPr/>
          <p:nvPr/>
        </p:nvSpPr>
        <p:spPr>
          <a:xfrm>
            <a:off x="731520" y="5138928"/>
            <a:ext cx="164592" cy="164592"/>
          </a:xfrm>
          <a:prstGeom prst="ellipse">
            <a:avLst/>
          </a:prstGeom>
          <a:solidFill>
            <a:srgbClr val="0E7C7B"/>
          </a:solidFill>
        </p:spPr>
        <p:txBody>
          <a:bodyPr/>
          <a:lstStyle/>
          <a:p>
            <a:endParaRPr lang="ar-EG"/>
          </a:p>
        </p:txBody>
      </p:sp>
      <p:sp>
        <p:nvSpPr>
          <p:cNvPr id="19" name="Text 17"/>
          <p:cNvSpPr/>
          <p:nvPr/>
        </p:nvSpPr>
        <p:spPr>
          <a:xfrm>
            <a:off x="1005840" y="5065776"/>
            <a:ext cx="4754880" cy="292608"/>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Right Time</a:t>
            </a:r>
            <a:endParaRPr lang="en-US" sz="1300" dirty="0"/>
          </a:p>
        </p:txBody>
      </p:sp>
      <p:sp>
        <p:nvSpPr>
          <p:cNvPr id="20" name="Shape 18"/>
          <p:cNvSpPr/>
          <p:nvPr/>
        </p:nvSpPr>
        <p:spPr>
          <a:xfrm>
            <a:off x="731520" y="5541264"/>
            <a:ext cx="164592" cy="164592"/>
          </a:xfrm>
          <a:prstGeom prst="ellipse">
            <a:avLst/>
          </a:prstGeom>
          <a:solidFill>
            <a:srgbClr val="0E7C7B"/>
          </a:solidFill>
        </p:spPr>
        <p:txBody>
          <a:bodyPr/>
          <a:lstStyle/>
          <a:p>
            <a:endParaRPr lang="ar-EG"/>
          </a:p>
        </p:txBody>
      </p:sp>
      <p:sp>
        <p:nvSpPr>
          <p:cNvPr id="21" name="Text 19"/>
          <p:cNvSpPr/>
          <p:nvPr/>
        </p:nvSpPr>
        <p:spPr>
          <a:xfrm>
            <a:off x="1005840" y="5468112"/>
            <a:ext cx="4754880" cy="292608"/>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Right Reason</a:t>
            </a:r>
            <a:endParaRPr lang="en-US" sz="1300" dirty="0"/>
          </a:p>
        </p:txBody>
      </p:sp>
      <p:sp>
        <p:nvSpPr>
          <p:cNvPr id="22" name="Shape 20"/>
          <p:cNvSpPr/>
          <p:nvPr/>
        </p:nvSpPr>
        <p:spPr>
          <a:xfrm>
            <a:off x="6355080" y="1417320"/>
            <a:ext cx="5330952" cy="4754880"/>
          </a:xfrm>
          <a:prstGeom prst="roundRect">
            <a:avLst>
              <a:gd name="adj" fmla="val 1346"/>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3" name="Text 21"/>
          <p:cNvSpPr/>
          <p:nvPr/>
        </p:nvSpPr>
        <p:spPr>
          <a:xfrm>
            <a:off x="6583680" y="1572768"/>
            <a:ext cx="4846320" cy="274320"/>
          </a:xfrm>
          <a:prstGeom prst="rect">
            <a:avLst/>
          </a:prstGeom>
          <a:noFill/>
        </p:spPr>
        <p:txBody>
          <a:bodyPr wrap="square" rtlCol="0" anchor="ctr"/>
          <a:lstStyle/>
          <a:p>
            <a:pPr marL="0" indent="0">
              <a:buNone/>
            </a:pPr>
            <a:r>
              <a:rPr lang="en-US" sz="115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CORE AAA MODEL</a:t>
            </a:r>
            <a:endParaRPr lang="en-US" sz="1150" dirty="0"/>
          </a:p>
        </p:txBody>
      </p:sp>
      <p:sp>
        <p:nvSpPr>
          <p:cNvPr id="24" name="Shape 22"/>
          <p:cNvSpPr/>
          <p:nvPr/>
        </p:nvSpPr>
        <p:spPr>
          <a:xfrm>
            <a:off x="6583680" y="2148840"/>
            <a:ext cx="4892040" cy="1051560"/>
          </a:xfrm>
          <a:prstGeom prst="roundRect">
            <a:avLst>
              <a:gd name="adj" fmla="val 6087"/>
            </a:avLst>
          </a:prstGeom>
          <a:solidFill>
            <a:srgbClr val="FFFFFF"/>
          </a:solidFill>
          <a:ln w="12700">
            <a:solidFill>
              <a:srgbClr val="DCE1E2"/>
            </a:solidFill>
            <a:prstDash val="solid"/>
          </a:ln>
        </p:spPr>
        <p:txBody>
          <a:bodyPr/>
          <a:lstStyle/>
          <a:p>
            <a:endParaRPr lang="ar-EG"/>
          </a:p>
        </p:txBody>
      </p:sp>
      <p:sp>
        <p:nvSpPr>
          <p:cNvPr id="25" name="Shape 23"/>
          <p:cNvSpPr/>
          <p:nvPr/>
        </p:nvSpPr>
        <p:spPr>
          <a:xfrm>
            <a:off x="6766560" y="2350008"/>
            <a:ext cx="640080" cy="640080"/>
          </a:xfrm>
          <a:prstGeom prst="ellipse">
            <a:avLst/>
          </a:prstGeom>
          <a:solidFill>
            <a:srgbClr val="0E7C7B"/>
          </a:solidFill>
        </p:spPr>
        <p:txBody>
          <a:bodyPr/>
          <a:lstStyle/>
          <a:p>
            <a:endParaRPr lang="ar-EG"/>
          </a:p>
        </p:txBody>
      </p:sp>
      <p:pic>
        <p:nvPicPr>
          <p:cNvPr id="26" name="Image 0" descr="/home/claude/deck/icons/key_teal.png"/>
          <p:cNvPicPr>
            <a:picLocks noChangeAspect="1"/>
          </p:cNvPicPr>
          <p:nvPr/>
        </p:nvPicPr>
        <p:blipFill>
          <a:blip r:embed="rId3"/>
          <a:stretch>
            <a:fillRect/>
          </a:stretch>
        </p:blipFill>
        <p:spPr>
          <a:xfrm>
            <a:off x="6910578" y="2494026"/>
            <a:ext cx="352044" cy="352044"/>
          </a:xfrm>
          <a:prstGeom prst="rect">
            <a:avLst/>
          </a:prstGeom>
        </p:spPr>
      </p:pic>
      <p:sp>
        <p:nvSpPr>
          <p:cNvPr id="27" name="Text 24"/>
          <p:cNvSpPr/>
          <p:nvPr/>
        </p:nvSpPr>
        <p:spPr>
          <a:xfrm>
            <a:off x="7589520" y="2276856"/>
            <a:ext cx="3749040" cy="320040"/>
          </a:xfrm>
          <a:prstGeom prst="rect">
            <a:avLst/>
          </a:prstGeom>
          <a:noFill/>
        </p:spPr>
        <p:txBody>
          <a:bodyPr wrap="square" rtlCol="0" anchor="ctr"/>
          <a:lstStyle/>
          <a:p>
            <a:pPr marL="0" indent="0">
              <a:buNone/>
            </a:pPr>
            <a:r>
              <a:rPr lang="en-US" sz="150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Authentication</a:t>
            </a:r>
            <a:endParaRPr lang="en-US" sz="1500" dirty="0"/>
          </a:p>
        </p:txBody>
      </p:sp>
      <p:sp>
        <p:nvSpPr>
          <p:cNvPr id="28" name="Text 25"/>
          <p:cNvSpPr/>
          <p:nvPr/>
        </p:nvSpPr>
        <p:spPr>
          <a:xfrm>
            <a:off x="7589520" y="2624328"/>
            <a:ext cx="3749040" cy="457200"/>
          </a:xfrm>
          <a:prstGeom prst="rect">
            <a:avLst/>
          </a:prstGeom>
          <a:noFill/>
        </p:spPr>
        <p:txBody>
          <a:bodyPr wrap="square" rtlCol="0" anchor="ctr"/>
          <a:lstStyle/>
          <a:p>
            <a:pPr marL="0" indent="0">
              <a:buNone/>
            </a:pPr>
            <a:r>
              <a:rPr lang="en-US" sz="1200" dirty="0">
                <a:solidFill>
                  <a:srgbClr val="5B6670"/>
                </a:solidFill>
                <a:latin typeface="Calibri" panose="020F0502020204030204" pitchFamily="34" charset="0"/>
                <a:ea typeface="Calibri" panose="020F0502020204030204" pitchFamily="34" charset="-122"/>
                <a:cs typeface="Calibri" panose="020F0502020204030204" pitchFamily="34" charset="-120"/>
              </a:rPr>
              <a:t>Proving who you are</a:t>
            </a:r>
            <a:endParaRPr lang="en-US" sz="1200" dirty="0"/>
          </a:p>
        </p:txBody>
      </p:sp>
      <p:sp>
        <p:nvSpPr>
          <p:cNvPr id="29" name="Shape 26"/>
          <p:cNvSpPr/>
          <p:nvPr/>
        </p:nvSpPr>
        <p:spPr>
          <a:xfrm>
            <a:off x="6583680" y="3429000"/>
            <a:ext cx="4892040" cy="1051560"/>
          </a:xfrm>
          <a:prstGeom prst="roundRect">
            <a:avLst>
              <a:gd name="adj" fmla="val 6087"/>
            </a:avLst>
          </a:prstGeom>
          <a:solidFill>
            <a:srgbClr val="FFFFFF"/>
          </a:solidFill>
          <a:ln w="12700">
            <a:solidFill>
              <a:srgbClr val="DCE1E2"/>
            </a:solidFill>
            <a:prstDash val="solid"/>
          </a:ln>
        </p:spPr>
        <p:txBody>
          <a:bodyPr/>
          <a:lstStyle/>
          <a:p>
            <a:endParaRPr lang="ar-EG"/>
          </a:p>
        </p:txBody>
      </p:sp>
      <p:sp>
        <p:nvSpPr>
          <p:cNvPr id="30" name="Shape 27"/>
          <p:cNvSpPr/>
          <p:nvPr/>
        </p:nvSpPr>
        <p:spPr>
          <a:xfrm>
            <a:off x="6766560" y="3630168"/>
            <a:ext cx="640080" cy="640080"/>
          </a:xfrm>
          <a:prstGeom prst="ellipse">
            <a:avLst/>
          </a:prstGeom>
          <a:solidFill>
            <a:srgbClr val="0E7C7B"/>
          </a:solidFill>
        </p:spPr>
        <p:txBody>
          <a:bodyPr/>
          <a:lstStyle/>
          <a:p>
            <a:endParaRPr lang="ar-EG"/>
          </a:p>
        </p:txBody>
      </p:sp>
      <p:pic>
        <p:nvPicPr>
          <p:cNvPr id="31" name="Image 1" descr="/home/claude/deck/icons/clipboard_check_teal.png"/>
          <p:cNvPicPr>
            <a:picLocks noChangeAspect="1"/>
          </p:cNvPicPr>
          <p:nvPr/>
        </p:nvPicPr>
        <p:blipFill>
          <a:blip r:embed="rId4"/>
          <a:stretch>
            <a:fillRect/>
          </a:stretch>
        </p:blipFill>
        <p:spPr>
          <a:xfrm>
            <a:off x="6910578" y="3774186"/>
            <a:ext cx="352044" cy="352044"/>
          </a:xfrm>
          <a:prstGeom prst="rect">
            <a:avLst/>
          </a:prstGeom>
        </p:spPr>
      </p:pic>
      <p:sp>
        <p:nvSpPr>
          <p:cNvPr id="32" name="Text 28"/>
          <p:cNvSpPr/>
          <p:nvPr/>
        </p:nvSpPr>
        <p:spPr>
          <a:xfrm>
            <a:off x="7589520" y="3557016"/>
            <a:ext cx="3749040" cy="320040"/>
          </a:xfrm>
          <a:prstGeom prst="rect">
            <a:avLst/>
          </a:prstGeom>
          <a:noFill/>
        </p:spPr>
        <p:txBody>
          <a:bodyPr wrap="square" rtlCol="0" anchor="ctr"/>
          <a:lstStyle/>
          <a:p>
            <a:pPr marL="0" indent="0">
              <a:buNone/>
            </a:pPr>
            <a:r>
              <a:rPr lang="en-US" sz="150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Authorization</a:t>
            </a:r>
            <a:endParaRPr lang="en-US" sz="1500" dirty="0"/>
          </a:p>
        </p:txBody>
      </p:sp>
      <p:sp>
        <p:nvSpPr>
          <p:cNvPr id="33" name="Text 29"/>
          <p:cNvSpPr/>
          <p:nvPr/>
        </p:nvSpPr>
        <p:spPr>
          <a:xfrm>
            <a:off x="7589520" y="3904488"/>
            <a:ext cx="3749040" cy="457200"/>
          </a:xfrm>
          <a:prstGeom prst="rect">
            <a:avLst/>
          </a:prstGeom>
          <a:noFill/>
        </p:spPr>
        <p:txBody>
          <a:bodyPr wrap="square" rtlCol="0" anchor="ctr"/>
          <a:lstStyle/>
          <a:p>
            <a:pPr marL="0" indent="0">
              <a:buNone/>
            </a:pPr>
            <a:r>
              <a:rPr lang="en-US" sz="1200" dirty="0">
                <a:solidFill>
                  <a:srgbClr val="5B6670"/>
                </a:solidFill>
                <a:latin typeface="Calibri" panose="020F0502020204030204" pitchFamily="34" charset="0"/>
                <a:ea typeface="Calibri" panose="020F0502020204030204" pitchFamily="34" charset="-122"/>
                <a:cs typeface="Calibri" panose="020F0502020204030204" pitchFamily="34" charset="-120"/>
              </a:rPr>
              <a:t>Determining what you can do</a:t>
            </a:r>
            <a:endParaRPr lang="en-US" sz="1200" dirty="0"/>
          </a:p>
        </p:txBody>
      </p:sp>
      <p:sp>
        <p:nvSpPr>
          <p:cNvPr id="34" name="Shape 30"/>
          <p:cNvSpPr/>
          <p:nvPr/>
        </p:nvSpPr>
        <p:spPr>
          <a:xfrm>
            <a:off x="6583680" y="4709160"/>
            <a:ext cx="4892040" cy="1051560"/>
          </a:xfrm>
          <a:prstGeom prst="roundRect">
            <a:avLst>
              <a:gd name="adj" fmla="val 6087"/>
            </a:avLst>
          </a:prstGeom>
          <a:solidFill>
            <a:srgbClr val="FFFFFF"/>
          </a:solidFill>
          <a:ln w="12700">
            <a:solidFill>
              <a:srgbClr val="DCE1E2"/>
            </a:solidFill>
            <a:prstDash val="solid"/>
          </a:ln>
        </p:spPr>
        <p:txBody>
          <a:bodyPr/>
          <a:lstStyle/>
          <a:p>
            <a:endParaRPr lang="ar-EG"/>
          </a:p>
        </p:txBody>
      </p:sp>
      <p:sp>
        <p:nvSpPr>
          <p:cNvPr id="35" name="Shape 31"/>
          <p:cNvSpPr/>
          <p:nvPr/>
        </p:nvSpPr>
        <p:spPr>
          <a:xfrm>
            <a:off x="6766560" y="4910328"/>
            <a:ext cx="640080" cy="640080"/>
          </a:xfrm>
          <a:prstGeom prst="ellipse">
            <a:avLst/>
          </a:prstGeom>
          <a:solidFill>
            <a:srgbClr val="0E7C7B"/>
          </a:solidFill>
        </p:spPr>
        <p:txBody>
          <a:bodyPr/>
          <a:lstStyle/>
          <a:p>
            <a:endParaRPr lang="ar-EG"/>
          </a:p>
        </p:txBody>
      </p:sp>
      <p:pic>
        <p:nvPicPr>
          <p:cNvPr id="36" name="Image 2" descr="/home/claude/deck/icons/clipboard_teal.png"/>
          <p:cNvPicPr>
            <a:picLocks noChangeAspect="1"/>
          </p:cNvPicPr>
          <p:nvPr/>
        </p:nvPicPr>
        <p:blipFill>
          <a:blip r:embed="rId5"/>
          <a:stretch>
            <a:fillRect/>
          </a:stretch>
        </p:blipFill>
        <p:spPr>
          <a:xfrm>
            <a:off x="6910578" y="5054346"/>
            <a:ext cx="352044" cy="352044"/>
          </a:xfrm>
          <a:prstGeom prst="rect">
            <a:avLst/>
          </a:prstGeom>
        </p:spPr>
      </p:pic>
      <p:sp>
        <p:nvSpPr>
          <p:cNvPr id="37" name="Text 32"/>
          <p:cNvSpPr/>
          <p:nvPr/>
        </p:nvSpPr>
        <p:spPr>
          <a:xfrm>
            <a:off x="7589520" y="4837176"/>
            <a:ext cx="3749040" cy="320040"/>
          </a:xfrm>
          <a:prstGeom prst="rect">
            <a:avLst/>
          </a:prstGeom>
          <a:noFill/>
        </p:spPr>
        <p:txBody>
          <a:bodyPr wrap="square" rtlCol="0" anchor="ctr"/>
          <a:lstStyle/>
          <a:p>
            <a:pPr marL="0" indent="0">
              <a:buNone/>
            </a:pPr>
            <a:r>
              <a:rPr lang="en-US" sz="1500" b="1" dirty="0">
                <a:solidFill>
                  <a:srgbClr val="2B2D2F"/>
                </a:solidFill>
                <a:latin typeface="Calibri" panose="020F0502020204030204" pitchFamily="34" charset="0"/>
                <a:ea typeface="Calibri" panose="020F0502020204030204" pitchFamily="34" charset="-122"/>
                <a:cs typeface="Calibri" panose="020F0502020204030204" pitchFamily="34" charset="-120"/>
              </a:rPr>
              <a:t>Accounting / Audit</a:t>
            </a:r>
            <a:endParaRPr lang="en-US" sz="1500" dirty="0"/>
          </a:p>
        </p:txBody>
      </p:sp>
      <p:sp>
        <p:nvSpPr>
          <p:cNvPr id="38" name="Text 33"/>
          <p:cNvSpPr/>
          <p:nvPr/>
        </p:nvSpPr>
        <p:spPr>
          <a:xfrm>
            <a:off x="7589520" y="5184648"/>
            <a:ext cx="3749040" cy="457200"/>
          </a:xfrm>
          <a:prstGeom prst="rect">
            <a:avLst/>
          </a:prstGeom>
          <a:noFill/>
        </p:spPr>
        <p:txBody>
          <a:bodyPr wrap="square" rtlCol="0" anchor="ctr"/>
          <a:lstStyle/>
          <a:p>
            <a:pPr marL="0" indent="0">
              <a:buNone/>
            </a:pPr>
            <a:r>
              <a:rPr lang="en-US" sz="1200" dirty="0">
                <a:solidFill>
                  <a:srgbClr val="5B6670"/>
                </a:solidFill>
                <a:latin typeface="Calibri" panose="020F0502020204030204" pitchFamily="34" charset="0"/>
                <a:ea typeface="Calibri" panose="020F0502020204030204" pitchFamily="34" charset="-122"/>
                <a:cs typeface="Calibri" panose="020F0502020204030204" pitchFamily="34" charset="-120"/>
              </a:rPr>
              <a:t>Recording what you did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INTRODUCTION &amp; IAM</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1 · INTRODUCTION</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IAM Architecture Overview</a:t>
            </a:r>
            <a:endParaRPr lang="en-US" sz="3000" dirty="0"/>
          </a:p>
        </p:txBody>
      </p:sp>
      <p:sp>
        <p:nvSpPr>
          <p:cNvPr id="7" name="Shape 5"/>
          <p:cNvSpPr/>
          <p:nvPr/>
        </p:nvSpPr>
        <p:spPr>
          <a:xfrm>
            <a:off x="502920" y="2834640"/>
            <a:ext cx="2044598" cy="1508760"/>
          </a:xfrm>
          <a:prstGeom prst="roundRect">
            <a:avLst>
              <a:gd name="adj" fmla="val 4242"/>
            </a:avLst>
          </a:prstGeom>
          <a:solidFill>
            <a:srgbClr val="2B2D2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Shape 6"/>
          <p:cNvSpPr/>
          <p:nvPr/>
        </p:nvSpPr>
        <p:spPr>
          <a:xfrm>
            <a:off x="1205179" y="2999232"/>
            <a:ext cx="640080" cy="640080"/>
          </a:xfrm>
          <a:prstGeom prst="ellipse">
            <a:avLst/>
          </a:prstGeom>
          <a:solidFill>
            <a:srgbClr val="0E7C7B"/>
          </a:solidFill>
        </p:spPr>
        <p:txBody>
          <a:bodyPr/>
          <a:lstStyle/>
          <a:p>
            <a:endParaRPr lang="ar-EG"/>
          </a:p>
        </p:txBody>
      </p:sp>
      <p:pic>
        <p:nvPicPr>
          <p:cNvPr id="9" name="Image 0" descr="/home/claude/deck/icons/user_tie.png"/>
          <p:cNvPicPr>
            <a:picLocks noChangeAspect="1"/>
          </p:cNvPicPr>
          <p:nvPr/>
        </p:nvPicPr>
        <p:blipFill>
          <a:blip r:embed="rId3"/>
          <a:stretch>
            <a:fillRect/>
          </a:stretch>
        </p:blipFill>
        <p:spPr>
          <a:xfrm>
            <a:off x="1349197" y="3143250"/>
            <a:ext cx="352044" cy="352044"/>
          </a:xfrm>
          <a:prstGeom prst="rect">
            <a:avLst/>
          </a:prstGeom>
        </p:spPr>
      </p:pic>
      <p:sp>
        <p:nvSpPr>
          <p:cNvPr id="10" name="Text 7"/>
          <p:cNvSpPr/>
          <p:nvPr/>
        </p:nvSpPr>
        <p:spPr>
          <a:xfrm>
            <a:off x="576072" y="3703320"/>
            <a:ext cx="1898294" cy="566928"/>
          </a:xfrm>
          <a:prstGeom prst="rect">
            <a:avLst/>
          </a:prstGeom>
          <a:noFill/>
        </p:spPr>
        <p:txBody>
          <a:bodyPr wrap="square" rtlCol="0" anchor="t"/>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 / Device</a:t>
            </a:r>
            <a:endParaRPr lang="en-US" sz="1150" dirty="0"/>
          </a:p>
        </p:txBody>
      </p:sp>
      <p:sp>
        <p:nvSpPr>
          <p:cNvPr id="11" name="Shape 8"/>
          <p:cNvSpPr/>
          <p:nvPr/>
        </p:nvSpPr>
        <p:spPr>
          <a:xfrm>
            <a:off x="2565806" y="3506724"/>
            <a:ext cx="219456" cy="164592"/>
          </a:xfrm>
          <a:prstGeom prst="rightArrow">
            <a:avLst/>
          </a:prstGeom>
          <a:solidFill>
            <a:srgbClr val="8B939A"/>
          </a:solidFill>
        </p:spPr>
        <p:txBody>
          <a:bodyPr/>
          <a:lstStyle/>
          <a:p>
            <a:endParaRPr lang="ar-EG"/>
          </a:p>
        </p:txBody>
      </p:sp>
      <p:sp>
        <p:nvSpPr>
          <p:cNvPr id="12" name="Shape 9"/>
          <p:cNvSpPr/>
          <p:nvPr/>
        </p:nvSpPr>
        <p:spPr>
          <a:xfrm>
            <a:off x="2803550" y="2834640"/>
            <a:ext cx="2044598" cy="1508760"/>
          </a:xfrm>
          <a:prstGeom prst="roundRect">
            <a:avLst>
              <a:gd name="adj" fmla="val 424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3" name="Shape 10"/>
          <p:cNvSpPr/>
          <p:nvPr/>
        </p:nvSpPr>
        <p:spPr>
          <a:xfrm>
            <a:off x="3505810" y="2999232"/>
            <a:ext cx="640080" cy="640080"/>
          </a:xfrm>
          <a:prstGeom prst="ellipse">
            <a:avLst/>
          </a:prstGeom>
          <a:solidFill>
            <a:srgbClr val="0E7C7B"/>
          </a:solidFill>
        </p:spPr>
        <p:txBody>
          <a:bodyPr/>
          <a:lstStyle/>
          <a:p>
            <a:endParaRPr lang="ar-EG"/>
          </a:p>
        </p:txBody>
      </p:sp>
      <p:pic>
        <p:nvPicPr>
          <p:cNvPr id="14" name="Image 1" descr="/home/claude/deck/icons/key_teal.png"/>
          <p:cNvPicPr>
            <a:picLocks noChangeAspect="1"/>
          </p:cNvPicPr>
          <p:nvPr/>
        </p:nvPicPr>
        <p:blipFill>
          <a:blip r:embed="rId4"/>
          <a:stretch>
            <a:fillRect/>
          </a:stretch>
        </p:blipFill>
        <p:spPr>
          <a:xfrm>
            <a:off x="3649828" y="3143250"/>
            <a:ext cx="352044" cy="352044"/>
          </a:xfrm>
          <a:prstGeom prst="rect">
            <a:avLst/>
          </a:prstGeom>
        </p:spPr>
      </p:pic>
      <p:sp>
        <p:nvSpPr>
          <p:cNvPr id="15" name="Text 11"/>
          <p:cNvSpPr/>
          <p:nvPr/>
        </p:nvSpPr>
        <p:spPr>
          <a:xfrm>
            <a:off x="2876702" y="3703320"/>
            <a:ext cx="1898294" cy="566928"/>
          </a:xfrm>
          <a:prstGeom prst="rect">
            <a:avLst/>
          </a:prstGeom>
          <a:noFill/>
        </p:spPr>
        <p:txBody>
          <a:bodyPr wrap="square" rtlCol="0" anchor="t"/>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Identity Provider</a:t>
            </a:r>
            <a:endParaRPr lang="en-US" sz="1150" dirty="0"/>
          </a:p>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(IdP)</a:t>
            </a:r>
            <a:endParaRPr lang="en-US" sz="1150" dirty="0"/>
          </a:p>
        </p:txBody>
      </p:sp>
      <p:sp>
        <p:nvSpPr>
          <p:cNvPr id="16" name="Shape 12"/>
          <p:cNvSpPr/>
          <p:nvPr/>
        </p:nvSpPr>
        <p:spPr>
          <a:xfrm>
            <a:off x="4866437" y="3506724"/>
            <a:ext cx="219456" cy="164592"/>
          </a:xfrm>
          <a:prstGeom prst="rightArrow">
            <a:avLst/>
          </a:prstGeom>
          <a:solidFill>
            <a:srgbClr val="8B939A"/>
          </a:solidFill>
        </p:spPr>
        <p:txBody>
          <a:bodyPr/>
          <a:lstStyle/>
          <a:p>
            <a:endParaRPr lang="ar-EG"/>
          </a:p>
        </p:txBody>
      </p:sp>
      <p:sp>
        <p:nvSpPr>
          <p:cNvPr id="17" name="Shape 13"/>
          <p:cNvSpPr/>
          <p:nvPr/>
        </p:nvSpPr>
        <p:spPr>
          <a:xfrm>
            <a:off x="5104181" y="2834640"/>
            <a:ext cx="2044598" cy="1508760"/>
          </a:xfrm>
          <a:prstGeom prst="roundRect">
            <a:avLst>
              <a:gd name="adj" fmla="val 424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8" name="Shape 14"/>
          <p:cNvSpPr/>
          <p:nvPr/>
        </p:nvSpPr>
        <p:spPr>
          <a:xfrm>
            <a:off x="5806440" y="2999232"/>
            <a:ext cx="640080" cy="640080"/>
          </a:xfrm>
          <a:prstGeom prst="ellipse">
            <a:avLst/>
          </a:prstGeom>
          <a:solidFill>
            <a:srgbClr val="0E7C7B"/>
          </a:solidFill>
        </p:spPr>
        <p:txBody>
          <a:bodyPr/>
          <a:lstStyle/>
          <a:p>
            <a:endParaRPr lang="ar-EG"/>
          </a:p>
        </p:txBody>
      </p:sp>
      <p:pic>
        <p:nvPicPr>
          <p:cNvPr id="19" name="Image 2" descr="/home/claude/deck/icons/database_teal.png"/>
          <p:cNvPicPr>
            <a:picLocks noChangeAspect="1"/>
          </p:cNvPicPr>
          <p:nvPr/>
        </p:nvPicPr>
        <p:blipFill>
          <a:blip r:embed="rId5"/>
          <a:stretch>
            <a:fillRect/>
          </a:stretch>
        </p:blipFill>
        <p:spPr>
          <a:xfrm>
            <a:off x="5950458" y="3143250"/>
            <a:ext cx="352044" cy="352044"/>
          </a:xfrm>
          <a:prstGeom prst="rect">
            <a:avLst/>
          </a:prstGeom>
        </p:spPr>
      </p:pic>
      <p:sp>
        <p:nvSpPr>
          <p:cNvPr id="20" name="Text 15"/>
          <p:cNvSpPr/>
          <p:nvPr/>
        </p:nvSpPr>
        <p:spPr>
          <a:xfrm>
            <a:off x="5177333" y="3703320"/>
            <a:ext cx="1898294" cy="566928"/>
          </a:xfrm>
          <a:prstGeom prst="rect">
            <a:avLst/>
          </a:prstGeom>
          <a:noFill/>
        </p:spPr>
        <p:txBody>
          <a:bodyPr wrap="square" rtlCol="0" anchor="t"/>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Directory</a:t>
            </a:r>
            <a:endParaRPr lang="en-US" sz="1150" dirty="0"/>
          </a:p>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(AD / Azure AD / LDAP)</a:t>
            </a:r>
            <a:endParaRPr lang="en-US" sz="1150" dirty="0"/>
          </a:p>
        </p:txBody>
      </p:sp>
      <p:sp>
        <p:nvSpPr>
          <p:cNvPr id="21" name="Shape 16"/>
          <p:cNvSpPr/>
          <p:nvPr/>
        </p:nvSpPr>
        <p:spPr>
          <a:xfrm>
            <a:off x="7167067" y="3506724"/>
            <a:ext cx="219456" cy="164592"/>
          </a:xfrm>
          <a:prstGeom prst="rightArrow">
            <a:avLst/>
          </a:prstGeom>
          <a:solidFill>
            <a:srgbClr val="8B939A"/>
          </a:solidFill>
        </p:spPr>
        <p:txBody>
          <a:bodyPr/>
          <a:lstStyle/>
          <a:p>
            <a:endParaRPr lang="ar-EG"/>
          </a:p>
        </p:txBody>
      </p:sp>
      <p:sp>
        <p:nvSpPr>
          <p:cNvPr id="22" name="Shape 17"/>
          <p:cNvSpPr/>
          <p:nvPr/>
        </p:nvSpPr>
        <p:spPr>
          <a:xfrm>
            <a:off x="7404811" y="2834640"/>
            <a:ext cx="2044598" cy="1508760"/>
          </a:xfrm>
          <a:prstGeom prst="roundRect">
            <a:avLst>
              <a:gd name="adj" fmla="val 424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3" name="Shape 18"/>
          <p:cNvSpPr/>
          <p:nvPr/>
        </p:nvSpPr>
        <p:spPr>
          <a:xfrm>
            <a:off x="8107070" y="2999232"/>
            <a:ext cx="640080" cy="640080"/>
          </a:xfrm>
          <a:prstGeom prst="ellipse">
            <a:avLst/>
          </a:prstGeom>
          <a:solidFill>
            <a:srgbClr val="0E7C7B"/>
          </a:solidFill>
        </p:spPr>
        <p:txBody>
          <a:bodyPr/>
          <a:lstStyle/>
          <a:p>
            <a:endParaRPr lang="ar-EG"/>
          </a:p>
        </p:txBody>
      </p:sp>
      <p:pic>
        <p:nvPicPr>
          <p:cNvPr id="24" name="Image 3" descr="/home/claude/deck/icons/cog_teal.png"/>
          <p:cNvPicPr>
            <a:picLocks noChangeAspect="1"/>
          </p:cNvPicPr>
          <p:nvPr/>
        </p:nvPicPr>
        <p:blipFill>
          <a:blip r:embed="rId6"/>
          <a:stretch>
            <a:fillRect/>
          </a:stretch>
        </p:blipFill>
        <p:spPr>
          <a:xfrm>
            <a:off x="8251088" y="3143250"/>
            <a:ext cx="352044" cy="352044"/>
          </a:xfrm>
          <a:prstGeom prst="rect">
            <a:avLst/>
          </a:prstGeom>
        </p:spPr>
      </p:pic>
      <p:sp>
        <p:nvSpPr>
          <p:cNvPr id="25" name="Text 19"/>
          <p:cNvSpPr/>
          <p:nvPr/>
        </p:nvSpPr>
        <p:spPr>
          <a:xfrm>
            <a:off x="7477963" y="3703320"/>
            <a:ext cx="1898294" cy="566928"/>
          </a:xfrm>
          <a:prstGeom prst="rect">
            <a:avLst/>
          </a:prstGeom>
          <a:noFill/>
        </p:spPr>
        <p:txBody>
          <a:bodyPr wrap="square" rtlCol="0" anchor="t"/>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Policy Engine</a:t>
            </a:r>
            <a:endParaRPr lang="en-US" sz="1150" dirty="0"/>
          </a:p>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(Zero Trust rules)</a:t>
            </a:r>
            <a:endParaRPr lang="en-US" sz="1150" dirty="0"/>
          </a:p>
        </p:txBody>
      </p:sp>
      <p:sp>
        <p:nvSpPr>
          <p:cNvPr id="26" name="Shape 20"/>
          <p:cNvSpPr/>
          <p:nvPr/>
        </p:nvSpPr>
        <p:spPr>
          <a:xfrm>
            <a:off x="9467698" y="3506724"/>
            <a:ext cx="219456" cy="164592"/>
          </a:xfrm>
          <a:prstGeom prst="rightArrow">
            <a:avLst/>
          </a:prstGeom>
          <a:solidFill>
            <a:srgbClr val="8B939A"/>
          </a:solidFill>
        </p:spPr>
        <p:txBody>
          <a:bodyPr/>
          <a:lstStyle/>
          <a:p>
            <a:endParaRPr lang="ar-EG"/>
          </a:p>
        </p:txBody>
      </p:sp>
      <p:sp>
        <p:nvSpPr>
          <p:cNvPr id="27" name="Shape 21"/>
          <p:cNvSpPr/>
          <p:nvPr/>
        </p:nvSpPr>
        <p:spPr>
          <a:xfrm>
            <a:off x="9705442" y="2834640"/>
            <a:ext cx="2044598" cy="1508760"/>
          </a:xfrm>
          <a:prstGeom prst="roundRect">
            <a:avLst>
              <a:gd name="adj" fmla="val 424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8" name="Shape 22"/>
          <p:cNvSpPr/>
          <p:nvPr/>
        </p:nvSpPr>
        <p:spPr>
          <a:xfrm>
            <a:off x="10407701" y="2999232"/>
            <a:ext cx="640080" cy="640080"/>
          </a:xfrm>
          <a:prstGeom prst="ellipse">
            <a:avLst/>
          </a:prstGeom>
          <a:solidFill>
            <a:srgbClr val="0E7C7B"/>
          </a:solidFill>
        </p:spPr>
        <p:txBody>
          <a:bodyPr/>
          <a:lstStyle/>
          <a:p>
            <a:endParaRPr lang="ar-EG"/>
          </a:p>
        </p:txBody>
      </p:sp>
      <p:pic>
        <p:nvPicPr>
          <p:cNvPr id="29" name="Image 4" descr="/home/claude/deck/icons/cloud_teal.png"/>
          <p:cNvPicPr>
            <a:picLocks noChangeAspect="1"/>
          </p:cNvPicPr>
          <p:nvPr/>
        </p:nvPicPr>
        <p:blipFill>
          <a:blip r:embed="rId7"/>
          <a:stretch>
            <a:fillRect/>
          </a:stretch>
        </p:blipFill>
        <p:spPr>
          <a:xfrm>
            <a:off x="10551719" y="3143250"/>
            <a:ext cx="352044" cy="352044"/>
          </a:xfrm>
          <a:prstGeom prst="rect">
            <a:avLst/>
          </a:prstGeom>
        </p:spPr>
      </p:pic>
      <p:sp>
        <p:nvSpPr>
          <p:cNvPr id="30" name="Text 23"/>
          <p:cNvSpPr/>
          <p:nvPr/>
        </p:nvSpPr>
        <p:spPr>
          <a:xfrm>
            <a:off x="9778594" y="3703320"/>
            <a:ext cx="1898294" cy="566928"/>
          </a:xfrm>
          <a:prstGeom prst="rect">
            <a:avLst/>
          </a:prstGeom>
          <a:noFill/>
        </p:spPr>
        <p:txBody>
          <a:bodyPr wrap="square" rtlCol="0" anchor="t"/>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Applications</a:t>
            </a:r>
            <a:endParaRPr lang="en-US" sz="1150" dirty="0"/>
          </a:p>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&amp; Resources</a:t>
            </a:r>
            <a:endParaRPr lang="en-US" sz="1150" dirty="0"/>
          </a:p>
        </p:txBody>
      </p:sp>
      <p:sp>
        <p:nvSpPr>
          <p:cNvPr id="31" name="Text 24"/>
          <p:cNvSpPr/>
          <p:nvPr/>
        </p:nvSpPr>
        <p:spPr>
          <a:xfrm>
            <a:off x="502920" y="4663440"/>
            <a:ext cx="11247120" cy="822960"/>
          </a:xfrm>
          <a:prstGeom prst="rect">
            <a:avLst/>
          </a:prstGeom>
          <a:noFill/>
        </p:spPr>
        <p:txBody>
          <a:bodyPr wrap="square" rtlCol="0" anchor="ctr"/>
          <a:lstStyle/>
          <a:p>
            <a:pPr marL="0" indent="0">
              <a:lnSpc>
                <a:spcPts val="1800"/>
              </a:lnSpc>
              <a:buNone/>
            </a:pPr>
            <a:r>
              <a:rPr lang="en-US" sz="1300" i="1" dirty="0">
                <a:solidFill>
                  <a:srgbClr val="5B6670"/>
                </a:solidFill>
                <a:latin typeface="Calibri" panose="020F0502020204030204" pitchFamily="34" charset="0"/>
                <a:ea typeface="Calibri" panose="020F0502020204030204" pitchFamily="34" charset="-122"/>
                <a:cs typeface="Calibri" panose="020F0502020204030204" pitchFamily="34" charset="-120"/>
              </a:rPr>
              <a:t>Flow: a user or device authenticates through an Identity Provider, which validates credentials against a directory service, applies contextual policy (Zero Trust signals such as device posture, location, and risk score), and grants access to applications and resources.</a:t>
            </a:r>
            <a:endParaRPr lang="en-US" sz="1300" dirty="0"/>
          </a:p>
        </p:txBody>
      </p:sp>
      <p:sp>
        <p:nvSpPr>
          <p:cNvPr id="32" name="Shape 25"/>
          <p:cNvSpPr/>
          <p:nvPr/>
        </p:nvSpPr>
        <p:spPr>
          <a:xfrm>
            <a:off x="502920" y="5440680"/>
            <a:ext cx="2640330" cy="914400"/>
          </a:xfrm>
          <a:prstGeom prst="roundRect">
            <a:avLst>
              <a:gd name="adj" fmla="val 7000"/>
            </a:avLst>
          </a:prstGeom>
          <a:solidFill>
            <a:srgbClr val="F5F6F6"/>
          </a:solidFill>
          <a:ln w="12700">
            <a:solidFill>
              <a:srgbClr val="DCE1E2"/>
            </a:solidFill>
            <a:prstDash val="solid"/>
          </a:ln>
        </p:spPr>
        <p:txBody>
          <a:bodyPr/>
          <a:lstStyle/>
          <a:p>
            <a:endParaRPr lang="ar-EG"/>
          </a:p>
        </p:txBody>
      </p:sp>
      <p:sp>
        <p:nvSpPr>
          <p:cNvPr id="33" name="Text 26"/>
          <p:cNvSpPr/>
          <p:nvPr/>
        </p:nvSpPr>
        <p:spPr>
          <a:xfrm>
            <a:off x="640080" y="5532120"/>
            <a:ext cx="2366010" cy="320040"/>
          </a:xfrm>
          <a:prstGeom prst="rect">
            <a:avLst/>
          </a:prstGeom>
          <a:noFill/>
        </p:spPr>
        <p:txBody>
          <a:bodyPr wrap="square" rtlCol="0" anchor="ctr"/>
          <a:lstStyle/>
          <a:p>
            <a:pPr marL="0" indent="0">
              <a:buNone/>
            </a:pPr>
            <a:r>
              <a:rPr lang="en-US" sz="1200" b="1" dirty="0">
                <a:solidFill>
                  <a:srgbClr val="0A5F5E"/>
                </a:solidFill>
                <a:latin typeface="Calibri" panose="020F0502020204030204" pitchFamily="34" charset="0"/>
                <a:ea typeface="Calibri" panose="020F0502020204030204" pitchFamily="34" charset="-122"/>
                <a:cs typeface="Calibri" panose="020F0502020204030204" pitchFamily="34" charset="-120"/>
              </a:rPr>
              <a:t>Identity Governance</a:t>
            </a:r>
            <a:endParaRPr lang="en-US" sz="1200" dirty="0"/>
          </a:p>
        </p:txBody>
      </p:sp>
      <p:sp>
        <p:nvSpPr>
          <p:cNvPr id="34" name="Text 27"/>
          <p:cNvSpPr/>
          <p:nvPr/>
        </p:nvSpPr>
        <p:spPr>
          <a:xfrm>
            <a:off x="640080" y="5852160"/>
            <a:ext cx="2366010" cy="411480"/>
          </a:xfrm>
          <a:prstGeom prst="rect">
            <a:avLst/>
          </a:prstGeom>
          <a:noFill/>
        </p:spPr>
        <p:txBody>
          <a:bodyPr wrap="square" rtlCol="0" anchor="ctr"/>
          <a:lstStyle/>
          <a:p>
            <a:pPr marL="0" indent="0">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Lifecycle &amp; entitlement reviews</a:t>
            </a:r>
            <a:endParaRPr lang="en-US" sz="1000" dirty="0"/>
          </a:p>
        </p:txBody>
      </p:sp>
      <p:sp>
        <p:nvSpPr>
          <p:cNvPr id="35" name="Shape 28"/>
          <p:cNvSpPr/>
          <p:nvPr/>
        </p:nvSpPr>
        <p:spPr>
          <a:xfrm>
            <a:off x="3371850" y="5440680"/>
            <a:ext cx="2640330" cy="914400"/>
          </a:xfrm>
          <a:prstGeom prst="roundRect">
            <a:avLst>
              <a:gd name="adj" fmla="val 7000"/>
            </a:avLst>
          </a:prstGeom>
          <a:solidFill>
            <a:srgbClr val="F5F6F6"/>
          </a:solidFill>
          <a:ln w="12700">
            <a:solidFill>
              <a:srgbClr val="DCE1E2"/>
            </a:solidFill>
            <a:prstDash val="solid"/>
          </a:ln>
        </p:spPr>
        <p:txBody>
          <a:bodyPr/>
          <a:lstStyle/>
          <a:p>
            <a:endParaRPr lang="ar-EG"/>
          </a:p>
        </p:txBody>
      </p:sp>
      <p:sp>
        <p:nvSpPr>
          <p:cNvPr id="36" name="Text 29"/>
          <p:cNvSpPr/>
          <p:nvPr/>
        </p:nvSpPr>
        <p:spPr>
          <a:xfrm>
            <a:off x="3509010" y="5532120"/>
            <a:ext cx="2366010" cy="320040"/>
          </a:xfrm>
          <a:prstGeom prst="rect">
            <a:avLst/>
          </a:prstGeom>
          <a:noFill/>
        </p:spPr>
        <p:txBody>
          <a:bodyPr wrap="square" rtlCol="0" anchor="ctr"/>
          <a:lstStyle/>
          <a:p>
            <a:pPr marL="0" indent="0">
              <a:buNone/>
            </a:pPr>
            <a:r>
              <a:rPr lang="en-US" sz="1200" b="1" dirty="0">
                <a:solidFill>
                  <a:srgbClr val="0A5F5E"/>
                </a:solidFill>
                <a:latin typeface="Calibri" panose="020F0502020204030204" pitchFamily="34" charset="0"/>
                <a:ea typeface="Calibri" panose="020F0502020204030204" pitchFamily="34" charset="-122"/>
                <a:cs typeface="Calibri" panose="020F0502020204030204" pitchFamily="34" charset="-120"/>
              </a:rPr>
              <a:t>Access Management</a:t>
            </a:r>
            <a:endParaRPr lang="en-US" sz="1200" dirty="0"/>
          </a:p>
        </p:txBody>
      </p:sp>
      <p:sp>
        <p:nvSpPr>
          <p:cNvPr id="37" name="Text 30"/>
          <p:cNvSpPr/>
          <p:nvPr/>
        </p:nvSpPr>
        <p:spPr>
          <a:xfrm>
            <a:off x="3509010" y="5852160"/>
            <a:ext cx="2366010" cy="411480"/>
          </a:xfrm>
          <a:prstGeom prst="rect">
            <a:avLst/>
          </a:prstGeom>
          <a:noFill/>
        </p:spPr>
        <p:txBody>
          <a:bodyPr wrap="square" rtlCol="0" anchor="ctr"/>
          <a:lstStyle/>
          <a:p>
            <a:pPr marL="0" indent="0">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Authentication &amp; SSO</a:t>
            </a:r>
            <a:endParaRPr lang="en-US" sz="1000" dirty="0"/>
          </a:p>
        </p:txBody>
      </p:sp>
      <p:sp>
        <p:nvSpPr>
          <p:cNvPr id="38" name="Shape 31"/>
          <p:cNvSpPr/>
          <p:nvPr/>
        </p:nvSpPr>
        <p:spPr>
          <a:xfrm>
            <a:off x="6240780" y="5440680"/>
            <a:ext cx="2640330" cy="914400"/>
          </a:xfrm>
          <a:prstGeom prst="roundRect">
            <a:avLst>
              <a:gd name="adj" fmla="val 7000"/>
            </a:avLst>
          </a:prstGeom>
          <a:solidFill>
            <a:srgbClr val="F5F6F6"/>
          </a:solidFill>
          <a:ln w="12700">
            <a:solidFill>
              <a:srgbClr val="DCE1E2"/>
            </a:solidFill>
            <a:prstDash val="solid"/>
          </a:ln>
        </p:spPr>
        <p:txBody>
          <a:bodyPr/>
          <a:lstStyle/>
          <a:p>
            <a:endParaRPr lang="ar-EG"/>
          </a:p>
        </p:txBody>
      </p:sp>
      <p:sp>
        <p:nvSpPr>
          <p:cNvPr id="39" name="Text 32"/>
          <p:cNvSpPr/>
          <p:nvPr/>
        </p:nvSpPr>
        <p:spPr>
          <a:xfrm>
            <a:off x="6377940" y="5532120"/>
            <a:ext cx="2366010" cy="320040"/>
          </a:xfrm>
          <a:prstGeom prst="rect">
            <a:avLst/>
          </a:prstGeom>
          <a:noFill/>
        </p:spPr>
        <p:txBody>
          <a:bodyPr wrap="square" rtlCol="0" anchor="ctr"/>
          <a:lstStyle/>
          <a:p>
            <a:pPr marL="0" indent="0">
              <a:buNone/>
            </a:pPr>
            <a:r>
              <a:rPr lang="en-US" sz="1200" b="1" dirty="0">
                <a:solidFill>
                  <a:srgbClr val="0A5F5E"/>
                </a:solidFill>
                <a:latin typeface="Calibri" panose="020F0502020204030204" pitchFamily="34" charset="0"/>
                <a:ea typeface="Calibri" panose="020F0502020204030204" pitchFamily="34" charset="-122"/>
                <a:cs typeface="Calibri" panose="020F0502020204030204" pitchFamily="34" charset="-120"/>
              </a:rPr>
              <a:t>Directory Services</a:t>
            </a:r>
            <a:endParaRPr lang="en-US" sz="1200" dirty="0"/>
          </a:p>
        </p:txBody>
      </p:sp>
      <p:sp>
        <p:nvSpPr>
          <p:cNvPr id="40" name="Text 33"/>
          <p:cNvSpPr/>
          <p:nvPr/>
        </p:nvSpPr>
        <p:spPr>
          <a:xfrm>
            <a:off x="6377940" y="5852160"/>
            <a:ext cx="2366010" cy="411480"/>
          </a:xfrm>
          <a:prstGeom prst="rect">
            <a:avLst/>
          </a:prstGeom>
          <a:noFill/>
        </p:spPr>
        <p:txBody>
          <a:bodyPr wrap="square" rtlCol="0" anchor="ctr"/>
          <a:lstStyle/>
          <a:p>
            <a:pPr marL="0" indent="0">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Central identity store</a:t>
            </a:r>
            <a:endParaRPr lang="en-US" sz="1000" dirty="0"/>
          </a:p>
        </p:txBody>
      </p:sp>
      <p:sp>
        <p:nvSpPr>
          <p:cNvPr id="41" name="Shape 34"/>
          <p:cNvSpPr/>
          <p:nvPr/>
        </p:nvSpPr>
        <p:spPr>
          <a:xfrm>
            <a:off x="9109710" y="5440680"/>
            <a:ext cx="2640330" cy="914400"/>
          </a:xfrm>
          <a:prstGeom prst="roundRect">
            <a:avLst>
              <a:gd name="adj" fmla="val 7000"/>
            </a:avLst>
          </a:prstGeom>
          <a:solidFill>
            <a:srgbClr val="F5F6F6"/>
          </a:solidFill>
          <a:ln w="12700">
            <a:solidFill>
              <a:srgbClr val="DCE1E2"/>
            </a:solidFill>
            <a:prstDash val="solid"/>
          </a:ln>
        </p:spPr>
        <p:txBody>
          <a:bodyPr/>
          <a:lstStyle/>
          <a:p>
            <a:endParaRPr lang="ar-EG"/>
          </a:p>
        </p:txBody>
      </p:sp>
      <p:sp>
        <p:nvSpPr>
          <p:cNvPr id="42" name="Text 35"/>
          <p:cNvSpPr/>
          <p:nvPr/>
        </p:nvSpPr>
        <p:spPr>
          <a:xfrm>
            <a:off x="9246870" y="5532120"/>
            <a:ext cx="2366010" cy="320040"/>
          </a:xfrm>
          <a:prstGeom prst="rect">
            <a:avLst/>
          </a:prstGeom>
          <a:noFill/>
        </p:spPr>
        <p:txBody>
          <a:bodyPr wrap="square" rtlCol="0" anchor="ctr"/>
          <a:lstStyle/>
          <a:p>
            <a:pPr marL="0" indent="0">
              <a:buNone/>
            </a:pPr>
            <a:r>
              <a:rPr lang="en-US" sz="1200" b="1" dirty="0">
                <a:solidFill>
                  <a:srgbClr val="0A5F5E"/>
                </a:solidFill>
                <a:latin typeface="Calibri" panose="020F0502020204030204" pitchFamily="34" charset="0"/>
                <a:ea typeface="Calibri" panose="020F0502020204030204" pitchFamily="34" charset="-122"/>
                <a:cs typeface="Calibri" panose="020F0502020204030204" pitchFamily="34" charset="-120"/>
              </a:rPr>
              <a:t>Privileged Access</a:t>
            </a:r>
            <a:endParaRPr lang="en-US" sz="1200" dirty="0"/>
          </a:p>
        </p:txBody>
      </p:sp>
      <p:sp>
        <p:nvSpPr>
          <p:cNvPr id="43" name="Text 36"/>
          <p:cNvSpPr/>
          <p:nvPr/>
        </p:nvSpPr>
        <p:spPr>
          <a:xfrm>
            <a:off x="9246870" y="5852160"/>
            <a:ext cx="2366010" cy="411480"/>
          </a:xfrm>
          <a:prstGeom prst="rect">
            <a:avLst/>
          </a:prstGeom>
          <a:noFill/>
        </p:spPr>
        <p:txBody>
          <a:bodyPr wrap="square" rtlCol="0" anchor="ctr"/>
          <a:lstStyle/>
          <a:p>
            <a:pPr marL="0" indent="0">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Elevated account control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8B939A"/>
                </a:solidFill>
                <a:latin typeface="Calibri" pitchFamily="34" charset="0"/>
                <a:ea typeface="Calibri" pitchFamily="34" charset="-122"/>
                <a:cs typeface="Calibri" pitchFamily="34" charset="-120"/>
              </a:rPr>
              <a:t>IAM · MFA · PAM &amp; MFA Fatigue Protection</a:t>
            </a:r>
            <a:endParaRPr lang="en-US" sz="900" dirty="0"/>
          </a:p>
        </p:txBody>
      </p:sp>
      <p:sp>
        <p:nvSpPr>
          <p:cNvPr id="3" name="Text 1"/>
          <p:cNvSpPr/>
          <p:nvPr/>
        </p:nvSpPr>
        <p:spPr>
          <a:xfrm>
            <a:off x="7162495" y="6510528"/>
            <a:ext cx="3931920" cy="274320"/>
          </a:xfrm>
          <a:prstGeom prst="rect">
            <a:avLst/>
          </a:prstGeom>
          <a:noFill/>
          <a:ln/>
        </p:spPr>
        <p:txBody>
          <a:bodyPr wrap="square" rtlCol="0" anchor="ctr"/>
          <a:lstStyle/>
          <a:p>
            <a:pPr marL="0" indent="0" algn="r">
              <a:buNone/>
            </a:pPr>
            <a:r>
              <a:rPr lang="en-US" sz="900" kern="0" spc="100" dirty="0">
                <a:solidFill>
                  <a:srgbClr val="8B939A"/>
                </a:solidFill>
                <a:latin typeface="Calibri" pitchFamily="34" charset="0"/>
                <a:ea typeface="Calibri" pitchFamily="34" charset="-122"/>
                <a:cs typeface="Calibri" pitchFamily="34" charset="-120"/>
              </a:rPr>
              <a:t>INTRODUCTION &amp; IAM</a:t>
            </a:r>
            <a:endParaRPr lang="en-US" sz="900" dirty="0"/>
          </a:p>
        </p:txBody>
      </p:sp>
      <p:sp>
        <p:nvSpPr>
          <p:cNvPr id="4" name="Text 2"/>
          <p:cNvSpPr/>
          <p:nvPr/>
        </p:nvSpPr>
        <p:spPr>
          <a:xfrm>
            <a:off x="11368735" y="6510528"/>
            <a:ext cx="365760" cy="274320"/>
          </a:xfrm>
          <a:prstGeom prst="rect">
            <a:avLst/>
          </a:prstGeom>
          <a:noFill/>
          <a:ln/>
        </p:spPr>
        <p:txBody>
          <a:bodyPr wrap="square" rtlCol="0" anchor="ctr"/>
          <a:lstStyle/>
          <a:p>
            <a:pPr marL="0" indent="0" algn="r">
              <a:buNone/>
            </a:pPr>
            <a:r>
              <a:rPr lang="en-US" sz="900" dirty="0">
                <a:solidFill>
                  <a:srgbClr val="8B939A"/>
                </a:solidFill>
                <a:latin typeface="Calibri" pitchFamily="34" charset="0"/>
                <a:ea typeface="Calibri" pitchFamily="34" charset="-122"/>
                <a:cs typeface="Calibri" pitchFamily="34" charset="-120"/>
              </a:rPr>
              <a:t>6</a:t>
            </a:r>
            <a:endParaRPr lang="en-US" sz="900" dirty="0"/>
          </a:p>
        </p:txBody>
      </p:sp>
      <p:sp>
        <p:nvSpPr>
          <p:cNvPr id="5" name="Text 3"/>
          <p:cNvSpPr/>
          <p:nvPr/>
        </p:nvSpPr>
        <p:spPr>
          <a:xfrm>
            <a:off x="502920" y="384048"/>
            <a:ext cx="10058400" cy="274320"/>
          </a:xfrm>
          <a:prstGeom prst="rect">
            <a:avLst/>
          </a:prstGeom>
          <a:noFill/>
          <a:ln/>
        </p:spPr>
        <p:txBody>
          <a:bodyPr wrap="square" rtlCol="0" anchor="ctr"/>
          <a:lstStyle/>
          <a:p>
            <a:pPr marL="0" indent="0">
              <a:buNone/>
            </a:pPr>
            <a:r>
              <a:rPr lang="en-US" sz="1250" b="1" kern="0" spc="150" dirty="0">
                <a:solidFill>
                  <a:srgbClr val="0E7C7B"/>
                </a:solidFill>
                <a:latin typeface="Calibri" pitchFamily="34" charset="0"/>
                <a:ea typeface="Calibri" pitchFamily="34" charset="-122"/>
                <a:cs typeface="Calibri" pitchFamily="34" charset="-120"/>
              </a:rPr>
              <a:t>SECTION 1 · ENTERPRISE EXAMPLE</a:t>
            </a:r>
            <a:endParaRPr lang="en-US" sz="1250" dirty="0"/>
          </a:p>
        </p:txBody>
      </p:sp>
      <p:sp>
        <p:nvSpPr>
          <p:cNvPr id="6" name="Text 4"/>
          <p:cNvSpPr/>
          <p:nvPr/>
        </p:nvSpPr>
        <p:spPr>
          <a:xfrm>
            <a:off x="502920" y="676656"/>
            <a:ext cx="11155680" cy="594360"/>
          </a:xfrm>
          <a:prstGeom prst="rect">
            <a:avLst/>
          </a:prstGeom>
          <a:noFill/>
          <a:ln/>
        </p:spPr>
        <p:txBody>
          <a:bodyPr wrap="square" rtlCol="0" anchor="ctr"/>
          <a:lstStyle/>
          <a:p>
            <a:pPr marL="0" indent="0">
              <a:buNone/>
            </a:pPr>
            <a:r>
              <a:rPr lang="en-US" sz="3000" b="1" dirty="0">
                <a:solidFill>
                  <a:srgbClr val="2B2D2F"/>
                </a:solidFill>
                <a:latin typeface="Cambria" pitchFamily="34" charset="0"/>
                <a:ea typeface="Cambria" pitchFamily="34" charset="-122"/>
                <a:cs typeface="Cambria" pitchFamily="34" charset="-120"/>
              </a:rPr>
              <a:t>Hybrid Identity: On-Prem AD + Azure AD (Entra ID)</a:t>
            </a:r>
            <a:endParaRPr lang="en-US" sz="3000" dirty="0"/>
          </a:p>
        </p:txBody>
      </p:sp>
      <p:sp>
        <p:nvSpPr>
          <p:cNvPr id="7" name="Shape 5"/>
          <p:cNvSpPr/>
          <p:nvPr/>
        </p:nvSpPr>
        <p:spPr>
          <a:xfrm>
            <a:off x="502920" y="1874520"/>
            <a:ext cx="3246120" cy="2834640"/>
          </a:xfrm>
          <a:prstGeom prst="roundRect">
            <a:avLst>
              <a:gd name="adj" fmla="val 2258"/>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en-US"/>
          </a:p>
        </p:txBody>
      </p:sp>
      <p:sp>
        <p:nvSpPr>
          <p:cNvPr id="8" name="Text 6"/>
          <p:cNvSpPr/>
          <p:nvPr/>
        </p:nvSpPr>
        <p:spPr>
          <a:xfrm>
            <a:off x="685800" y="2011680"/>
            <a:ext cx="2834640" cy="256032"/>
          </a:xfrm>
          <a:prstGeom prst="rect">
            <a:avLst/>
          </a:prstGeom>
          <a:noFill/>
          <a:ln/>
        </p:spPr>
        <p:txBody>
          <a:bodyPr wrap="square" rtlCol="0" anchor="ctr"/>
          <a:lstStyle/>
          <a:p>
            <a:pPr marL="0" indent="0">
              <a:buNone/>
            </a:pPr>
            <a:r>
              <a:rPr lang="en-US" sz="1100" b="1" kern="0" spc="100" dirty="0">
                <a:solidFill>
                  <a:srgbClr val="5B6670"/>
                </a:solidFill>
                <a:latin typeface="Calibri" pitchFamily="34" charset="0"/>
                <a:ea typeface="Calibri" pitchFamily="34" charset="-122"/>
                <a:cs typeface="Calibri" pitchFamily="34" charset="-120"/>
              </a:rPr>
              <a:t>ON-PREMISES</a:t>
            </a:r>
            <a:endParaRPr lang="en-US" sz="1100" dirty="0"/>
          </a:p>
        </p:txBody>
      </p:sp>
      <p:sp>
        <p:nvSpPr>
          <p:cNvPr id="9" name="Shape 7"/>
          <p:cNvSpPr/>
          <p:nvPr/>
        </p:nvSpPr>
        <p:spPr>
          <a:xfrm>
            <a:off x="868680" y="2377440"/>
            <a:ext cx="685800" cy="685800"/>
          </a:xfrm>
          <a:prstGeom prst="ellipse">
            <a:avLst/>
          </a:prstGeom>
          <a:solidFill>
            <a:srgbClr val="2B2D2F"/>
          </a:solidFill>
          <a:ln/>
        </p:spPr>
        <p:txBody>
          <a:bodyPr/>
          <a:lstStyle/>
          <a:p>
            <a:endParaRPr lang="en-US"/>
          </a:p>
        </p:txBody>
      </p:sp>
      <p:pic>
        <p:nvPicPr>
          <p:cNvPr id="10" name="Image 0" descr="/home/claude/deck/icons/server.png"/>
          <p:cNvPicPr>
            <a:picLocks noChangeAspect="1"/>
          </p:cNvPicPr>
          <p:nvPr/>
        </p:nvPicPr>
        <p:blipFill>
          <a:blip r:embed="rId3"/>
          <a:stretch>
            <a:fillRect/>
          </a:stretch>
        </p:blipFill>
        <p:spPr>
          <a:xfrm>
            <a:off x="1022985" y="2531745"/>
            <a:ext cx="377190" cy="377190"/>
          </a:xfrm>
          <a:prstGeom prst="rect">
            <a:avLst/>
          </a:prstGeom>
        </p:spPr>
      </p:pic>
      <p:sp>
        <p:nvSpPr>
          <p:cNvPr id="11" name="Text 8"/>
          <p:cNvSpPr/>
          <p:nvPr/>
        </p:nvSpPr>
        <p:spPr>
          <a:xfrm>
            <a:off x="1691640" y="2423160"/>
            <a:ext cx="1874520" cy="594360"/>
          </a:xfrm>
          <a:prstGeom prst="rect">
            <a:avLst/>
          </a:prstGeom>
          <a:noFill/>
          <a:ln/>
        </p:spPr>
        <p:txBody>
          <a:bodyPr wrap="square" rtlCol="0" anchor="ctr"/>
          <a:lstStyle/>
          <a:p>
            <a:pPr marL="0" indent="0">
              <a:buNone/>
            </a:pPr>
            <a:r>
              <a:rPr lang="en-US" sz="1250" b="1" dirty="0">
                <a:solidFill>
                  <a:srgbClr val="2B2D2F"/>
                </a:solidFill>
                <a:latin typeface="Calibri" pitchFamily="34" charset="0"/>
                <a:ea typeface="Calibri" pitchFamily="34" charset="-122"/>
                <a:cs typeface="Calibri" pitchFamily="34" charset="-120"/>
              </a:rPr>
              <a:t>Active Directory</a:t>
            </a:r>
            <a:endParaRPr lang="en-US" sz="1250" dirty="0"/>
          </a:p>
          <a:p>
            <a:pPr marL="0" indent="0">
              <a:buNone/>
            </a:pPr>
            <a:r>
              <a:rPr lang="en-US" sz="1250" b="1" dirty="0">
                <a:solidFill>
                  <a:srgbClr val="2B2D2F"/>
                </a:solidFill>
                <a:latin typeface="Calibri" pitchFamily="34" charset="0"/>
                <a:ea typeface="Calibri" pitchFamily="34" charset="-122"/>
                <a:cs typeface="Calibri" pitchFamily="34" charset="-120"/>
              </a:rPr>
              <a:t>Domain Services</a:t>
            </a:r>
            <a:endParaRPr lang="en-US" sz="1250" dirty="0"/>
          </a:p>
        </p:txBody>
      </p:sp>
      <p:sp>
        <p:nvSpPr>
          <p:cNvPr id="12" name="Text 9"/>
          <p:cNvSpPr/>
          <p:nvPr/>
        </p:nvSpPr>
        <p:spPr>
          <a:xfrm>
            <a:off x="685800" y="3246120"/>
            <a:ext cx="2880360" cy="1280160"/>
          </a:xfrm>
          <a:prstGeom prst="rect">
            <a:avLst/>
          </a:prstGeom>
          <a:noFill/>
          <a:ln/>
        </p:spPr>
        <p:txBody>
          <a:bodyPr wrap="square" rtlCol="0" anchor="t"/>
          <a:lstStyle/>
          <a:p>
            <a:pPr marL="0" indent="0">
              <a:buNone/>
            </a:pPr>
            <a:r>
              <a:rPr lang="en-US" sz="1100" dirty="0">
                <a:solidFill>
                  <a:srgbClr val="5B6670"/>
                </a:solidFill>
                <a:latin typeface="Calibri" pitchFamily="34" charset="0"/>
                <a:ea typeface="Calibri" pitchFamily="34" charset="-122"/>
                <a:cs typeface="Calibri" pitchFamily="34" charset="-120"/>
              </a:rPr>
              <a:t>Employees, groups, GPOs, on-prem apps authenticate via Kerberos/NTLM.</a:t>
            </a:r>
            <a:endParaRPr lang="en-US" sz="1100" dirty="0"/>
          </a:p>
        </p:txBody>
      </p:sp>
      <p:sp>
        <p:nvSpPr>
          <p:cNvPr id="13" name="Shape 10"/>
          <p:cNvSpPr/>
          <p:nvPr/>
        </p:nvSpPr>
        <p:spPr>
          <a:xfrm>
            <a:off x="3822192" y="2935224"/>
            <a:ext cx="502920" cy="164592"/>
          </a:xfrm>
          <a:prstGeom prst="rightArrow">
            <a:avLst/>
          </a:prstGeom>
          <a:solidFill>
            <a:srgbClr val="0E7C7B"/>
          </a:solidFill>
          <a:ln/>
        </p:spPr>
        <p:txBody>
          <a:bodyPr/>
          <a:lstStyle/>
          <a:p>
            <a:endParaRPr lang="en-US"/>
          </a:p>
        </p:txBody>
      </p:sp>
      <p:sp>
        <p:nvSpPr>
          <p:cNvPr id="14" name="Text 11"/>
          <p:cNvSpPr/>
          <p:nvPr/>
        </p:nvSpPr>
        <p:spPr>
          <a:xfrm>
            <a:off x="3703320" y="3246120"/>
            <a:ext cx="777240" cy="457200"/>
          </a:xfrm>
          <a:prstGeom prst="rect">
            <a:avLst/>
          </a:prstGeom>
          <a:noFill/>
          <a:ln/>
        </p:spPr>
        <p:txBody>
          <a:bodyPr wrap="square" rtlCol="0" anchor="ctr"/>
          <a:lstStyle/>
          <a:p>
            <a:pPr marL="0" indent="0" algn="ctr">
              <a:buNone/>
            </a:pPr>
            <a:r>
              <a:rPr lang="en-US" sz="850" b="1" dirty="0">
                <a:solidFill>
                  <a:srgbClr val="0A5F5E"/>
                </a:solidFill>
                <a:latin typeface="Calibri" pitchFamily="34" charset="0"/>
                <a:ea typeface="Calibri" pitchFamily="34" charset="-122"/>
                <a:cs typeface="Calibri" pitchFamily="34" charset="-120"/>
              </a:rPr>
              <a:t>Azure AD</a:t>
            </a:r>
            <a:endParaRPr lang="en-US" sz="850" dirty="0"/>
          </a:p>
          <a:p>
            <a:pPr marL="0" indent="0" algn="ctr">
              <a:buNone/>
            </a:pPr>
            <a:r>
              <a:rPr lang="en-US" sz="850" b="1" dirty="0">
                <a:solidFill>
                  <a:srgbClr val="0A5F5E"/>
                </a:solidFill>
                <a:latin typeface="Calibri" pitchFamily="34" charset="0"/>
                <a:ea typeface="Calibri" pitchFamily="34" charset="-122"/>
                <a:cs typeface="Calibri" pitchFamily="34" charset="-120"/>
              </a:rPr>
              <a:t>Connect (sync)</a:t>
            </a:r>
            <a:endParaRPr lang="en-US" sz="850" dirty="0"/>
          </a:p>
        </p:txBody>
      </p:sp>
      <p:sp>
        <p:nvSpPr>
          <p:cNvPr id="15" name="Shape 12"/>
          <p:cNvSpPr/>
          <p:nvPr/>
        </p:nvSpPr>
        <p:spPr>
          <a:xfrm>
            <a:off x="4370832" y="1874520"/>
            <a:ext cx="3246120" cy="2834640"/>
          </a:xfrm>
          <a:prstGeom prst="roundRect">
            <a:avLst>
              <a:gd name="adj" fmla="val 2258"/>
            </a:avLst>
          </a:prstGeom>
          <a:solidFill>
            <a:srgbClr val="E3F2F1"/>
          </a:solidFill>
          <a:ln w="12700">
            <a:solidFill>
              <a:srgbClr val="0E7C7B"/>
            </a:solidFill>
            <a:prstDash val="solid"/>
          </a:ln>
          <a:effectLst>
            <a:outerShdw blurRad="76200" dist="25400" dir="5400000" algn="bl" rotWithShape="0">
              <a:srgbClr val="8B939A">
                <a:alpha val="18000"/>
              </a:srgbClr>
            </a:outerShdw>
          </a:effectLst>
        </p:spPr>
        <p:txBody>
          <a:bodyPr/>
          <a:lstStyle/>
          <a:p>
            <a:endParaRPr lang="en-US"/>
          </a:p>
        </p:txBody>
      </p:sp>
      <p:sp>
        <p:nvSpPr>
          <p:cNvPr id="16" name="Text 13"/>
          <p:cNvSpPr/>
          <p:nvPr/>
        </p:nvSpPr>
        <p:spPr>
          <a:xfrm>
            <a:off x="4553712" y="2011680"/>
            <a:ext cx="2834640" cy="256032"/>
          </a:xfrm>
          <a:prstGeom prst="rect">
            <a:avLst/>
          </a:prstGeom>
          <a:noFill/>
          <a:ln/>
        </p:spPr>
        <p:txBody>
          <a:bodyPr wrap="square" rtlCol="0" anchor="ctr"/>
          <a:lstStyle/>
          <a:p>
            <a:pPr marL="0" indent="0">
              <a:buNone/>
            </a:pPr>
            <a:r>
              <a:rPr lang="en-US" sz="1100" b="1" kern="0" spc="100" dirty="0">
                <a:solidFill>
                  <a:srgbClr val="0A5F5E"/>
                </a:solidFill>
                <a:latin typeface="Calibri" pitchFamily="34" charset="0"/>
                <a:ea typeface="Calibri" pitchFamily="34" charset="-122"/>
                <a:cs typeface="Calibri" pitchFamily="34" charset="-120"/>
              </a:rPr>
              <a:t>CLOUD IDENTITY</a:t>
            </a:r>
            <a:endParaRPr lang="en-US" sz="1100" dirty="0"/>
          </a:p>
        </p:txBody>
      </p:sp>
      <p:sp>
        <p:nvSpPr>
          <p:cNvPr id="17" name="Shape 14"/>
          <p:cNvSpPr/>
          <p:nvPr/>
        </p:nvSpPr>
        <p:spPr>
          <a:xfrm>
            <a:off x="4736592" y="2377440"/>
            <a:ext cx="685800" cy="685800"/>
          </a:xfrm>
          <a:prstGeom prst="ellipse">
            <a:avLst/>
          </a:prstGeom>
          <a:solidFill>
            <a:srgbClr val="0E7C7B"/>
          </a:solidFill>
          <a:ln/>
        </p:spPr>
        <p:txBody>
          <a:bodyPr/>
          <a:lstStyle/>
          <a:p>
            <a:endParaRPr lang="en-US"/>
          </a:p>
        </p:txBody>
      </p:sp>
      <p:pic>
        <p:nvPicPr>
          <p:cNvPr id="18" name="Image 1" descr="/home/claude/deck/icons/cloud.png"/>
          <p:cNvPicPr>
            <a:picLocks noChangeAspect="1"/>
          </p:cNvPicPr>
          <p:nvPr/>
        </p:nvPicPr>
        <p:blipFill>
          <a:blip r:embed="rId4"/>
          <a:stretch>
            <a:fillRect/>
          </a:stretch>
        </p:blipFill>
        <p:spPr>
          <a:xfrm>
            <a:off x="4890897" y="2531745"/>
            <a:ext cx="377190" cy="377190"/>
          </a:xfrm>
          <a:prstGeom prst="rect">
            <a:avLst/>
          </a:prstGeom>
        </p:spPr>
      </p:pic>
      <p:sp>
        <p:nvSpPr>
          <p:cNvPr id="19" name="Text 15"/>
          <p:cNvSpPr/>
          <p:nvPr/>
        </p:nvSpPr>
        <p:spPr>
          <a:xfrm>
            <a:off x="5559552" y="2423160"/>
            <a:ext cx="1920240" cy="594360"/>
          </a:xfrm>
          <a:prstGeom prst="rect">
            <a:avLst/>
          </a:prstGeom>
          <a:noFill/>
          <a:ln/>
        </p:spPr>
        <p:txBody>
          <a:bodyPr wrap="square" rtlCol="0" anchor="ctr"/>
          <a:lstStyle/>
          <a:p>
            <a:pPr marL="0" indent="0">
              <a:buNone/>
            </a:pPr>
            <a:r>
              <a:rPr lang="en-US" sz="1250" b="1" dirty="0">
                <a:solidFill>
                  <a:srgbClr val="2B2D2F"/>
                </a:solidFill>
                <a:latin typeface="Calibri" pitchFamily="34" charset="0"/>
                <a:ea typeface="Calibri" pitchFamily="34" charset="-122"/>
                <a:cs typeface="Calibri" pitchFamily="34" charset="-120"/>
              </a:rPr>
              <a:t>Azure AD</a:t>
            </a:r>
            <a:endParaRPr lang="en-US" sz="1250" dirty="0"/>
          </a:p>
          <a:p>
            <a:pPr marL="0" indent="0">
              <a:buNone/>
            </a:pPr>
            <a:r>
              <a:rPr lang="en-US" sz="1250" b="1" dirty="0">
                <a:solidFill>
                  <a:srgbClr val="2B2D2F"/>
                </a:solidFill>
                <a:latin typeface="Calibri" pitchFamily="34" charset="0"/>
                <a:ea typeface="Calibri" pitchFamily="34" charset="-122"/>
                <a:cs typeface="Calibri" pitchFamily="34" charset="-120"/>
              </a:rPr>
              <a:t>(Microsoft Entra ID)</a:t>
            </a:r>
            <a:endParaRPr lang="en-US" sz="1250" dirty="0"/>
          </a:p>
        </p:txBody>
      </p:sp>
      <p:sp>
        <p:nvSpPr>
          <p:cNvPr id="20" name="Text 16"/>
          <p:cNvSpPr/>
          <p:nvPr/>
        </p:nvSpPr>
        <p:spPr>
          <a:xfrm>
            <a:off x="4553712" y="3246120"/>
            <a:ext cx="2880360" cy="1280160"/>
          </a:xfrm>
          <a:prstGeom prst="rect">
            <a:avLst/>
          </a:prstGeom>
          <a:noFill/>
          <a:ln/>
        </p:spPr>
        <p:txBody>
          <a:bodyPr wrap="square" rtlCol="0" anchor="t"/>
          <a:lstStyle/>
          <a:p>
            <a:pPr marL="0" indent="0">
              <a:buNone/>
            </a:pPr>
            <a:r>
              <a:rPr lang="en-US" sz="1100" dirty="0">
                <a:solidFill>
                  <a:srgbClr val="5B6670"/>
                </a:solidFill>
                <a:latin typeface="Calibri" pitchFamily="34" charset="0"/>
                <a:ea typeface="Calibri" pitchFamily="34" charset="-122"/>
                <a:cs typeface="Calibri" pitchFamily="34" charset="-120"/>
              </a:rPr>
              <a:t>Central cloud directory. Applies Conditional Access, MFA, and issues SSO tokens.</a:t>
            </a:r>
            <a:endParaRPr lang="en-US" sz="1100" dirty="0"/>
          </a:p>
        </p:txBody>
      </p:sp>
      <p:sp>
        <p:nvSpPr>
          <p:cNvPr id="21" name="Shape 17"/>
          <p:cNvSpPr/>
          <p:nvPr/>
        </p:nvSpPr>
        <p:spPr>
          <a:xfrm>
            <a:off x="7690104" y="2935224"/>
            <a:ext cx="457200" cy="164592"/>
          </a:xfrm>
          <a:prstGeom prst="rightArrow">
            <a:avLst/>
          </a:prstGeom>
          <a:solidFill>
            <a:srgbClr val="0E7C7B"/>
          </a:solidFill>
          <a:ln/>
        </p:spPr>
        <p:txBody>
          <a:bodyPr/>
          <a:lstStyle/>
          <a:p>
            <a:endParaRPr lang="en-US"/>
          </a:p>
        </p:txBody>
      </p:sp>
      <p:sp>
        <p:nvSpPr>
          <p:cNvPr id="22" name="Text 18"/>
          <p:cNvSpPr/>
          <p:nvPr/>
        </p:nvSpPr>
        <p:spPr>
          <a:xfrm>
            <a:off x="7607808" y="3246120"/>
            <a:ext cx="640080" cy="457200"/>
          </a:xfrm>
          <a:prstGeom prst="rect">
            <a:avLst/>
          </a:prstGeom>
          <a:noFill/>
          <a:ln/>
        </p:spPr>
        <p:txBody>
          <a:bodyPr wrap="square" rtlCol="0" anchor="ctr"/>
          <a:lstStyle/>
          <a:p>
            <a:pPr marL="0" indent="0" algn="ctr">
              <a:buNone/>
            </a:pPr>
            <a:r>
              <a:rPr lang="en-US" sz="850" b="1" dirty="0">
                <a:solidFill>
                  <a:srgbClr val="0A5F5E"/>
                </a:solidFill>
                <a:latin typeface="Calibri" pitchFamily="34" charset="0"/>
                <a:ea typeface="Calibri" pitchFamily="34" charset="-122"/>
                <a:cs typeface="Calibri" pitchFamily="34" charset="-120"/>
              </a:rPr>
              <a:t>SSO</a:t>
            </a:r>
            <a:endParaRPr lang="en-US" sz="850" dirty="0"/>
          </a:p>
          <a:p>
            <a:pPr marL="0" indent="0" algn="ctr">
              <a:buNone/>
            </a:pPr>
            <a:r>
              <a:rPr lang="en-US" sz="850" b="1" dirty="0">
                <a:solidFill>
                  <a:srgbClr val="0A5F5E"/>
                </a:solidFill>
                <a:latin typeface="Calibri" pitchFamily="34" charset="0"/>
                <a:ea typeface="Calibri" pitchFamily="34" charset="-122"/>
                <a:cs typeface="Calibri" pitchFamily="34" charset="-120"/>
              </a:rPr>
              <a:t>token</a:t>
            </a:r>
            <a:endParaRPr lang="en-US" sz="850" dirty="0"/>
          </a:p>
        </p:txBody>
      </p:sp>
      <p:sp>
        <p:nvSpPr>
          <p:cNvPr id="23" name="Shape 19"/>
          <p:cNvSpPr/>
          <p:nvPr/>
        </p:nvSpPr>
        <p:spPr>
          <a:xfrm>
            <a:off x="8211312" y="1874520"/>
            <a:ext cx="3474720" cy="2834640"/>
          </a:xfrm>
          <a:prstGeom prst="roundRect">
            <a:avLst>
              <a:gd name="adj" fmla="val 2258"/>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en-US"/>
          </a:p>
        </p:txBody>
      </p:sp>
      <p:sp>
        <p:nvSpPr>
          <p:cNvPr id="24" name="Text 20"/>
          <p:cNvSpPr/>
          <p:nvPr/>
        </p:nvSpPr>
        <p:spPr>
          <a:xfrm>
            <a:off x="8394192" y="2011680"/>
            <a:ext cx="3108960" cy="256032"/>
          </a:xfrm>
          <a:prstGeom prst="rect">
            <a:avLst/>
          </a:prstGeom>
          <a:noFill/>
          <a:ln/>
        </p:spPr>
        <p:txBody>
          <a:bodyPr wrap="square" rtlCol="0" anchor="ctr"/>
          <a:lstStyle/>
          <a:p>
            <a:pPr marL="0" indent="0">
              <a:buNone/>
            </a:pPr>
            <a:r>
              <a:rPr lang="en-US" sz="1100" b="1" kern="0" spc="100" dirty="0">
                <a:solidFill>
                  <a:srgbClr val="5B6670"/>
                </a:solidFill>
                <a:latin typeface="Calibri" pitchFamily="34" charset="0"/>
                <a:ea typeface="Calibri" pitchFamily="34" charset="-122"/>
                <a:cs typeface="Calibri" pitchFamily="34" charset="-120"/>
              </a:rPr>
              <a:t>FEDERATED SAAS APPS</a:t>
            </a:r>
            <a:endParaRPr lang="en-US" sz="1100" dirty="0"/>
          </a:p>
        </p:txBody>
      </p:sp>
      <p:sp>
        <p:nvSpPr>
          <p:cNvPr id="25" name="Shape 21"/>
          <p:cNvSpPr/>
          <p:nvPr/>
        </p:nvSpPr>
        <p:spPr>
          <a:xfrm>
            <a:off x="8394192" y="2377440"/>
            <a:ext cx="3108960" cy="457200"/>
          </a:xfrm>
          <a:prstGeom prst="roundRect">
            <a:avLst>
              <a:gd name="adj" fmla="val 12000"/>
            </a:avLst>
          </a:prstGeom>
          <a:solidFill>
            <a:srgbClr val="F5F6F6"/>
          </a:solidFill>
          <a:ln w="9525">
            <a:solidFill>
              <a:srgbClr val="DCE1E2"/>
            </a:solidFill>
            <a:prstDash val="solid"/>
          </a:ln>
        </p:spPr>
        <p:txBody>
          <a:bodyPr/>
          <a:lstStyle/>
          <a:p>
            <a:endParaRPr lang="en-US"/>
          </a:p>
        </p:txBody>
      </p:sp>
      <p:sp>
        <p:nvSpPr>
          <p:cNvPr id="26" name="Text 22"/>
          <p:cNvSpPr/>
          <p:nvPr/>
        </p:nvSpPr>
        <p:spPr>
          <a:xfrm>
            <a:off x="8558784" y="2377440"/>
            <a:ext cx="2834640" cy="457200"/>
          </a:xfrm>
          <a:prstGeom prst="rect">
            <a:avLst/>
          </a:prstGeom>
          <a:noFill/>
          <a:ln/>
        </p:spPr>
        <p:txBody>
          <a:bodyPr wrap="square" rtlCol="0" anchor="ctr"/>
          <a:lstStyle/>
          <a:p>
            <a:pPr marL="0" indent="0">
              <a:buNone/>
            </a:pPr>
            <a:r>
              <a:rPr lang="en-US" sz="1200" b="1" dirty="0">
                <a:solidFill>
                  <a:srgbClr val="2B2D2F"/>
                </a:solidFill>
                <a:latin typeface="Calibri" pitchFamily="34" charset="0"/>
                <a:ea typeface="Calibri" pitchFamily="34" charset="-122"/>
                <a:cs typeface="Calibri" pitchFamily="34" charset="-120"/>
              </a:rPr>
              <a:t>Microsoft 365</a:t>
            </a:r>
            <a:endParaRPr lang="en-US" sz="1200" dirty="0"/>
          </a:p>
        </p:txBody>
      </p:sp>
      <p:sp>
        <p:nvSpPr>
          <p:cNvPr id="27" name="Shape 23"/>
          <p:cNvSpPr/>
          <p:nvPr/>
        </p:nvSpPr>
        <p:spPr>
          <a:xfrm>
            <a:off x="8394192" y="2953512"/>
            <a:ext cx="3108960" cy="457200"/>
          </a:xfrm>
          <a:prstGeom prst="roundRect">
            <a:avLst>
              <a:gd name="adj" fmla="val 12000"/>
            </a:avLst>
          </a:prstGeom>
          <a:solidFill>
            <a:srgbClr val="F5F6F6"/>
          </a:solidFill>
          <a:ln w="9525">
            <a:solidFill>
              <a:srgbClr val="DCE1E2"/>
            </a:solidFill>
            <a:prstDash val="solid"/>
          </a:ln>
        </p:spPr>
        <p:txBody>
          <a:bodyPr/>
          <a:lstStyle/>
          <a:p>
            <a:endParaRPr lang="en-US"/>
          </a:p>
        </p:txBody>
      </p:sp>
      <p:sp>
        <p:nvSpPr>
          <p:cNvPr id="28" name="Text 24"/>
          <p:cNvSpPr/>
          <p:nvPr/>
        </p:nvSpPr>
        <p:spPr>
          <a:xfrm>
            <a:off x="8558784" y="2953512"/>
            <a:ext cx="2834640" cy="457200"/>
          </a:xfrm>
          <a:prstGeom prst="rect">
            <a:avLst/>
          </a:prstGeom>
          <a:noFill/>
          <a:ln/>
        </p:spPr>
        <p:txBody>
          <a:bodyPr wrap="square" rtlCol="0" anchor="ctr"/>
          <a:lstStyle/>
          <a:p>
            <a:pPr marL="0" indent="0">
              <a:buNone/>
            </a:pPr>
            <a:r>
              <a:rPr lang="en-US" sz="1200" b="1" dirty="0">
                <a:solidFill>
                  <a:srgbClr val="2B2D2F"/>
                </a:solidFill>
                <a:latin typeface="Calibri" pitchFamily="34" charset="0"/>
                <a:ea typeface="Calibri" pitchFamily="34" charset="-122"/>
                <a:cs typeface="Calibri" pitchFamily="34" charset="-120"/>
              </a:rPr>
              <a:t>Salesforce</a:t>
            </a:r>
            <a:endParaRPr lang="en-US" sz="1200" dirty="0"/>
          </a:p>
        </p:txBody>
      </p:sp>
      <p:sp>
        <p:nvSpPr>
          <p:cNvPr id="29" name="Shape 25"/>
          <p:cNvSpPr/>
          <p:nvPr/>
        </p:nvSpPr>
        <p:spPr>
          <a:xfrm>
            <a:off x="8394192" y="3529584"/>
            <a:ext cx="3108960" cy="457200"/>
          </a:xfrm>
          <a:prstGeom prst="roundRect">
            <a:avLst>
              <a:gd name="adj" fmla="val 12000"/>
            </a:avLst>
          </a:prstGeom>
          <a:solidFill>
            <a:srgbClr val="F5F6F6"/>
          </a:solidFill>
          <a:ln w="9525">
            <a:solidFill>
              <a:srgbClr val="DCE1E2"/>
            </a:solidFill>
            <a:prstDash val="solid"/>
          </a:ln>
        </p:spPr>
        <p:txBody>
          <a:bodyPr/>
          <a:lstStyle/>
          <a:p>
            <a:endParaRPr lang="en-US"/>
          </a:p>
        </p:txBody>
      </p:sp>
      <p:sp>
        <p:nvSpPr>
          <p:cNvPr id="30" name="Text 26"/>
          <p:cNvSpPr/>
          <p:nvPr/>
        </p:nvSpPr>
        <p:spPr>
          <a:xfrm>
            <a:off x="8558784" y="3529584"/>
            <a:ext cx="2834640" cy="457200"/>
          </a:xfrm>
          <a:prstGeom prst="rect">
            <a:avLst/>
          </a:prstGeom>
          <a:noFill/>
          <a:ln/>
        </p:spPr>
        <p:txBody>
          <a:bodyPr wrap="square" rtlCol="0" anchor="ctr"/>
          <a:lstStyle/>
          <a:p>
            <a:pPr marL="0" indent="0">
              <a:buNone/>
            </a:pPr>
            <a:r>
              <a:rPr lang="en-US" sz="1200" b="1" dirty="0">
                <a:solidFill>
                  <a:srgbClr val="2B2D2F"/>
                </a:solidFill>
                <a:latin typeface="Calibri" pitchFamily="34" charset="0"/>
                <a:ea typeface="Calibri" pitchFamily="34" charset="-122"/>
                <a:cs typeface="Calibri" pitchFamily="34" charset="-120"/>
              </a:rPr>
              <a:t>ServiceNow</a:t>
            </a:r>
            <a:endParaRPr lang="en-US" sz="1200" dirty="0"/>
          </a:p>
        </p:txBody>
      </p:sp>
      <p:sp>
        <p:nvSpPr>
          <p:cNvPr id="31" name="Shape 27"/>
          <p:cNvSpPr/>
          <p:nvPr/>
        </p:nvSpPr>
        <p:spPr>
          <a:xfrm>
            <a:off x="8394192" y="4105656"/>
            <a:ext cx="3108960" cy="457200"/>
          </a:xfrm>
          <a:prstGeom prst="roundRect">
            <a:avLst>
              <a:gd name="adj" fmla="val 12000"/>
            </a:avLst>
          </a:prstGeom>
          <a:solidFill>
            <a:srgbClr val="F5F6F6"/>
          </a:solidFill>
          <a:ln w="9525">
            <a:solidFill>
              <a:srgbClr val="DCE1E2"/>
            </a:solidFill>
            <a:prstDash val="solid"/>
          </a:ln>
        </p:spPr>
        <p:txBody>
          <a:bodyPr/>
          <a:lstStyle/>
          <a:p>
            <a:endParaRPr lang="en-US"/>
          </a:p>
        </p:txBody>
      </p:sp>
      <p:sp>
        <p:nvSpPr>
          <p:cNvPr id="32" name="Text 28"/>
          <p:cNvSpPr/>
          <p:nvPr/>
        </p:nvSpPr>
        <p:spPr>
          <a:xfrm>
            <a:off x="8558784" y="4105656"/>
            <a:ext cx="2834640" cy="457200"/>
          </a:xfrm>
          <a:prstGeom prst="rect">
            <a:avLst/>
          </a:prstGeom>
          <a:noFill/>
          <a:ln/>
        </p:spPr>
        <p:txBody>
          <a:bodyPr wrap="square" rtlCol="0" anchor="ctr"/>
          <a:lstStyle/>
          <a:p>
            <a:pPr marL="0" indent="0">
              <a:buNone/>
            </a:pPr>
            <a:r>
              <a:rPr lang="en-US" sz="1200" b="1" dirty="0">
                <a:solidFill>
                  <a:srgbClr val="2B2D2F"/>
                </a:solidFill>
                <a:latin typeface="Calibri" pitchFamily="34" charset="0"/>
                <a:ea typeface="Calibri" pitchFamily="34" charset="-122"/>
                <a:cs typeface="Calibri" pitchFamily="34" charset="-120"/>
              </a:rPr>
              <a:t>Workday</a:t>
            </a:r>
            <a:endParaRPr lang="en-US" sz="1200" dirty="0"/>
          </a:p>
        </p:txBody>
      </p:sp>
      <p:sp>
        <p:nvSpPr>
          <p:cNvPr id="33" name="Text 29"/>
          <p:cNvSpPr/>
          <p:nvPr/>
        </p:nvSpPr>
        <p:spPr>
          <a:xfrm>
            <a:off x="502920" y="4937760"/>
            <a:ext cx="11247120" cy="685800"/>
          </a:xfrm>
          <a:prstGeom prst="rect">
            <a:avLst/>
          </a:prstGeom>
          <a:noFill/>
          <a:ln/>
        </p:spPr>
        <p:txBody>
          <a:bodyPr wrap="square" rtlCol="0" anchor="t"/>
          <a:lstStyle/>
          <a:p>
            <a:pPr marL="0" indent="0">
              <a:lnSpc>
                <a:spcPts val="1700"/>
              </a:lnSpc>
              <a:buNone/>
            </a:pPr>
            <a:r>
              <a:rPr lang="en-US" sz="1250" b="1" dirty="0">
                <a:solidFill>
                  <a:srgbClr val="2B2D2F"/>
                </a:solidFill>
                <a:latin typeface="Calibri" pitchFamily="34" charset="0"/>
                <a:ea typeface="Calibri" pitchFamily="34" charset="-122"/>
                <a:cs typeface="Calibri" pitchFamily="34" charset="-120"/>
              </a:rPr>
              <a:t>Real enterprise pattern: </a:t>
            </a:r>
            <a:r>
              <a:rPr lang="en-US" sz="1250" dirty="0">
                <a:solidFill>
                  <a:srgbClr val="5B6670"/>
                </a:solidFill>
                <a:latin typeface="Calibri" pitchFamily="34" charset="0"/>
                <a:ea typeface="Calibri" pitchFamily="34" charset="-122"/>
                <a:cs typeface="Calibri" pitchFamily="34" charset="-120"/>
              </a:rPr>
              <a:t>Most large organizations run hybrid identity — Azure AD Connect syncs on-prem AD accounts to Azure AD, which then federates single sign-on to SaaS apps via SAML/OIDC and enforces Conditional Access (MFA, device compliance, risk-based sign-in).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9418320" y="-2377440"/>
            <a:ext cx="5943600" cy="5943600"/>
          </a:xfrm>
          <a:prstGeom prst="ellipse">
            <a:avLst/>
          </a:prstGeom>
          <a:solidFill>
            <a:srgbClr val="0E7C7B">
              <a:alpha val="15000"/>
            </a:srgbClr>
          </a:solidFill>
        </p:spPr>
        <p:txBody>
          <a:bodyPr/>
          <a:lstStyle/>
          <a:p>
            <a:endParaRPr lang="ar-EG"/>
          </a:p>
        </p:txBody>
      </p:sp>
      <p:sp>
        <p:nvSpPr>
          <p:cNvPr id="3" name="Shape 1"/>
          <p:cNvSpPr/>
          <p:nvPr/>
        </p:nvSpPr>
        <p:spPr>
          <a:xfrm>
            <a:off x="-1645920" y="4206240"/>
            <a:ext cx="4206240" cy="4206240"/>
          </a:xfrm>
          <a:prstGeom prst="ellipse">
            <a:avLst/>
          </a:prstGeom>
          <a:solidFill>
            <a:srgbClr val="E8871E">
              <a:alpha val="12000"/>
            </a:srgbClr>
          </a:solidFill>
        </p:spPr>
        <p:txBody>
          <a:bodyPr/>
          <a:lstStyle/>
          <a:p>
            <a:endParaRPr lang="ar-EG"/>
          </a:p>
        </p:txBody>
      </p:sp>
      <p:sp>
        <p:nvSpPr>
          <p:cNvPr id="4" name="Text 2"/>
          <p:cNvSpPr/>
          <p:nvPr/>
        </p:nvSpPr>
        <p:spPr>
          <a:xfrm>
            <a:off x="822960" y="2331720"/>
            <a:ext cx="5486400" cy="320040"/>
          </a:xfrm>
          <a:prstGeom prst="rect">
            <a:avLst/>
          </a:prstGeom>
          <a:noFill/>
        </p:spPr>
        <p:txBody>
          <a:bodyPr wrap="square" rtlCol="0" anchor="ctr"/>
          <a:lstStyle/>
          <a:p>
            <a:pPr marL="0" indent="0">
              <a:buNone/>
            </a:pPr>
            <a:r>
              <a:rPr lang="en-US" sz="1300" b="1" kern="0" spc="20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2 / 5</a:t>
            </a:r>
            <a:endParaRPr lang="en-US" sz="1300" dirty="0"/>
          </a:p>
        </p:txBody>
      </p:sp>
      <p:sp>
        <p:nvSpPr>
          <p:cNvPr id="5" name="Shape 3"/>
          <p:cNvSpPr/>
          <p:nvPr/>
        </p:nvSpPr>
        <p:spPr>
          <a:xfrm>
            <a:off x="8869680" y="2103120"/>
            <a:ext cx="1920240" cy="1920240"/>
          </a:xfrm>
          <a:prstGeom prst="ellipse">
            <a:avLst/>
          </a:prstGeom>
          <a:solidFill>
            <a:srgbClr val="34383A"/>
          </a:solidFill>
        </p:spPr>
        <p:txBody>
          <a:bodyPr/>
          <a:lstStyle/>
          <a:p>
            <a:endParaRPr lang="ar-EG"/>
          </a:p>
        </p:txBody>
      </p:sp>
      <p:pic>
        <p:nvPicPr>
          <p:cNvPr id="6" name="Image 0" descr="/home/claude/deck/icons/sitemap.png"/>
          <p:cNvPicPr>
            <a:picLocks noChangeAspect="1"/>
          </p:cNvPicPr>
          <p:nvPr/>
        </p:nvPicPr>
        <p:blipFill>
          <a:blip r:embed="rId3"/>
          <a:stretch>
            <a:fillRect/>
          </a:stretch>
        </p:blipFill>
        <p:spPr>
          <a:xfrm>
            <a:off x="9330538" y="2563978"/>
            <a:ext cx="998525" cy="998525"/>
          </a:xfrm>
          <a:prstGeom prst="rect">
            <a:avLst/>
          </a:prstGeom>
        </p:spPr>
      </p:pic>
      <p:sp>
        <p:nvSpPr>
          <p:cNvPr id="7" name="Text 4"/>
          <p:cNvSpPr/>
          <p:nvPr/>
        </p:nvSpPr>
        <p:spPr>
          <a:xfrm>
            <a:off x="804672" y="2697480"/>
            <a:ext cx="7680960" cy="1280160"/>
          </a:xfrm>
          <a:prstGeom prst="rect">
            <a:avLst/>
          </a:prstGeom>
          <a:noFill/>
        </p:spPr>
        <p:txBody>
          <a:bodyPr wrap="square" rtlCol="0" anchor="ctr"/>
          <a:lstStyle/>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IAM Core</a:t>
            </a:r>
            <a:endParaRPr lang="en-US" sz="4000" dirty="0"/>
          </a:p>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Components</a:t>
            </a:r>
            <a:endParaRPr lang="en-US" sz="4000" dirty="0"/>
          </a:p>
        </p:txBody>
      </p:sp>
      <p:sp>
        <p:nvSpPr>
          <p:cNvPr id="8" name="Text 5"/>
          <p:cNvSpPr/>
          <p:nvPr/>
        </p:nvSpPr>
        <p:spPr>
          <a:xfrm>
            <a:off x="822960" y="3886200"/>
            <a:ext cx="7498080" cy="731520"/>
          </a:xfrm>
          <a:prstGeom prst="rect">
            <a:avLst/>
          </a:prstGeom>
          <a:noFill/>
        </p:spPr>
        <p:txBody>
          <a:bodyPr wrap="square" rtlCol="0" anchor="ctr"/>
          <a:lstStyle/>
          <a:p>
            <a:pPr marL="0" indent="0">
              <a:lnSpc>
                <a:spcPts val="1900"/>
              </a:lnSpc>
              <a:buNone/>
            </a:pPr>
            <a:r>
              <a:rPr lang="en-US" sz="1450" i="1" dirty="0">
                <a:solidFill>
                  <a:srgbClr val="C9CFD1"/>
                </a:solidFill>
                <a:latin typeface="Calibri" panose="020F0502020204030204" pitchFamily="34" charset="0"/>
                <a:ea typeface="Calibri" panose="020F0502020204030204" pitchFamily="34" charset="-122"/>
                <a:cs typeface="Calibri" panose="020F0502020204030204" pitchFamily="34" charset="-120"/>
              </a:rPr>
              <a:t>Identity lifecycle, access control models, single sign-on, and the federation protocols that tie enterprise identity together.</a:t>
            </a:r>
            <a:endParaRPr lang="en-US" sz="1450" dirty="0"/>
          </a:p>
        </p:txBody>
      </p:sp>
      <p:sp>
        <p:nvSpPr>
          <p:cNvPr id="10" name="Text 7"/>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IAM COMPONENTS</a:t>
            </a:r>
            <a:endParaRPr lang="en-US" sz="900" dirty="0"/>
          </a:p>
        </p:txBody>
      </p:sp>
      <p:sp>
        <p:nvSpPr>
          <p:cNvPr id="11" name="Text 8"/>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IAM COMPONENTS</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2 · IAM COMPONENTS</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Identity Lifecycle — Joiner · Mover · Leaver</a:t>
            </a:r>
            <a:endParaRPr lang="en-US" sz="3000" dirty="0"/>
          </a:p>
        </p:txBody>
      </p:sp>
      <p:sp>
        <p:nvSpPr>
          <p:cNvPr id="7" name="Shape 5"/>
          <p:cNvSpPr/>
          <p:nvPr/>
        </p:nvSpPr>
        <p:spPr>
          <a:xfrm>
            <a:off x="502920" y="1508760"/>
            <a:ext cx="3520440" cy="3383280"/>
          </a:xfrm>
          <a:prstGeom prst="roundRect">
            <a:avLst>
              <a:gd name="adj" fmla="val 1892"/>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Shape 6"/>
          <p:cNvSpPr/>
          <p:nvPr/>
        </p:nvSpPr>
        <p:spPr>
          <a:xfrm>
            <a:off x="1851660" y="1783080"/>
            <a:ext cx="822960" cy="822960"/>
          </a:xfrm>
          <a:prstGeom prst="ellipse">
            <a:avLst/>
          </a:prstGeom>
          <a:solidFill>
            <a:srgbClr val="0E7C7B"/>
          </a:solidFill>
        </p:spPr>
        <p:txBody>
          <a:bodyPr/>
          <a:lstStyle/>
          <a:p>
            <a:endParaRPr lang="ar-EG"/>
          </a:p>
        </p:txBody>
      </p:sp>
      <p:pic>
        <p:nvPicPr>
          <p:cNvPr id="9" name="Image 0" descr="/home/claude/deck/icons/user_clock_teal.png"/>
          <p:cNvPicPr>
            <a:picLocks noChangeAspect="1"/>
          </p:cNvPicPr>
          <p:nvPr/>
        </p:nvPicPr>
        <p:blipFill>
          <a:blip r:embed="rId3"/>
          <a:stretch>
            <a:fillRect/>
          </a:stretch>
        </p:blipFill>
        <p:spPr>
          <a:xfrm>
            <a:off x="2036826" y="1968246"/>
            <a:ext cx="452628" cy="452628"/>
          </a:xfrm>
          <a:prstGeom prst="rect">
            <a:avLst/>
          </a:prstGeom>
        </p:spPr>
      </p:pic>
      <p:sp>
        <p:nvSpPr>
          <p:cNvPr id="10" name="Text 7"/>
          <p:cNvSpPr/>
          <p:nvPr/>
        </p:nvSpPr>
        <p:spPr>
          <a:xfrm>
            <a:off x="685800" y="2743200"/>
            <a:ext cx="3154680" cy="365760"/>
          </a:xfrm>
          <a:prstGeom prst="rect">
            <a:avLst/>
          </a:prstGeom>
          <a:noFill/>
        </p:spPr>
        <p:txBody>
          <a:bodyPr wrap="square" rtlCol="0" anchor="ctr"/>
          <a:lstStyle/>
          <a:p>
            <a:pPr marL="0" indent="0" algn="ctr">
              <a:buNone/>
            </a:pPr>
            <a:r>
              <a:rPr lang="en-US" sz="2000" b="1" dirty="0">
                <a:solidFill>
                  <a:srgbClr val="0A5F5E"/>
                </a:solidFill>
                <a:latin typeface="Cambria" panose="02040503050406030204" pitchFamily="34" charset="0"/>
                <a:ea typeface="Cambria" panose="02040503050406030204" pitchFamily="34" charset="-122"/>
                <a:cs typeface="Cambria" panose="02040503050406030204" pitchFamily="34" charset="-120"/>
              </a:rPr>
              <a:t>JOINER</a:t>
            </a:r>
            <a:endParaRPr lang="en-US" sz="2000" dirty="0"/>
          </a:p>
        </p:txBody>
      </p:sp>
      <p:sp>
        <p:nvSpPr>
          <p:cNvPr id="11" name="Text 8"/>
          <p:cNvSpPr/>
          <p:nvPr/>
        </p:nvSpPr>
        <p:spPr>
          <a:xfrm>
            <a:off x="685800" y="3136392"/>
            <a:ext cx="3154680" cy="32004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New hire onboarded</a:t>
            </a:r>
            <a:endParaRPr lang="en-US" sz="1200" dirty="0"/>
          </a:p>
        </p:txBody>
      </p:sp>
      <p:sp>
        <p:nvSpPr>
          <p:cNvPr id="12" name="Text 9"/>
          <p:cNvSpPr/>
          <p:nvPr/>
        </p:nvSpPr>
        <p:spPr>
          <a:xfrm>
            <a:off x="777240" y="3520440"/>
            <a:ext cx="2971800" cy="1234440"/>
          </a:xfrm>
          <a:prstGeom prst="rect">
            <a:avLst/>
          </a:prstGeom>
          <a:noFill/>
        </p:spPr>
        <p:txBody>
          <a:bodyPr wrap="square" rtlCol="0" anchor="t"/>
          <a:lstStyle/>
          <a:p>
            <a:pPr marL="0" indent="0" algn="ctr">
              <a:lnSpc>
                <a:spcPts val="15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HR system (e.g., Workday) triggers automated account creation, role assignment, and baseline access provisioning.</a:t>
            </a:r>
            <a:endParaRPr lang="en-US" sz="1150" dirty="0"/>
          </a:p>
        </p:txBody>
      </p:sp>
      <p:sp>
        <p:nvSpPr>
          <p:cNvPr id="13" name="Shape 10"/>
          <p:cNvSpPr/>
          <p:nvPr/>
        </p:nvSpPr>
        <p:spPr>
          <a:xfrm>
            <a:off x="4050792" y="3118104"/>
            <a:ext cx="265176" cy="164592"/>
          </a:xfrm>
          <a:prstGeom prst="rightArrow">
            <a:avLst/>
          </a:prstGeom>
          <a:solidFill>
            <a:srgbClr val="8B939A"/>
          </a:solidFill>
        </p:spPr>
        <p:txBody>
          <a:bodyPr/>
          <a:lstStyle/>
          <a:p>
            <a:endParaRPr lang="ar-EG"/>
          </a:p>
        </p:txBody>
      </p:sp>
      <p:sp>
        <p:nvSpPr>
          <p:cNvPr id="14" name="Shape 11"/>
          <p:cNvSpPr/>
          <p:nvPr/>
        </p:nvSpPr>
        <p:spPr>
          <a:xfrm>
            <a:off x="4343400" y="1508760"/>
            <a:ext cx="3520440" cy="3383280"/>
          </a:xfrm>
          <a:prstGeom prst="roundRect">
            <a:avLst>
              <a:gd name="adj" fmla="val 1892"/>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5" name="Shape 12"/>
          <p:cNvSpPr/>
          <p:nvPr/>
        </p:nvSpPr>
        <p:spPr>
          <a:xfrm>
            <a:off x="5692140" y="1783080"/>
            <a:ext cx="822960" cy="822960"/>
          </a:xfrm>
          <a:prstGeom prst="ellipse">
            <a:avLst/>
          </a:prstGeom>
          <a:solidFill>
            <a:srgbClr val="0E7C7B"/>
          </a:solidFill>
        </p:spPr>
        <p:txBody>
          <a:bodyPr/>
          <a:lstStyle/>
          <a:p>
            <a:endParaRPr lang="ar-EG"/>
          </a:p>
        </p:txBody>
      </p:sp>
      <p:pic>
        <p:nvPicPr>
          <p:cNvPr id="16" name="Image 1" descr="/home/claude/deck/icons/exchange_teal.png"/>
          <p:cNvPicPr>
            <a:picLocks noChangeAspect="1"/>
          </p:cNvPicPr>
          <p:nvPr/>
        </p:nvPicPr>
        <p:blipFill>
          <a:blip r:embed="rId4"/>
          <a:stretch>
            <a:fillRect/>
          </a:stretch>
        </p:blipFill>
        <p:spPr>
          <a:xfrm>
            <a:off x="5877306" y="1968246"/>
            <a:ext cx="452628" cy="452628"/>
          </a:xfrm>
          <a:prstGeom prst="rect">
            <a:avLst/>
          </a:prstGeom>
        </p:spPr>
      </p:pic>
      <p:sp>
        <p:nvSpPr>
          <p:cNvPr id="17" name="Text 13"/>
          <p:cNvSpPr/>
          <p:nvPr/>
        </p:nvSpPr>
        <p:spPr>
          <a:xfrm>
            <a:off x="4526280" y="2743200"/>
            <a:ext cx="3154680" cy="365760"/>
          </a:xfrm>
          <a:prstGeom prst="rect">
            <a:avLst/>
          </a:prstGeom>
          <a:noFill/>
        </p:spPr>
        <p:txBody>
          <a:bodyPr wrap="square" rtlCol="0" anchor="ctr"/>
          <a:lstStyle/>
          <a:p>
            <a:pPr marL="0" indent="0" algn="ctr">
              <a:buNone/>
            </a:pPr>
            <a:r>
              <a:rPr lang="en-US" sz="2000" b="1" dirty="0">
                <a:solidFill>
                  <a:srgbClr val="0A5F5E"/>
                </a:solidFill>
                <a:latin typeface="Cambria" panose="02040503050406030204" pitchFamily="34" charset="0"/>
                <a:ea typeface="Cambria" panose="02040503050406030204" pitchFamily="34" charset="-122"/>
                <a:cs typeface="Cambria" panose="02040503050406030204" pitchFamily="34" charset="-120"/>
              </a:rPr>
              <a:t>MOVER</a:t>
            </a:r>
            <a:endParaRPr lang="en-US" sz="2000" dirty="0"/>
          </a:p>
        </p:txBody>
      </p:sp>
      <p:sp>
        <p:nvSpPr>
          <p:cNvPr id="18" name="Text 14"/>
          <p:cNvSpPr/>
          <p:nvPr/>
        </p:nvSpPr>
        <p:spPr>
          <a:xfrm>
            <a:off x="4526280" y="3136392"/>
            <a:ext cx="3154680" cy="32004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Role or department change</a:t>
            </a:r>
            <a:endParaRPr lang="en-US" sz="1200" dirty="0"/>
          </a:p>
        </p:txBody>
      </p:sp>
      <p:sp>
        <p:nvSpPr>
          <p:cNvPr id="19" name="Text 15"/>
          <p:cNvSpPr/>
          <p:nvPr/>
        </p:nvSpPr>
        <p:spPr>
          <a:xfrm>
            <a:off x="4617720" y="3520440"/>
            <a:ext cx="2971800" cy="1234440"/>
          </a:xfrm>
          <a:prstGeom prst="rect">
            <a:avLst/>
          </a:prstGeom>
          <a:noFill/>
        </p:spPr>
        <p:txBody>
          <a:bodyPr wrap="square" rtlCol="0" anchor="t"/>
          <a:lstStyle/>
          <a:p>
            <a:pPr marL="0" indent="0" algn="ctr">
              <a:lnSpc>
                <a:spcPts val="15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Access is re-certified: old entitlements revoked, new role-based access granted automatically via IGA policy.</a:t>
            </a:r>
            <a:endParaRPr lang="en-US" sz="1150" dirty="0"/>
          </a:p>
        </p:txBody>
      </p:sp>
      <p:sp>
        <p:nvSpPr>
          <p:cNvPr id="20" name="Shape 16"/>
          <p:cNvSpPr/>
          <p:nvPr/>
        </p:nvSpPr>
        <p:spPr>
          <a:xfrm>
            <a:off x="7891272" y="3118104"/>
            <a:ext cx="265176" cy="164592"/>
          </a:xfrm>
          <a:prstGeom prst="rightArrow">
            <a:avLst/>
          </a:prstGeom>
          <a:solidFill>
            <a:srgbClr val="8B939A"/>
          </a:solidFill>
        </p:spPr>
        <p:txBody>
          <a:bodyPr/>
          <a:lstStyle/>
          <a:p>
            <a:endParaRPr lang="ar-EG"/>
          </a:p>
        </p:txBody>
      </p:sp>
      <p:sp>
        <p:nvSpPr>
          <p:cNvPr id="21" name="Shape 17"/>
          <p:cNvSpPr/>
          <p:nvPr/>
        </p:nvSpPr>
        <p:spPr>
          <a:xfrm>
            <a:off x="8183880" y="1508760"/>
            <a:ext cx="3520440" cy="3383280"/>
          </a:xfrm>
          <a:prstGeom prst="roundRect">
            <a:avLst>
              <a:gd name="adj" fmla="val 1892"/>
            </a:avLst>
          </a:prstGeom>
          <a:solidFill>
            <a:srgbClr val="FCEDDC"/>
          </a:solidFill>
          <a:ln w="12700">
            <a:solidFill>
              <a:srgbClr val="E8871E"/>
            </a:solidFill>
            <a:prstDash val="solid"/>
          </a:ln>
          <a:effectLst>
            <a:outerShdw blurRad="76200" dist="25400" dir="5400000" algn="bl" rotWithShape="0">
              <a:srgbClr val="8B939A">
                <a:alpha val="18000"/>
              </a:srgbClr>
            </a:outerShdw>
          </a:effectLst>
        </p:spPr>
        <p:txBody>
          <a:bodyPr/>
          <a:lstStyle/>
          <a:p>
            <a:endParaRPr lang="ar-EG"/>
          </a:p>
        </p:txBody>
      </p:sp>
      <p:sp>
        <p:nvSpPr>
          <p:cNvPr id="22" name="Shape 18"/>
          <p:cNvSpPr/>
          <p:nvPr/>
        </p:nvSpPr>
        <p:spPr>
          <a:xfrm>
            <a:off x="9532620" y="1783080"/>
            <a:ext cx="822960" cy="822960"/>
          </a:xfrm>
          <a:prstGeom prst="ellipse">
            <a:avLst/>
          </a:prstGeom>
          <a:solidFill>
            <a:srgbClr val="E8871E"/>
          </a:solidFill>
        </p:spPr>
        <p:txBody>
          <a:bodyPr/>
          <a:lstStyle/>
          <a:p>
            <a:endParaRPr lang="ar-EG"/>
          </a:p>
        </p:txBody>
      </p:sp>
      <p:pic>
        <p:nvPicPr>
          <p:cNvPr id="23" name="Image 2" descr="/home/claude/deck/icons/user_secret.png"/>
          <p:cNvPicPr>
            <a:picLocks noChangeAspect="1"/>
          </p:cNvPicPr>
          <p:nvPr/>
        </p:nvPicPr>
        <p:blipFill>
          <a:blip r:embed="rId5"/>
          <a:stretch>
            <a:fillRect/>
          </a:stretch>
        </p:blipFill>
        <p:spPr>
          <a:xfrm>
            <a:off x="9717786" y="1968246"/>
            <a:ext cx="452628" cy="452628"/>
          </a:xfrm>
          <a:prstGeom prst="rect">
            <a:avLst/>
          </a:prstGeom>
        </p:spPr>
      </p:pic>
      <p:sp>
        <p:nvSpPr>
          <p:cNvPr id="24" name="Text 19"/>
          <p:cNvSpPr/>
          <p:nvPr/>
        </p:nvSpPr>
        <p:spPr>
          <a:xfrm>
            <a:off x="8366760" y="2743200"/>
            <a:ext cx="3154680" cy="365760"/>
          </a:xfrm>
          <a:prstGeom prst="rect">
            <a:avLst/>
          </a:prstGeom>
          <a:noFill/>
        </p:spPr>
        <p:txBody>
          <a:bodyPr wrap="square" rtlCol="0" anchor="ctr"/>
          <a:lstStyle/>
          <a:p>
            <a:pPr marL="0" indent="0" algn="ctr">
              <a:buNone/>
            </a:pPr>
            <a:r>
              <a:rPr lang="en-US" sz="2000" b="1" dirty="0">
                <a:solidFill>
                  <a:srgbClr val="8A4A0F"/>
                </a:solidFill>
                <a:latin typeface="Cambria" panose="02040503050406030204" pitchFamily="34" charset="0"/>
                <a:ea typeface="Cambria" panose="02040503050406030204" pitchFamily="34" charset="-122"/>
                <a:cs typeface="Cambria" panose="02040503050406030204" pitchFamily="34" charset="-120"/>
              </a:rPr>
              <a:t>LEAVER</a:t>
            </a:r>
            <a:endParaRPr lang="en-US" sz="2000" dirty="0"/>
          </a:p>
        </p:txBody>
      </p:sp>
      <p:sp>
        <p:nvSpPr>
          <p:cNvPr id="25" name="Text 20"/>
          <p:cNvSpPr/>
          <p:nvPr/>
        </p:nvSpPr>
        <p:spPr>
          <a:xfrm>
            <a:off x="8366760" y="3136392"/>
            <a:ext cx="3154680" cy="32004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Employee departs</a:t>
            </a:r>
            <a:endParaRPr lang="en-US" sz="1200" dirty="0"/>
          </a:p>
        </p:txBody>
      </p:sp>
      <p:sp>
        <p:nvSpPr>
          <p:cNvPr id="26" name="Text 21"/>
          <p:cNvSpPr/>
          <p:nvPr/>
        </p:nvSpPr>
        <p:spPr>
          <a:xfrm>
            <a:off x="8458200" y="3520440"/>
            <a:ext cx="2971800" cy="1234440"/>
          </a:xfrm>
          <a:prstGeom prst="rect">
            <a:avLst/>
          </a:prstGeom>
          <a:noFill/>
        </p:spPr>
        <p:txBody>
          <a:bodyPr wrap="square" rtlCol="0" anchor="t"/>
          <a:lstStyle/>
          <a:p>
            <a:pPr marL="0" indent="0" algn="ctr">
              <a:lnSpc>
                <a:spcPts val="15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Immediate de-provisioning: accounts disabled, sessions revoked, credentials rotated across all connected systems.</a:t>
            </a:r>
            <a:endParaRPr lang="en-US" sz="1150" dirty="0"/>
          </a:p>
        </p:txBody>
      </p:sp>
      <p:sp>
        <p:nvSpPr>
          <p:cNvPr id="27" name="Text 22"/>
          <p:cNvSpPr/>
          <p:nvPr/>
        </p:nvSpPr>
        <p:spPr>
          <a:xfrm>
            <a:off x="502920" y="5120640"/>
            <a:ext cx="11247120" cy="777240"/>
          </a:xfrm>
          <a:prstGeom prst="rect">
            <a:avLst/>
          </a:prstGeom>
          <a:noFill/>
        </p:spPr>
        <p:txBody>
          <a:bodyPr wrap="square" rtlCol="0" anchor="t"/>
          <a:lstStyle/>
          <a:p>
            <a:pPr marL="0" indent="0">
              <a:lnSpc>
                <a:spcPts val="1700"/>
              </a:lnSpc>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Enterprise practice: </a:t>
            </a:r>
            <a:r>
              <a:rPr lang="en-US" sz="1250" dirty="0">
                <a:solidFill>
                  <a:srgbClr val="5B6670"/>
                </a:solidFill>
                <a:latin typeface="Calibri" panose="020F0502020204030204" pitchFamily="34" charset="0"/>
                <a:ea typeface="Calibri" panose="020F0502020204030204" pitchFamily="34" charset="-122"/>
                <a:cs typeface="Calibri" panose="020F0502020204030204" pitchFamily="34" charset="-120"/>
              </a:rPr>
              <a:t>Identity Governance &amp; Administration (IGA) platforms (SailPoint, Saviynt, Microsoft Entra ID Governance) automate this lifecycle, run periodic access certifications, and flag “orphaned” accounts before they become an attack surface.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IAM COMPONENTS</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2 · ACCESS CONTROL MODELS</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RBAC vs. ABAC</a:t>
            </a:r>
            <a:endParaRPr lang="en-US" sz="3000" dirty="0"/>
          </a:p>
        </p:txBody>
      </p:sp>
      <p:sp>
        <p:nvSpPr>
          <p:cNvPr id="7" name="Shape 5"/>
          <p:cNvSpPr/>
          <p:nvPr/>
        </p:nvSpPr>
        <p:spPr>
          <a:xfrm>
            <a:off x="502920" y="1508760"/>
            <a:ext cx="2926080" cy="548640"/>
          </a:xfrm>
          <a:prstGeom prst="rect">
            <a:avLst/>
          </a:prstGeom>
          <a:solidFill>
            <a:srgbClr val="2B2D2F"/>
          </a:solidFill>
        </p:spPr>
        <p:txBody>
          <a:bodyPr/>
          <a:lstStyle/>
          <a:p>
            <a:endParaRPr lang="ar-EG"/>
          </a:p>
        </p:txBody>
      </p:sp>
      <p:sp>
        <p:nvSpPr>
          <p:cNvPr id="8" name="Text 6"/>
          <p:cNvSpPr/>
          <p:nvPr/>
        </p:nvSpPr>
        <p:spPr>
          <a:xfrm>
            <a:off x="640080" y="1508760"/>
            <a:ext cx="2651760" cy="548640"/>
          </a:xfrm>
          <a:prstGeom prst="rect">
            <a:avLst/>
          </a:prstGeom>
          <a:noFill/>
        </p:spPr>
        <p:txBody>
          <a:bodyPr wrap="square" rtlCol="0" anchor="ctr"/>
          <a:lstStyle/>
          <a:p>
            <a:pPr marL="0" indent="0">
              <a:buNone/>
            </a:pPr>
            <a:endParaRPr lang="en-US" sz="1350" dirty="0"/>
          </a:p>
        </p:txBody>
      </p:sp>
      <p:sp>
        <p:nvSpPr>
          <p:cNvPr id="9" name="Shape 7"/>
          <p:cNvSpPr/>
          <p:nvPr/>
        </p:nvSpPr>
        <p:spPr>
          <a:xfrm>
            <a:off x="3429000" y="1508760"/>
            <a:ext cx="4160520" cy="548640"/>
          </a:xfrm>
          <a:prstGeom prst="rect">
            <a:avLst/>
          </a:prstGeom>
          <a:solidFill>
            <a:srgbClr val="0E7C7B"/>
          </a:solidFill>
        </p:spPr>
        <p:txBody>
          <a:bodyPr/>
          <a:lstStyle/>
          <a:p>
            <a:endParaRPr lang="ar-EG"/>
          </a:p>
        </p:txBody>
      </p:sp>
      <p:sp>
        <p:nvSpPr>
          <p:cNvPr id="10" name="Text 8"/>
          <p:cNvSpPr/>
          <p:nvPr/>
        </p:nvSpPr>
        <p:spPr>
          <a:xfrm>
            <a:off x="3566160" y="1508760"/>
            <a:ext cx="3886200" cy="548640"/>
          </a:xfrm>
          <a:prstGeom prst="rect">
            <a:avLst/>
          </a:prstGeom>
          <a:noFill/>
        </p:spPr>
        <p:txBody>
          <a:bodyPr wrap="square"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RBAC — Role-Based</a:t>
            </a:r>
            <a:endParaRPr lang="en-US" sz="1350" dirty="0"/>
          </a:p>
        </p:txBody>
      </p:sp>
      <p:sp>
        <p:nvSpPr>
          <p:cNvPr id="11" name="Shape 9"/>
          <p:cNvSpPr/>
          <p:nvPr/>
        </p:nvSpPr>
        <p:spPr>
          <a:xfrm>
            <a:off x="7589520" y="1508760"/>
            <a:ext cx="4160520" cy="548640"/>
          </a:xfrm>
          <a:prstGeom prst="rect">
            <a:avLst/>
          </a:prstGeom>
          <a:solidFill>
            <a:srgbClr val="E8871E"/>
          </a:solidFill>
        </p:spPr>
        <p:txBody>
          <a:bodyPr/>
          <a:lstStyle/>
          <a:p>
            <a:endParaRPr lang="ar-EG"/>
          </a:p>
        </p:txBody>
      </p:sp>
      <p:sp>
        <p:nvSpPr>
          <p:cNvPr id="12" name="Text 10"/>
          <p:cNvSpPr/>
          <p:nvPr/>
        </p:nvSpPr>
        <p:spPr>
          <a:xfrm>
            <a:off x="7726680" y="1508760"/>
            <a:ext cx="3886200" cy="548640"/>
          </a:xfrm>
          <a:prstGeom prst="rect">
            <a:avLst/>
          </a:prstGeom>
          <a:noFill/>
        </p:spPr>
        <p:txBody>
          <a:bodyPr wrap="square" rtlCol="0" anchor="ct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ABAC — Attribute-Based</a:t>
            </a:r>
            <a:endParaRPr lang="en-US" sz="1350" dirty="0"/>
          </a:p>
        </p:txBody>
      </p:sp>
      <p:sp>
        <p:nvSpPr>
          <p:cNvPr id="13" name="Shape 11"/>
          <p:cNvSpPr/>
          <p:nvPr/>
        </p:nvSpPr>
        <p:spPr>
          <a:xfrm>
            <a:off x="502920" y="2057400"/>
            <a:ext cx="2926080" cy="658368"/>
          </a:xfrm>
          <a:prstGeom prst="rect">
            <a:avLst/>
          </a:prstGeom>
          <a:solidFill>
            <a:srgbClr val="FFFFFF"/>
          </a:solidFill>
          <a:ln w="9525">
            <a:solidFill>
              <a:srgbClr val="DCE1E2"/>
            </a:solidFill>
            <a:prstDash val="solid"/>
          </a:ln>
        </p:spPr>
        <p:txBody>
          <a:bodyPr/>
          <a:lstStyle/>
          <a:p>
            <a:endParaRPr lang="ar-EG"/>
          </a:p>
        </p:txBody>
      </p:sp>
      <p:sp>
        <p:nvSpPr>
          <p:cNvPr id="14" name="Text 12"/>
          <p:cNvSpPr/>
          <p:nvPr/>
        </p:nvSpPr>
        <p:spPr>
          <a:xfrm>
            <a:off x="640080" y="2057400"/>
            <a:ext cx="2651760" cy="658368"/>
          </a:xfrm>
          <a:prstGeom prst="rect">
            <a:avLst/>
          </a:prstGeom>
          <a:noFill/>
        </p:spPr>
        <p:txBody>
          <a:bodyPr wrap="square" rtlCol="0" anchor="ctr"/>
          <a:lstStyle/>
          <a:p>
            <a:pPr marL="0" indent="0">
              <a:lnSpc>
                <a:spcPts val="1300"/>
              </a:lnSpc>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Basis of access</a:t>
            </a:r>
            <a:endParaRPr lang="en-US" sz="1150" dirty="0"/>
          </a:p>
        </p:txBody>
      </p:sp>
      <p:sp>
        <p:nvSpPr>
          <p:cNvPr id="15" name="Shape 13"/>
          <p:cNvSpPr/>
          <p:nvPr/>
        </p:nvSpPr>
        <p:spPr>
          <a:xfrm>
            <a:off x="3429000" y="2057400"/>
            <a:ext cx="4160520" cy="658368"/>
          </a:xfrm>
          <a:prstGeom prst="rect">
            <a:avLst/>
          </a:prstGeom>
          <a:solidFill>
            <a:srgbClr val="FFFFFF"/>
          </a:solidFill>
          <a:ln w="9525">
            <a:solidFill>
              <a:srgbClr val="DCE1E2"/>
            </a:solidFill>
            <a:prstDash val="solid"/>
          </a:ln>
        </p:spPr>
        <p:txBody>
          <a:bodyPr/>
          <a:lstStyle/>
          <a:p>
            <a:endParaRPr lang="ar-EG"/>
          </a:p>
        </p:txBody>
      </p:sp>
      <p:sp>
        <p:nvSpPr>
          <p:cNvPr id="16" name="Text 14"/>
          <p:cNvSpPr/>
          <p:nvPr/>
        </p:nvSpPr>
        <p:spPr>
          <a:xfrm>
            <a:off x="3566160" y="2057400"/>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Predefined roles (e.g., “Finance anlysis”)</a:t>
            </a:r>
            <a:endParaRPr lang="en-US" sz="1150" dirty="0"/>
          </a:p>
        </p:txBody>
      </p:sp>
      <p:sp>
        <p:nvSpPr>
          <p:cNvPr id="17" name="Shape 15"/>
          <p:cNvSpPr/>
          <p:nvPr/>
        </p:nvSpPr>
        <p:spPr>
          <a:xfrm>
            <a:off x="7589520" y="2057400"/>
            <a:ext cx="4160520" cy="658368"/>
          </a:xfrm>
          <a:prstGeom prst="rect">
            <a:avLst/>
          </a:prstGeom>
          <a:solidFill>
            <a:srgbClr val="FFFFFF"/>
          </a:solidFill>
          <a:ln w="9525">
            <a:solidFill>
              <a:srgbClr val="DCE1E2"/>
            </a:solidFill>
            <a:prstDash val="solid"/>
          </a:ln>
        </p:spPr>
        <p:txBody>
          <a:bodyPr/>
          <a:lstStyle/>
          <a:p>
            <a:endParaRPr lang="ar-EG"/>
          </a:p>
        </p:txBody>
      </p:sp>
      <p:sp>
        <p:nvSpPr>
          <p:cNvPr id="18" name="Text 16"/>
          <p:cNvSpPr/>
          <p:nvPr/>
        </p:nvSpPr>
        <p:spPr>
          <a:xfrm>
            <a:off x="7726680" y="2057400"/>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Attributes: user, resource, environment, action</a:t>
            </a:r>
            <a:endParaRPr lang="en-US" sz="1150" dirty="0"/>
          </a:p>
        </p:txBody>
      </p:sp>
      <p:sp>
        <p:nvSpPr>
          <p:cNvPr id="19" name="Shape 17"/>
          <p:cNvSpPr/>
          <p:nvPr/>
        </p:nvSpPr>
        <p:spPr>
          <a:xfrm>
            <a:off x="502920" y="2715768"/>
            <a:ext cx="2926080" cy="658368"/>
          </a:xfrm>
          <a:prstGeom prst="rect">
            <a:avLst/>
          </a:prstGeom>
          <a:solidFill>
            <a:srgbClr val="F5F6F6"/>
          </a:solidFill>
          <a:ln w="9525">
            <a:solidFill>
              <a:srgbClr val="DCE1E2"/>
            </a:solidFill>
            <a:prstDash val="solid"/>
          </a:ln>
        </p:spPr>
        <p:txBody>
          <a:bodyPr/>
          <a:lstStyle/>
          <a:p>
            <a:endParaRPr lang="ar-EG"/>
          </a:p>
        </p:txBody>
      </p:sp>
      <p:sp>
        <p:nvSpPr>
          <p:cNvPr id="20" name="Text 18"/>
          <p:cNvSpPr/>
          <p:nvPr/>
        </p:nvSpPr>
        <p:spPr>
          <a:xfrm>
            <a:off x="640080" y="2715768"/>
            <a:ext cx="2651760" cy="658368"/>
          </a:xfrm>
          <a:prstGeom prst="rect">
            <a:avLst/>
          </a:prstGeom>
          <a:noFill/>
        </p:spPr>
        <p:txBody>
          <a:bodyPr wrap="square" rtlCol="0" anchor="ctr"/>
          <a:lstStyle/>
          <a:p>
            <a:pPr marL="0" indent="0">
              <a:lnSpc>
                <a:spcPts val="1300"/>
              </a:lnSpc>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Example rule</a:t>
            </a:r>
            <a:endParaRPr lang="en-US" sz="1150" dirty="0"/>
          </a:p>
        </p:txBody>
      </p:sp>
      <p:sp>
        <p:nvSpPr>
          <p:cNvPr id="21" name="Shape 19"/>
          <p:cNvSpPr/>
          <p:nvPr/>
        </p:nvSpPr>
        <p:spPr>
          <a:xfrm>
            <a:off x="3429000" y="2715768"/>
            <a:ext cx="4160520" cy="658368"/>
          </a:xfrm>
          <a:prstGeom prst="rect">
            <a:avLst/>
          </a:prstGeom>
          <a:solidFill>
            <a:srgbClr val="F5F6F6"/>
          </a:solidFill>
          <a:ln w="9525">
            <a:solidFill>
              <a:srgbClr val="DCE1E2"/>
            </a:solidFill>
            <a:prstDash val="solid"/>
          </a:ln>
        </p:spPr>
        <p:txBody>
          <a:bodyPr/>
          <a:lstStyle/>
          <a:p>
            <a:endParaRPr lang="ar-EG"/>
          </a:p>
        </p:txBody>
      </p:sp>
      <p:sp>
        <p:nvSpPr>
          <p:cNvPr id="22" name="Text 20"/>
          <p:cNvSpPr/>
          <p:nvPr/>
        </p:nvSpPr>
        <p:spPr>
          <a:xfrm>
            <a:off x="3566160" y="2715768"/>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Role = Finance analysis→ </a:t>
            </a: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sym typeface="+mn-ea"/>
              </a:rPr>
              <a:t>access to finance  application</a:t>
            </a:r>
            <a:endParaRPr lang="en-US" sz="1150" dirty="0"/>
          </a:p>
        </p:txBody>
      </p:sp>
      <p:sp>
        <p:nvSpPr>
          <p:cNvPr id="23" name="Shape 21"/>
          <p:cNvSpPr/>
          <p:nvPr/>
        </p:nvSpPr>
        <p:spPr>
          <a:xfrm>
            <a:off x="7589520" y="2715768"/>
            <a:ext cx="4160520" cy="658368"/>
          </a:xfrm>
          <a:prstGeom prst="rect">
            <a:avLst/>
          </a:prstGeom>
          <a:solidFill>
            <a:srgbClr val="F5F6F6"/>
          </a:solidFill>
          <a:ln w="9525">
            <a:solidFill>
              <a:srgbClr val="DCE1E2"/>
            </a:solidFill>
            <a:prstDash val="solid"/>
          </a:ln>
        </p:spPr>
        <p:txBody>
          <a:bodyPr/>
          <a:lstStyle/>
          <a:p>
            <a:endParaRPr lang="ar-EG"/>
          </a:p>
        </p:txBody>
      </p:sp>
      <p:sp>
        <p:nvSpPr>
          <p:cNvPr id="24" name="Text 22"/>
          <p:cNvSpPr/>
          <p:nvPr/>
        </p:nvSpPr>
        <p:spPr>
          <a:xfrm>
            <a:off x="7726680" y="2715768"/>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Dept = Finance AND Clearance ≥ L3 AND Location = US</a:t>
            </a:r>
            <a:endParaRPr lang="en-US" sz="1150" dirty="0"/>
          </a:p>
        </p:txBody>
      </p:sp>
      <p:sp>
        <p:nvSpPr>
          <p:cNvPr id="25" name="Shape 23"/>
          <p:cNvSpPr/>
          <p:nvPr/>
        </p:nvSpPr>
        <p:spPr>
          <a:xfrm>
            <a:off x="502920" y="3374136"/>
            <a:ext cx="2926080" cy="658368"/>
          </a:xfrm>
          <a:prstGeom prst="rect">
            <a:avLst/>
          </a:prstGeom>
          <a:solidFill>
            <a:srgbClr val="FFFFFF"/>
          </a:solidFill>
          <a:ln w="9525">
            <a:solidFill>
              <a:srgbClr val="DCE1E2"/>
            </a:solidFill>
            <a:prstDash val="solid"/>
          </a:ln>
        </p:spPr>
        <p:txBody>
          <a:bodyPr/>
          <a:lstStyle/>
          <a:p>
            <a:endParaRPr lang="ar-EG"/>
          </a:p>
        </p:txBody>
      </p:sp>
      <p:sp>
        <p:nvSpPr>
          <p:cNvPr id="26" name="Text 24"/>
          <p:cNvSpPr/>
          <p:nvPr/>
        </p:nvSpPr>
        <p:spPr>
          <a:xfrm>
            <a:off x="640080" y="3374136"/>
            <a:ext cx="2651760" cy="658368"/>
          </a:xfrm>
          <a:prstGeom prst="rect">
            <a:avLst/>
          </a:prstGeom>
          <a:noFill/>
        </p:spPr>
        <p:txBody>
          <a:bodyPr wrap="square" rtlCol="0" anchor="ctr"/>
          <a:lstStyle/>
          <a:p>
            <a:pPr marL="0" indent="0">
              <a:lnSpc>
                <a:spcPts val="1300"/>
              </a:lnSpc>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Flexibility</a:t>
            </a:r>
            <a:endParaRPr lang="en-US" sz="1150" dirty="0"/>
          </a:p>
        </p:txBody>
      </p:sp>
      <p:sp>
        <p:nvSpPr>
          <p:cNvPr id="27" name="Shape 25"/>
          <p:cNvSpPr/>
          <p:nvPr/>
        </p:nvSpPr>
        <p:spPr>
          <a:xfrm>
            <a:off x="3429000" y="3374136"/>
            <a:ext cx="4160520" cy="658368"/>
          </a:xfrm>
          <a:prstGeom prst="rect">
            <a:avLst/>
          </a:prstGeom>
          <a:solidFill>
            <a:srgbClr val="FFFFFF"/>
          </a:solidFill>
          <a:ln w="9525">
            <a:solidFill>
              <a:srgbClr val="DCE1E2"/>
            </a:solidFill>
            <a:prstDash val="solid"/>
          </a:ln>
        </p:spPr>
        <p:txBody>
          <a:bodyPr/>
          <a:lstStyle/>
          <a:p>
            <a:endParaRPr lang="ar-EG"/>
          </a:p>
        </p:txBody>
      </p:sp>
      <p:sp>
        <p:nvSpPr>
          <p:cNvPr id="28" name="Text 26"/>
          <p:cNvSpPr/>
          <p:nvPr/>
        </p:nvSpPr>
        <p:spPr>
          <a:xfrm>
            <a:off x="3566160" y="3374136"/>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Simple, but role explosion at scale</a:t>
            </a:r>
            <a:endParaRPr lang="en-US" sz="1150" dirty="0"/>
          </a:p>
        </p:txBody>
      </p:sp>
      <p:sp>
        <p:nvSpPr>
          <p:cNvPr id="29" name="Shape 27"/>
          <p:cNvSpPr/>
          <p:nvPr/>
        </p:nvSpPr>
        <p:spPr>
          <a:xfrm>
            <a:off x="7589520" y="3374136"/>
            <a:ext cx="4160520" cy="658368"/>
          </a:xfrm>
          <a:prstGeom prst="rect">
            <a:avLst/>
          </a:prstGeom>
          <a:solidFill>
            <a:srgbClr val="FFFFFF"/>
          </a:solidFill>
          <a:ln w="9525">
            <a:solidFill>
              <a:srgbClr val="DCE1E2"/>
            </a:solidFill>
            <a:prstDash val="solid"/>
          </a:ln>
        </p:spPr>
        <p:txBody>
          <a:bodyPr/>
          <a:lstStyle/>
          <a:p>
            <a:endParaRPr lang="ar-EG"/>
          </a:p>
        </p:txBody>
      </p:sp>
      <p:sp>
        <p:nvSpPr>
          <p:cNvPr id="30" name="Text 28"/>
          <p:cNvSpPr/>
          <p:nvPr/>
        </p:nvSpPr>
        <p:spPr>
          <a:xfrm>
            <a:off x="7726680" y="3374136"/>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Highly granular &amp; dynamic, more complex to design</a:t>
            </a:r>
            <a:endParaRPr lang="en-US" sz="1150" dirty="0"/>
          </a:p>
        </p:txBody>
      </p:sp>
      <p:sp>
        <p:nvSpPr>
          <p:cNvPr id="31" name="Shape 29"/>
          <p:cNvSpPr/>
          <p:nvPr/>
        </p:nvSpPr>
        <p:spPr>
          <a:xfrm>
            <a:off x="502920" y="4032504"/>
            <a:ext cx="2926080" cy="658368"/>
          </a:xfrm>
          <a:prstGeom prst="rect">
            <a:avLst/>
          </a:prstGeom>
          <a:solidFill>
            <a:srgbClr val="F5F6F6"/>
          </a:solidFill>
          <a:ln w="9525">
            <a:solidFill>
              <a:srgbClr val="DCE1E2"/>
            </a:solidFill>
            <a:prstDash val="solid"/>
          </a:ln>
        </p:spPr>
        <p:txBody>
          <a:bodyPr/>
          <a:lstStyle/>
          <a:p>
            <a:endParaRPr lang="ar-EG"/>
          </a:p>
        </p:txBody>
      </p:sp>
      <p:sp>
        <p:nvSpPr>
          <p:cNvPr id="32" name="Text 30"/>
          <p:cNvSpPr/>
          <p:nvPr/>
        </p:nvSpPr>
        <p:spPr>
          <a:xfrm>
            <a:off x="640080" y="4032504"/>
            <a:ext cx="2651760" cy="658368"/>
          </a:xfrm>
          <a:prstGeom prst="rect">
            <a:avLst/>
          </a:prstGeom>
          <a:noFill/>
        </p:spPr>
        <p:txBody>
          <a:bodyPr wrap="square" rtlCol="0" anchor="ctr"/>
          <a:lstStyle/>
          <a:p>
            <a:pPr marL="0" indent="0">
              <a:lnSpc>
                <a:spcPts val="1300"/>
              </a:lnSpc>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Best fit</a:t>
            </a:r>
            <a:endParaRPr lang="en-US" sz="1150" dirty="0"/>
          </a:p>
        </p:txBody>
      </p:sp>
      <p:sp>
        <p:nvSpPr>
          <p:cNvPr id="33" name="Shape 31"/>
          <p:cNvSpPr/>
          <p:nvPr/>
        </p:nvSpPr>
        <p:spPr>
          <a:xfrm>
            <a:off x="3429000" y="4032504"/>
            <a:ext cx="4160520" cy="658368"/>
          </a:xfrm>
          <a:prstGeom prst="rect">
            <a:avLst/>
          </a:prstGeom>
          <a:solidFill>
            <a:srgbClr val="F5F6F6"/>
          </a:solidFill>
          <a:ln w="9525">
            <a:solidFill>
              <a:srgbClr val="DCE1E2"/>
            </a:solidFill>
            <a:prstDash val="solid"/>
          </a:ln>
        </p:spPr>
        <p:txBody>
          <a:bodyPr/>
          <a:lstStyle/>
          <a:p>
            <a:endParaRPr lang="ar-EG"/>
          </a:p>
        </p:txBody>
      </p:sp>
      <p:sp>
        <p:nvSpPr>
          <p:cNvPr id="34" name="Text 32"/>
          <p:cNvSpPr/>
          <p:nvPr/>
        </p:nvSpPr>
        <p:spPr>
          <a:xfrm>
            <a:off x="3566160" y="4032504"/>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Stable orgs with clear job functions</a:t>
            </a:r>
            <a:endParaRPr lang="en-US" sz="1150" dirty="0"/>
          </a:p>
        </p:txBody>
      </p:sp>
      <p:sp>
        <p:nvSpPr>
          <p:cNvPr id="35" name="Shape 33"/>
          <p:cNvSpPr/>
          <p:nvPr/>
        </p:nvSpPr>
        <p:spPr>
          <a:xfrm>
            <a:off x="7589520" y="4032504"/>
            <a:ext cx="4160520" cy="658368"/>
          </a:xfrm>
          <a:prstGeom prst="rect">
            <a:avLst/>
          </a:prstGeom>
          <a:solidFill>
            <a:srgbClr val="F5F6F6"/>
          </a:solidFill>
          <a:ln w="9525">
            <a:solidFill>
              <a:srgbClr val="DCE1E2"/>
            </a:solidFill>
            <a:prstDash val="solid"/>
          </a:ln>
        </p:spPr>
        <p:txBody>
          <a:bodyPr/>
          <a:lstStyle/>
          <a:p>
            <a:endParaRPr lang="ar-EG"/>
          </a:p>
        </p:txBody>
      </p:sp>
      <p:sp>
        <p:nvSpPr>
          <p:cNvPr id="36" name="Text 34"/>
          <p:cNvSpPr/>
          <p:nvPr/>
        </p:nvSpPr>
        <p:spPr>
          <a:xfrm>
            <a:off x="7726680" y="4032504"/>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Large enterprises, regulated data, dynamic context</a:t>
            </a:r>
            <a:endParaRPr lang="en-US" sz="1150" dirty="0"/>
          </a:p>
        </p:txBody>
      </p:sp>
      <p:sp>
        <p:nvSpPr>
          <p:cNvPr id="37" name="Shape 35"/>
          <p:cNvSpPr/>
          <p:nvPr/>
        </p:nvSpPr>
        <p:spPr>
          <a:xfrm>
            <a:off x="502920" y="4690872"/>
            <a:ext cx="2926080" cy="658368"/>
          </a:xfrm>
          <a:prstGeom prst="rect">
            <a:avLst/>
          </a:prstGeom>
          <a:solidFill>
            <a:srgbClr val="FFFFFF"/>
          </a:solidFill>
          <a:ln w="9525">
            <a:solidFill>
              <a:srgbClr val="DCE1E2"/>
            </a:solidFill>
            <a:prstDash val="solid"/>
          </a:ln>
        </p:spPr>
        <p:txBody>
          <a:bodyPr/>
          <a:lstStyle/>
          <a:p>
            <a:endParaRPr lang="ar-EG"/>
          </a:p>
        </p:txBody>
      </p:sp>
      <p:sp>
        <p:nvSpPr>
          <p:cNvPr id="38" name="Text 36"/>
          <p:cNvSpPr/>
          <p:nvPr/>
        </p:nvSpPr>
        <p:spPr>
          <a:xfrm>
            <a:off x="640080" y="4690872"/>
            <a:ext cx="2651760" cy="658368"/>
          </a:xfrm>
          <a:prstGeom prst="rect">
            <a:avLst/>
          </a:prstGeom>
          <a:noFill/>
        </p:spPr>
        <p:txBody>
          <a:bodyPr wrap="square" rtlCol="0" anchor="ctr"/>
          <a:lstStyle/>
          <a:p>
            <a:pPr marL="0" indent="0">
              <a:lnSpc>
                <a:spcPts val="1300"/>
              </a:lnSpc>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Enterprise tools</a:t>
            </a:r>
            <a:endParaRPr lang="en-US" sz="1150" dirty="0"/>
          </a:p>
        </p:txBody>
      </p:sp>
      <p:sp>
        <p:nvSpPr>
          <p:cNvPr id="39" name="Shape 37"/>
          <p:cNvSpPr/>
          <p:nvPr/>
        </p:nvSpPr>
        <p:spPr>
          <a:xfrm>
            <a:off x="3429000" y="4690872"/>
            <a:ext cx="4160520" cy="658368"/>
          </a:xfrm>
          <a:prstGeom prst="rect">
            <a:avLst/>
          </a:prstGeom>
          <a:solidFill>
            <a:srgbClr val="FFFFFF"/>
          </a:solidFill>
          <a:ln w="9525">
            <a:solidFill>
              <a:srgbClr val="DCE1E2"/>
            </a:solidFill>
            <a:prstDash val="solid"/>
          </a:ln>
        </p:spPr>
        <p:txBody>
          <a:bodyPr/>
          <a:lstStyle/>
          <a:p>
            <a:endParaRPr lang="ar-EG"/>
          </a:p>
        </p:txBody>
      </p:sp>
      <p:sp>
        <p:nvSpPr>
          <p:cNvPr id="40" name="Text 38"/>
          <p:cNvSpPr/>
          <p:nvPr/>
        </p:nvSpPr>
        <p:spPr>
          <a:xfrm>
            <a:off x="3566160" y="4690872"/>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Active Directory groups, Azure AD roles</a:t>
            </a:r>
            <a:endParaRPr lang="en-US" sz="1150" dirty="0"/>
          </a:p>
        </p:txBody>
      </p:sp>
      <p:sp>
        <p:nvSpPr>
          <p:cNvPr id="41" name="Shape 39"/>
          <p:cNvSpPr/>
          <p:nvPr/>
        </p:nvSpPr>
        <p:spPr>
          <a:xfrm>
            <a:off x="7589520" y="4690872"/>
            <a:ext cx="4160520" cy="658368"/>
          </a:xfrm>
          <a:prstGeom prst="rect">
            <a:avLst/>
          </a:prstGeom>
          <a:solidFill>
            <a:srgbClr val="FFFFFF"/>
          </a:solidFill>
          <a:ln w="9525">
            <a:solidFill>
              <a:srgbClr val="DCE1E2"/>
            </a:solidFill>
            <a:prstDash val="solid"/>
          </a:ln>
        </p:spPr>
        <p:txBody>
          <a:bodyPr/>
          <a:lstStyle/>
          <a:p>
            <a:endParaRPr lang="ar-EG"/>
          </a:p>
        </p:txBody>
      </p:sp>
      <p:sp>
        <p:nvSpPr>
          <p:cNvPr id="42" name="Text 40"/>
          <p:cNvSpPr/>
          <p:nvPr/>
        </p:nvSpPr>
        <p:spPr>
          <a:xfrm>
            <a:off x="7726680" y="4690872"/>
            <a:ext cx="3886200" cy="658368"/>
          </a:xfrm>
          <a:prstGeom prst="rect">
            <a:avLst/>
          </a:prstGeom>
          <a:noFill/>
        </p:spPr>
        <p:txBody>
          <a:bodyPr wrap="square" rtlCol="0" anchor="ctr"/>
          <a:lstStyle/>
          <a:p>
            <a:pPr marL="0" indent="0">
              <a:lnSpc>
                <a:spcPts val="1300"/>
              </a:lnSpc>
              <a:buNone/>
            </a:pPr>
            <a:r>
              <a:rPr lang="en-US" sz="1150" dirty="0">
                <a:solidFill>
                  <a:srgbClr val="5B6670"/>
                </a:solidFill>
                <a:latin typeface="Calibri" panose="020F0502020204030204" pitchFamily="34" charset="0"/>
                <a:ea typeface="Calibri" panose="020F0502020204030204" pitchFamily="34" charset="-122"/>
                <a:cs typeface="Calibri" panose="020F0502020204030204" pitchFamily="34" charset="-120"/>
              </a:rPr>
              <a:t>Azure AD Conditional Access, AWS IAM policies, XACML</a:t>
            </a:r>
            <a:endParaRPr lang="en-US" sz="1150" dirty="0"/>
          </a:p>
        </p:txBody>
      </p:sp>
      <p:sp>
        <p:nvSpPr>
          <p:cNvPr id="43" name="Text 41"/>
          <p:cNvSpPr/>
          <p:nvPr/>
        </p:nvSpPr>
        <p:spPr>
          <a:xfrm>
            <a:off x="502920" y="5532120"/>
            <a:ext cx="11247120" cy="502920"/>
          </a:xfrm>
          <a:prstGeom prst="rect">
            <a:avLst/>
          </a:prstGeom>
          <a:noFill/>
        </p:spPr>
        <p:txBody>
          <a:bodyPr wrap="square" rtlCol="0" anchor="ctr"/>
          <a:lstStyle/>
          <a:p>
            <a:pPr marL="0" indent="0">
              <a:buNone/>
            </a:pPr>
            <a:r>
              <a:rPr lang="en-US" sz="1200" i="1" dirty="0">
                <a:solidFill>
                  <a:srgbClr val="5B6670"/>
                </a:solidFill>
                <a:latin typeface="Calibri" panose="020F0502020204030204" pitchFamily="34" charset="0"/>
                <a:ea typeface="Calibri" panose="020F0502020204030204" pitchFamily="34" charset="-122"/>
                <a:cs typeface="Calibri" panose="020F0502020204030204" pitchFamily="34" charset="-120"/>
              </a:rPr>
              <a:t>Many enterprises combine both: RBAC for coarse-grained baseline access, ABAC layered on top for fine-grained, context-aware decisions (Zero Trust policy engines).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IAM COMPONENTS</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2 · IAM COMPONENTS</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Single Sign-On (SSO) &amp; Federation</a:t>
            </a:r>
            <a:endParaRPr lang="en-US" sz="3000" dirty="0"/>
          </a:p>
        </p:txBody>
      </p:sp>
      <p:sp>
        <p:nvSpPr>
          <p:cNvPr id="7" name="Shape 5"/>
          <p:cNvSpPr/>
          <p:nvPr/>
        </p:nvSpPr>
        <p:spPr>
          <a:xfrm>
            <a:off x="502920" y="1463040"/>
            <a:ext cx="5212080" cy="4663440"/>
          </a:xfrm>
          <a:prstGeom prst="roundRect">
            <a:avLst>
              <a:gd name="adj" fmla="val 137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731520" y="1627632"/>
            <a:ext cx="4663440" cy="274320"/>
          </a:xfrm>
          <a:prstGeom prst="rect">
            <a:avLst/>
          </a:prstGeom>
          <a:noFill/>
        </p:spPr>
        <p:txBody>
          <a:bodyPr wrap="square" rtlCol="0" anchor="ctr"/>
          <a:lstStyle/>
          <a:p>
            <a:pPr marL="0" indent="0">
              <a:buNone/>
            </a:pPr>
            <a:r>
              <a:rPr lang="en-US" sz="115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WHAT SSO SOLVES</a:t>
            </a:r>
            <a:endParaRPr lang="en-US" sz="1150" dirty="0"/>
          </a:p>
        </p:txBody>
      </p:sp>
      <p:sp>
        <p:nvSpPr>
          <p:cNvPr id="9" name="Text 7"/>
          <p:cNvSpPr/>
          <p:nvPr/>
        </p:nvSpPr>
        <p:spPr>
          <a:xfrm>
            <a:off x="731520" y="1965960"/>
            <a:ext cx="4754880" cy="3931920"/>
          </a:xfrm>
          <a:prstGeom prst="rect">
            <a:avLst/>
          </a:prstGeom>
          <a:noFill/>
        </p:spPr>
        <p:txBody>
          <a:bodyPr wrap="square" rtlCol="0" anchor="t"/>
          <a:lstStyle/>
          <a:p>
            <a:pPr marL="342900" indent="-342900">
              <a:lnSpc>
                <a:spcPts val="1600"/>
              </a:lnSpc>
              <a:spcAft>
                <a:spcPts val="12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User authenticates once with the Identity Provider (IdP)</a:t>
            </a:r>
            <a:endParaRPr lang="en-US" sz="1300" dirty="0"/>
          </a:p>
          <a:p>
            <a:pPr marL="342900" indent="-342900">
              <a:lnSpc>
                <a:spcPts val="1600"/>
              </a:lnSpc>
              <a:spcAft>
                <a:spcPts val="12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A trust relationship (federation) lets Service Providers (SPs) accept the IdP's assertion</a:t>
            </a:r>
            <a:endParaRPr lang="en-US" sz="1300" dirty="0"/>
          </a:p>
          <a:p>
            <a:pPr marL="342900" indent="-342900">
              <a:lnSpc>
                <a:spcPts val="1600"/>
              </a:lnSpc>
              <a:spcAft>
                <a:spcPts val="12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No per-app passwords — fewer credentials to phish or reuse</a:t>
            </a:r>
            <a:endParaRPr lang="en-US" sz="1300" dirty="0"/>
          </a:p>
          <a:p>
            <a:pPr marL="342900" indent="-342900">
              <a:lnSpc>
                <a:spcPts val="1600"/>
              </a:lnSpc>
              <a:spcAft>
                <a:spcPts val="12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Centralized enforcement of MFA &amp; Conditional Access at the IdP</a:t>
            </a:r>
            <a:endParaRPr lang="en-US" sz="1300" dirty="0"/>
          </a:p>
          <a:p>
            <a:pPr marL="342900" indent="-342900">
              <a:lnSpc>
                <a:spcPts val="1600"/>
              </a:lnSpc>
              <a:spcAft>
                <a:spcPts val="1200"/>
              </a:spcAft>
              <a:buSzPct val="100000"/>
              <a:buChar char="•"/>
            </a:pPr>
            <a:r>
              <a:rPr lang="en-US" sz="1300" dirty="0">
                <a:solidFill>
                  <a:srgbClr val="2B2D2F"/>
                </a:solidFill>
                <a:latin typeface="Calibri" panose="020F0502020204030204" pitchFamily="34" charset="0"/>
                <a:ea typeface="Calibri" panose="020F0502020204030204" pitchFamily="34" charset="-122"/>
                <a:cs typeface="Calibri" panose="020F0502020204030204" pitchFamily="34" charset="-120"/>
              </a:rPr>
              <a:t>Real vendors: Okta, Microsoft Entra ID, Ping Identity, OneLogin</a:t>
            </a:r>
            <a:endParaRPr lang="en-US" sz="1300" dirty="0"/>
          </a:p>
        </p:txBody>
      </p:sp>
      <p:sp>
        <p:nvSpPr>
          <p:cNvPr id="10" name="Shape 8"/>
          <p:cNvSpPr/>
          <p:nvPr/>
        </p:nvSpPr>
        <p:spPr>
          <a:xfrm>
            <a:off x="5989320" y="1463040"/>
            <a:ext cx="5696712" cy="4663440"/>
          </a:xfrm>
          <a:prstGeom prst="roundRect">
            <a:avLst>
              <a:gd name="adj" fmla="val 1373"/>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1" name="Text 9"/>
          <p:cNvSpPr/>
          <p:nvPr/>
        </p:nvSpPr>
        <p:spPr>
          <a:xfrm>
            <a:off x="6217920" y="1627632"/>
            <a:ext cx="5029200" cy="274320"/>
          </a:xfrm>
          <a:prstGeom prst="rect">
            <a:avLst/>
          </a:prstGeom>
          <a:noFill/>
        </p:spPr>
        <p:txBody>
          <a:bodyPr wrap="square" rtlCol="0" anchor="ctr"/>
          <a:lstStyle/>
          <a:p>
            <a:pPr marL="0" indent="0">
              <a:buNone/>
            </a:pPr>
            <a:r>
              <a:rPr lang="en-US" sz="115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FEDERATION FLOW</a:t>
            </a:r>
            <a:endParaRPr lang="en-US" sz="1150" dirty="0"/>
          </a:p>
        </p:txBody>
      </p:sp>
      <p:sp>
        <p:nvSpPr>
          <p:cNvPr id="12" name="Shape 10"/>
          <p:cNvSpPr/>
          <p:nvPr/>
        </p:nvSpPr>
        <p:spPr>
          <a:xfrm>
            <a:off x="8380476" y="2011680"/>
            <a:ext cx="914400" cy="914400"/>
          </a:xfrm>
          <a:prstGeom prst="ellipse">
            <a:avLst/>
          </a:prstGeom>
          <a:solidFill>
            <a:srgbClr val="2B2D2F"/>
          </a:solidFill>
        </p:spPr>
        <p:txBody>
          <a:bodyPr/>
          <a:lstStyle/>
          <a:p>
            <a:endParaRPr lang="ar-EG"/>
          </a:p>
        </p:txBody>
      </p:sp>
      <p:pic>
        <p:nvPicPr>
          <p:cNvPr id="13" name="Image 0" descr="/home/claude/deck/icons/user_tie.png"/>
          <p:cNvPicPr>
            <a:picLocks noChangeAspect="1"/>
          </p:cNvPicPr>
          <p:nvPr/>
        </p:nvPicPr>
        <p:blipFill>
          <a:blip r:embed="rId3"/>
          <a:stretch>
            <a:fillRect/>
          </a:stretch>
        </p:blipFill>
        <p:spPr>
          <a:xfrm>
            <a:off x="8586216" y="2217420"/>
            <a:ext cx="502920" cy="502920"/>
          </a:xfrm>
          <a:prstGeom prst="rect">
            <a:avLst/>
          </a:prstGeom>
        </p:spPr>
      </p:pic>
      <p:sp>
        <p:nvSpPr>
          <p:cNvPr id="14" name="Text 11"/>
          <p:cNvSpPr/>
          <p:nvPr/>
        </p:nvSpPr>
        <p:spPr>
          <a:xfrm>
            <a:off x="8197596" y="2944368"/>
            <a:ext cx="1280160" cy="274320"/>
          </a:xfrm>
          <a:prstGeom prst="rect">
            <a:avLst/>
          </a:prstGeom>
          <a:noFill/>
        </p:spPr>
        <p:txBody>
          <a:bodyPr wrap="square" rtlCol="0" anchor="ctr"/>
          <a:lstStyle/>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User</a:t>
            </a:r>
            <a:endParaRPr lang="en-US" sz="1100" dirty="0"/>
          </a:p>
        </p:txBody>
      </p:sp>
      <p:sp>
        <p:nvSpPr>
          <p:cNvPr id="15" name="Shape 12"/>
          <p:cNvSpPr/>
          <p:nvPr/>
        </p:nvSpPr>
        <p:spPr>
          <a:xfrm>
            <a:off x="8837676" y="3246120"/>
            <a:ext cx="0" cy="457200"/>
          </a:xfrm>
          <a:prstGeom prst="line">
            <a:avLst/>
          </a:prstGeom>
          <a:noFill/>
          <a:ln w="25400">
            <a:solidFill>
              <a:srgbClr val="0E7C7B"/>
            </a:solidFill>
            <a:prstDash val="solid"/>
          </a:ln>
        </p:spPr>
        <p:txBody>
          <a:bodyPr/>
          <a:lstStyle/>
          <a:p>
            <a:endParaRPr lang="ar-EG"/>
          </a:p>
        </p:txBody>
      </p:sp>
      <p:sp>
        <p:nvSpPr>
          <p:cNvPr id="16" name="Shape 13"/>
          <p:cNvSpPr/>
          <p:nvPr/>
        </p:nvSpPr>
        <p:spPr>
          <a:xfrm>
            <a:off x="8334756" y="3749040"/>
            <a:ext cx="1005840" cy="1005840"/>
          </a:xfrm>
          <a:prstGeom prst="ellipse">
            <a:avLst/>
          </a:prstGeom>
          <a:solidFill>
            <a:srgbClr val="0E7C7B"/>
          </a:solidFill>
        </p:spPr>
        <p:txBody>
          <a:bodyPr/>
          <a:lstStyle/>
          <a:p>
            <a:endParaRPr lang="ar-EG"/>
          </a:p>
        </p:txBody>
      </p:sp>
      <p:pic>
        <p:nvPicPr>
          <p:cNvPr id="17" name="Image 1" descr="/home/claude/deck/icons/key.png"/>
          <p:cNvPicPr>
            <a:picLocks noChangeAspect="1"/>
          </p:cNvPicPr>
          <p:nvPr/>
        </p:nvPicPr>
        <p:blipFill>
          <a:blip r:embed="rId4"/>
          <a:stretch>
            <a:fillRect/>
          </a:stretch>
        </p:blipFill>
        <p:spPr>
          <a:xfrm>
            <a:off x="8561070" y="3975354"/>
            <a:ext cx="553212" cy="553212"/>
          </a:xfrm>
          <a:prstGeom prst="rect">
            <a:avLst/>
          </a:prstGeom>
        </p:spPr>
      </p:pic>
      <p:sp>
        <p:nvSpPr>
          <p:cNvPr id="18" name="Text 14"/>
          <p:cNvSpPr/>
          <p:nvPr/>
        </p:nvSpPr>
        <p:spPr>
          <a:xfrm>
            <a:off x="7374636" y="4773168"/>
            <a:ext cx="2926080" cy="457200"/>
          </a:xfrm>
          <a:prstGeom prst="rect">
            <a:avLst/>
          </a:prstGeom>
          <a:noFill/>
        </p:spPr>
        <p:txBody>
          <a:bodyPr wrap="square" rtlCol="0" anchor="ctr"/>
          <a:lstStyle/>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Identity Provider</a:t>
            </a:r>
            <a:endParaRPr lang="en-US" sz="1100" dirty="0"/>
          </a:p>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(Authenticate once + MFA)</a:t>
            </a:r>
            <a:endParaRPr lang="en-US" sz="1100" dirty="0"/>
          </a:p>
        </p:txBody>
      </p:sp>
      <p:sp>
        <p:nvSpPr>
          <p:cNvPr id="19" name="Shape 15"/>
          <p:cNvSpPr/>
          <p:nvPr/>
        </p:nvSpPr>
        <p:spPr>
          <a:xfrm>
            <a:off x="8837676" y="5212080"/>
            <a:ext cx="0" cy="0"/>
          </a:xfrm>
          <a:prstGeom prst="line">
            <a:avLst/>
          </a:prstGeom>
          <a:noFill/>
          <a:ln w="15875">
            <a:solidFill>
              <a:srgbClr val="8B939A"/>
            </a:solidFill>
            <a:prstDash val="solid"/>
          </a:ln>
        </p:spPr>
        <p:txBody>
          <a:bodyPr/>
          <a:lstStyle/>
          <a:p>
            <a:endParaRPr lang="ar-EG"/>
          </a:p>
        </p:txBody>
      </p:sp>
      <p:sp>
        <p:nvSpPr>
          <p:cNvPr id="20" name="Shape 16"/>
          <p:cNvSpPr/>
          <p:nvPr/>
        </p:nvSpPr>
        <p:spPr>
          <a:xfrm>
            <a:off x="7121652" y="5212080"/>
            <a:ext cx="0" cy="228600"/>
          </a:xfrm>
          <a:prstGeom prst="line">
            <a:avLst/>
          </a:prstGeom>
          <a:noFill/>
          <a:ln w="15875">
            <a:solidFill>
              <a:srgbClr val="8B939A"/>
            </a:solidFill>
            <a:prstDash val="solid"/>
          </a:ln>
        </p:spPr>
        <p:txBody>
          <a:bodyPr/>
          <a:lstStyle/>
          <a:p>
            <a:endParaRPr lang="ar-EG"/>
          </a:p>
        </p:txBody>
      </p:sp>
      <p:sp>
        <p:nvSpPr>
          <p:cNvPr id="21" name="Shape 17"/>
          <p:cNvSpPr/>
          <p:nvPr/>
        </p:nvSpPr>
        <p:spPr>
          <a:xfrm>
            <a:off x="6263640" y="5440680"/>
            <a:ext cx="1716024" cy="502920"/>
          </a:xfrm>
          <a:prstGeom prst="roundRect">
            <a:avLst>
              <a:gd name="adj" fmla="val 10909"/>
            </a:avLst>
          </a:prstGeom>
          <a:solidFill>
            <a:srgbClr val="F5F6F6"/>
          </a:solidFill>
          <a:ln w="9525">
            <a:solidFill>
              <a:srgbClr val="DCE1E2"/>
            </a:solidFill>
            <a:prstDash val="solid"/>
          </a:ln>
        </p:spPr>
        <p:txBody>
          <a:bodyPr/>
          <a:lstStyle/>
          <a:p>
            <a:endParaRPr lang="ar-EG"/>
          </a:p>
        </p:txBody>
      </p:sp>
      <p:sp>
        <p:nvSpPr>
          <p:cNvPr id="22" name="Text 18"/>
          <p:cNvSpPr/>
          <p:nvPr/>
        </p:nvSpPr>
        <p:spPr>
          <a:xfrm>
            <a:off x="6309360" y="5440680"/>
            <a:ext cx="1624584" cy="502920"/>
          </a:xfrm>
          <a:prstGeom prst="rect">
            <a:avLst/>
          </a:prstGeom>
          <a:noFill/>
        </p:spPr>
        <p:txBody>
          <a:bodyPr wrap="square" rtlCol="0" anchor="ctr"/>
          <a:lstStyle/>
          <a:p>
            <a:pPr marL="0" indent="0" algn="ctr">
              <a:buNone/>
            </a:pPr>
            <a:r>
              <a:rPr lang="en-US" sz="950" b="1" dirty="0">
                <a:solidFill>
                  <a:srgbClr val="2B2D2F"/>
                </a:solidFill>
                <a:latin typeface="Calibri" panose="020F0502020204030204" pitchFamily="34" charset="0"/>
                <a:ea typeface="Calibri" panose="020F0502020204030204" pitchFamily="34" charset="-122"/>
                <a:cs typeface="Calibri" panose="020F0502020204030204" pitchFamily="34" charset="-120"/>
              </a:rPr>
              <a:t>App 1: Salesforce</a:t>
            </a:r>
            <a:endParaRPr lang="en-US" sz="950" dirty="0"/>
          </a:p>
        </p:txBody>
      </p:sp>
      <p:sp>
        <p:nvSpPr>
          <p:cNvPr id="23" name="Shape 19"/>
          <p:cNvSpPr/>
          <p:nvPr/>
        </p:nvSpPr>
        <p:spPr>
          <a:xfrm>
            <a:off x="8837676" y="5212080"/>
            <a:ext cx="137160" cy="0"/>
          </a:xfrm>
          <a:prstGeom prst="line">
            <a:avLst/>
          </a:prstGeom>
          <a:noFill/>
          <a:ln w="15875">
            <a:solidFill>
              <a:srgbClr val="8B939A"/>
            </a:solidFill>
            <a:prstDash val="solid"/>
          </a:ln>
        </p:spPr>
        <p:txBody>
          <a:bodyPr/>
          <a:lstStyle/>
          <a:p>
            <a:endParaRPr lang="ar-EG"/>
          </a:p>
        </p:txBody>
      </p:sp>
      <p:sp>
        <p:nvSpPr>
          <p:cNvPr id="24" name="Shape 20"/>
          <p:cNvSpPr/>
          <p:nvPr/>
        </p:nvSpPr>
        <p:spPr>
          <a:xfrm>
            <a:off x="8974836" y="5212080"/>
            <a:ext cx="0" cy="228600"/>
          </a:xfrm>
          <a:prstGeom prst="line">
            <a:avLst/>
          </a:prstGeom>
          <a:noFill/>
          <a:ln w="15875">
            <a:solidFill>
              <a:srgbClr val="8B939A"/>
            </a:solidFill>
            <a:prstDash val="solid"/>
          </a:ln>
        </p:spPr>
        <p:txBody>
          <a:bodyPr/>
          <a:lstStyle/>
          <a:p>
            <a:endParaRPr lang="ar-EG"/>
          </a:p>
        </p:txBody>
      </p:sp>
      <p:sp>
        <p:nvSpPr>
          <p:cNvPr id="25" name="Shape 21"/>
          <p:cNvSpPr/>
          <p:nvPr/>
        </p:nvSpPr>
        <p:spPr>
          <a:xfrm>
            <a:off x="8116824" y="5440680"/>
            <a:ext cx="1716024" cy="502920"/>
          </a:xfrm>
          <a:prstGeom prst="roundRect">
            <a:avLst>
              <a:gd name="adj" fmla="val 10909"/>
            </a:avLst>
          </a:prstGeom>
          <a:solidFill>
            <a:srgbClr val="F5F6F6"/>
          </a:solidFill>
          <a:ln w="9525">
            <a:solidFill>
              <a:srgbClr val="DCE1E2"/>
            </a:solidFill>
            <a:prstDash val="solid"/>
          </a:ln>
        </p:spPr>
        <p:txBody>
          <a:bodyPr/>
          <a:lstStyle/>
          <a:p>
            <a:endParaRPr lang="ar-EG"/>
          </a:p>
        </p:txBody>
      </p:sp>
      <p:sp>
        <p:nvSpPr>
          <p:cNvPr id="26" name="Text 22"/>
          <p:cNvSpPr/>
          <p:nvPr/>
        </p:nvSpPr>
        <p:spPr>
          <a:xfrm>
            <a:off x="8162544" y="5440680"/>
            <a:ext cx="1624584" cy="502920"/>
          </a:xfrm>
          <a:prstGeom prst="rect">
            <a:avLst/>
          </a:prstGeom>
          <a:noFill/>
        </p:spPr>
        <p:txBody>
          <a:bodyPr wrap="square" rtlCol="0" anchor="ctr"/>
          <a:lstStyle/>
          <a:p>
            <a:pPr marL="0" indent="0" algn="ctr">
              <a:buNone/>
            </a:pPr>
            <a:r>
              <a:rPr lang="en-US" sz="950" b="1" dirty="0">
                <a:solidFill>
                  <a:srgbClr val="2B2D2F"/>
                </a:solidFill>
                <a:latin typeface="Calibri" panose="020F0502020204030204" pitchFamily="34" charset="0"/>
                <a:ea typeface="Calibri" panose="020F0502020204030204" pitchFamily="34" charset="-122"/>
                <a:cs typeface="Calibri" panose="020F0502020204030204" pitchFamily="34" charset="-120"/>
              </a:rPr>
              <a:t>App 2: Workday</a:t>
            </a:r>
            <a:endParaRPr lang="en-US" sz="950" dirty="0"/>
          </a:p>
        </p:txBody>
      </p:sp>
      <p:sp>
        <p:nvSpPr>
          <p:cNvPr id="27" name="Shape 23"/>
          <p:cNvSpPr/>
          <p:nvPr/>
        </p:nvSpPr>
        <p:spPr>
          <a:xfrm>
            <a:off x="8837676" y="5212080"/>
            <a:ext cx="1990344" cy="0"/>
          </a:xfrm>
          <a:prstGeom prst="line">
            <a:avLst/>
          </a:prstGeom>
          <a:noFill/>
          <a:ln w="15875">
            <a:solidFill>
              <a:srgbClr val="8B939A"/>
            </a:solidFill>
            <a:prstDash val="solid"/>
          </a:ln>
        </p:spPr>
        <p:txBody>
          <a:bodyPr/>
          <a:lstStyle/>
          <a:p>
            <a:endParaRPr lang="ar-EG"/>
          </a:p>
        </p:txBody>
      </p:sp>
      <p:sp>
        <p:nvSpPr>
          <p:cNvPr id="28" name="Shape 24"/>
          <p:cNvSpPr/>
          <p:nvPr/>
        </p:nvSpPr>
        <p:spPr>
          <a:xfrm>
            <a:off x="10828020" y="5212080"/>
            <a:ext cx="0" cy="228600"/>
          </a:xfrm>
          <a:prstGeom prst="line">
            <a:avLst/>
          </a:prstGeom>
          <a:noFill/>
          <a:ln w="15875">
            <a:solidFill>
              <a:srgbClr val="8B939A"/>
            </a:solidFill>
            <a:prstDash val="solid"/>
          </a:ln>
        </p:spPr>
        <p:txBody>
          <a:bodyPr/>
          <a:lstStyle/>
          <a:p>
            <a:endParaRPr lang="ar-EG"/>
          </a:p>
        </p:txBody>
      </p:sp>
      <p:sp>
        <p:nvSpPr>
          <p:cNvPr id="29" name="Shape 25"/>
          <p:cNvSpPr/>
          <p:nvPr/>
        </p:nvSpPr>
        <p:spPr>
          <a:xfrm>
            <a:off x="9970008" y="5440680"/>
            <a:ext cx="1716024" cy="502920"/>
          </a:xfrm>
          <a:prstGeom prst="roundRect">
            <a:avLst>
              <a:gd name="adj" fmla="val 10909"/>
            </a:avLst>
          </a:prstGeom>
          <a:solidFill>
            <a:srgbClr val="F5F6F6"/>
          </a:solidFill>
          <a:ln w="9525">
            <a:solidFill>
              <a:srgbClr val="DCE1E2"/>
            </a:solidFill>
            <a:prstDash val="solid"/>
          </a:ln>
        </p:spPr>
        <p:txBody>
          <a:bodyPr/>
          <a:lstStyle/>
          <a:p>
            <a:endParaRPr lang="ar-EG"/>
          </a:p>
        </p:txBody>
      </p:sp>
      <p:sp>
        <p:nvSpPr>
          <p:cNvPr id="30" name="Text 26"/>
          <p:cNvSpPr/>
          <p:nvPr/>
        </p:nvSpPr>
        <p:spPr>
          <a:xfrm>
            <a:off x="10015728" y="5440680"/>
            <a:ext cx="1624584" cy="502920"/>
          </a:xfrm>
          <a:prstGeom prst="rect">
            <a:avLst/>
          </a:prstGeom>
          <a:noFill/>
        </p:spPr>
        <p:txBody>
          <a:bodyPr wrap="square" rtlCol="0" anchor="ctr"/>
          <a:lstStyle/>
          <a:p>
            <a:pPr marL="0" indent="0" algn="ctr">
              <a:buNone/>
            </a:pPr>
            <a:r>
              <a:rPr lang="en-US" sz="950" b="1" dirty="0">
                <a:solidFill>
                  <a:srgbClr val="2B2D2F"/>
                </a:solidFill>
                <a:latin typeface="Calibri" panose="020F0502020204030204" pitchFamily="34" charset="0"/>
                <a:ea typeface="Calibri" panose="020F0502020204030204" pitchFamily="34" charset="-122"/>
                <a:cs typeface="Calibri" panose="020F0502020204030204" pitchFamily="34" charset="-120"/>
              </a:rPr>
              <a:t>App 3: ServiceNow</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IAM COMPONENTS</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2 · FEDERATION PROTOCOLS</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SAML vs. OAuth 2.0 vs. OIDC</a:t>
            </a:r>
            <a:endParaRPr lang="en-US" sz="3000" dirty="0"/>
          </a:p>
        </p:txBody>
      </p:sp>
      <p:sp>
        <p:nvSpPr>
          <p:cNvPr id="7" name="Shape 5"/>
          <p:cNvSpPr/>
          <p:nvPr/>
        </p:nvSpPr>
        <p:spPr>
          <a:xfrm>
            <a:off x="502920" y="1463040"/>
            <a:ext cx="2331720" cy="502920"/>
          </a:xfrm>
          <a:prstGeom prst="rect">
            <a:avLst/>
          </a:prstGeom>
          <a:solidFill>
            <a:srgbClr val="2B2D2F"/>
          </a:solidFill>
        </p:spPr>
        <p:txBody>
          <a:bodyPr/>
          <a:lstStyle/>
          <a:p>
            <a:endParaRPr lang="ar-EG"/>
          </a:p>
        </p:txBody>
      </p:sp>
      <p:sp>
        <p:nvSpPr>
          <p:cNvPr id="8" name="Text 6"/>
          <p:cNvSpPr/>
          <p:nvPr/>
        </p:nvSpPr>
        <p:spPr>
          <a:xfrm>
            <a:off x="594360" y="1463040"/>
            <a:ext cx="2148840" cy="502920"/>
          </a:xfrm>
          <a:prstGeom prst="rect">
            <a:avLst/>
          </a:prstGeom>
          <a:noFill/>
        </p:spPr>
        <p:txBody>
          <a:bodyPr wrap="square" rtlCol="0" anchor="ctr"/>
          <a:lstStyle/>
          <a:p>
            <a:pPr marL="0" indent="0" algn="l">
              <a:buNone/>
            </a:pPr>
            <a:endParaRPr lang="en-US" sz="1300" dirty="0"/>
          </a:p>
        </p:txBody>
      </p:sp>
      <p:sp>
        <p:nvSpPr>
          <p:cNvPr id="9" name="Shape 7"/>
          <p:cNvSpPr/>
          <p:nvPr/>
        </p:nvSpPr>
        <p:spPr>
          <a:xfrm>
            <a:off x="2834640" y="1463040"/>
            <a:ext cx="2971800" cy="502920"/>
          </a:xfrm>
          <a:prstGeom prst="rect">
            <a:avLst/>
          </a:prstGeom>
          <a:solidFill>
            <a:srgbClr val="0E7C7B"/>
          </a:solidFill>
        </p:spPr>
        <p:txBody>
          <a:bodyPr/>
          <a:lstStyle/>
          <a:p>
            <a:endParaRPr lang="ar-EG"/>
          </a:p>
        </p:txBody>
      </p:sp>
      <p:sp>
        <p:nvSpPr>
          <p:cNvPr id="10" name="Text 8"/>
          <p:cNvSpPr/>
          <p:nvPr/>
        </p:nvSpPr>
        <p:spPr>
          <a:xfrm>
            <a:off x="2926080" y="1463040"/>
            <a:ext cx="2788920" cy="50292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SAML 2.0</a:t>
            </a:r>
            <a:endParaRPr lang="en-US" sz="1300" dirty="0"/>
          </a:p>
        </p:txBody>
      </p:sp>
      <p:sp>
        <p:nvSpPr>
          <p:cNvPr id="11" name="Shape 9"/>
          <p:cNvSpPr/>
          <p:nvPr/>
        </p:nvSpPr>
        <p:spPr>
          <a:xfrm>
            <a:off x="5806440" y="1463040"/>
            <a:ext cx="2971800" cy="502920"/>
          </a:xfrm>
          <a:prstGeom prst="rect">
            <a:avLst/>
          </a:prstGeom>
          <a:solidFill>
            <a:srgbClr val="E8871E"/>
          </a:solidFill>
        </p:spPr>
        <p:txBody>
          <a:bodyPr/>
          <a:lstStyle/>
          <a:p>
            <a:endParaRPr lang="ar-EG"/>
          </a:p>
        </p:txBody>
      </p:sp>
      <p:sp>
        <p:nvSpPr>
          <p:cNvPr id="12" name="Text 10"/>
          <p:cNvSpPr/>
          <p:nvPr/>
        </p:nvSpPr>
        <p:spPr>
          <a:xfrm>
            <a:off x="5897880" y="1463040"/>
            <a:ext cx="2788920" cy="50292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OAuth 2.0</a:t>
            </a:r>
            <a:endParaRPr lang="en-US" sz="1300" dirty="0"/>
          </a:p>
        </p:txBody>
      </p:sp>
      <p:sp>
        <p:nvSpPr>
          <p:cNvPr id="13" name="Shape 11"/>
          <p:cNvSpPr/>
          <p:nvPr/>
        </p:nvSpPr>
        <p:spPr>
          <a:xfrm>
            <a:off x="8778240" y="1463040"/>
            <a:ext cx="2971800" cy="502920"/>
          </a:xfrm>
          <a:prstGeom prst="rect">
            <a:avLst/>
          </a:prstGeom>
          <a:solidFill>
            <a:srgbClr val="0A5F5E"/>
          </a:solidFill>
        </p:spPr>
        <p:txBody>
          <a:bodyPr/>
          <a:lstStyle/>
          <a:p>
            <a:endParaRPr lang="ar-EG"/>
          </a:p>
        </p:txBody>
      </p:sp>
      <p:sp>
        <p:nvSpPr>
          <p:cNvPr id="14" name="Text 12"/>
          <p:cNvSpPr/>
          <p:nvPr/>
        </p:nvSpPr>
        <p:spPr>
          <a:xfrm>
            <a:off x="8869680" y="1463040"/>
            <a:ext cx="2788920" cy="50292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OIDC</a:t>
            </a:r>
            <a:endParaRPr lang="en-US" sz="1300" dirty="0"/>
          </a:p>
        </p:txBody>
      </p:sp>
      <p:sp>
        <p:nvSpPr>
          <p:cNvPr id="15" name="Shape 13"/>
          <p:cNvSpPr/>
          <p:nvPr/>
        </p:nvSpPr>
        <p:spPr>
          <a:xfrm>
            <a:off x="502920" y="1965960"/>
            <a:ext cx="2331720" cy="749808"/>
          </a:xfrm>
          <a:prstGeom prst="rect">
            <a:avLst/>
          </a:prstGeom>
          <a:solidFill>
            <a:srgbClr val="FFFFFF"/>
          </a:solidFill>
          <a:ln w="9525">
            <a:solidFill>
              <a:srgbClr val="DCE1E2"/>
            </a:solidFill>
            <a:prstDash val="solid"/>
          </a:ln>
        </p:spPr>
        <p:txBody>
          <a:bodyPr/>
          <a:lstStyle/>
          <a:p>
            <a:endParaRPr lang="ar-EG"/>
          </a:p>
        </p:txBody>
      </p:sp>
      <p:sp>
        <p:nvSpPr>
          <p:cNvPr id="16" name="Text 14"/>
          <p:cNvSpPr/>
          <p:nvPr/>
        </p:nvSpPr>
        <p:spPr>
          <a:xfrm>
            <a:off x="594360" y="1965960"/>
            <a:ext cx="2148840" cy="749808"/>
          </a:xfrm>
          <a:prstGeom prst="rect">
            <a:avLst/>
          </a:prstGeom>
          <a:noFill/>
        </p:spPr>
        <p:txBody>
          <a:bodyPr wrap="square" rtlCol="0" anchor="ctr"/>
          <a:lstStyle/>
          <a:p>
            <a:pPr marL="0" indent="0" algn="l">
              <a:lnSpc>
                <a:spcPts val="1200"/>
              </a:lnSpc>
              <a:buNone/>
            </a:pPr>
            <a:r>
              <a:rPr lang="en-US" sz="1050" b="1" dirty="0">
                <a:solidFill>
                  <a:srgbClr val="2B2D2F"/>
                </a:solidFill>
                <a:latin typeface="Calibri" panose="020F0502020204030204" pitchFamily="34" charset="0"/>
                <a:ea typeface="Calibri" panose="020F0502020204030204" pitchFamily="34" charset="-122"/>
                <a:cs typeface="Calibri" panose="020F0502020204030204" pitchFamily="34" charset="-120"/>
              </a:rPr>
              <a:t>Purpose</a:t>
            </a:r>
            <a:endParaRPr lang="en-US" sz="1050" dirty="0"/>
          </a:p>
        </p:txBody>
      </p:sp>
      <p:sp>
        <p:nvSpPr>
          <p:cNvPr id="17" name="Shape 15"/>
          <p:cNvSpPr/>
          <p:nvPr/>
        </p:nvSpPr>
        <p:spPr>
          <a:xfrm>
            <a:off x="2834640" y="1965960"/>
            <a:ext cx="2971800" cy="749808"/>
          </a:xfrm>
          <a:prstGeom prst="rect">
            <a:avLst/>
          </a:prstGeom>
          <a:solidFill>
            <a:srgbClr val="FFFFFF"/>
          </a:solidFill>
          <a:ln w="9525">
            <a:solidFill>
              <a:srgbClr val="DCE1E2"/>
            </a:solidFill>
            <a:prstDash val="solid"/>
          </a:ln>
        </p:spPr>
        <p:txBody>
          <a:bodyPr/>
          <a:lstStyle/>
          <a:p>
            <a:endParaRPr lang="ar-EG"/>
          </a:p>
        </p:txBody>
      </p:sp>
      <p:sp>
        <p:nvSpPr>
          <p:cNvPr id="18" name="Text 16"/>
          <p:cNvSpPr/>
          <p:nvPr/>
        </p:nvSpPr>
        <p:spPr>
          <a:xfrm>
            <a:off x="2926080" y="1965960"/>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Enterprise web SSO (authN)</a:t>
            </a:r>
            <a:endParaRPr lang="en-US" sz="1050" dirty="0"/>
          </a:p>
        </p:txBody>
      </p:sp>
      <p:sp>
        <p:nvSpPr>
          <p:cNvPr id="19" name="Shape 17"/>
          <p:cNvSpPr/>
          <p:nvPr/>
        </p:nvSpPr>
        <p:spPr>
          <a:xfrm>
            <a:off x="5806440" y="1965960"/>
            <a:ext cx="2971800" cy="749808"/>
          </a:xfrm>
          <a:prstGeom prst="rect">
            <a:avLst/>
          </a:prstGeom>
          <a:solidFill>
            <a:srgbClr val="FFFFFF"/>
          </a:solidFill>
          <a:ln w="9525">
            <a:solidFill>
              <a:srgbClr val="DCE1E2"/>
            </a:solidFill>
            <a:prstDash val="solid"/>
          </a:ln>
        </p:spPr>
        <p:txBody>
          <a:bodyPr/>
          <a:lstStyle/>
          <a:p>
            <a:endParaRPr lang="ar-EG"/>
          </a:p>
        </p:txBody>
      </p:sp>
      <p:sp>
        <p:nvSpPr>
          <p:cNvPr id="20" name="Text 18"/>
          <p:cNvSpPr/>
          <p:nvPr/>
        </p:nvSpPr>
        <p:spPr>
          <a:xfrm>
            <a:off x="5897880" y="1965960"/>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Delegated API authorization</a:t>
            </a:r>
            <a:endParaRPr lang="en-US" sz="1050" dirty="0"/>
          </a:p>
        </p:txBody>
      </p:sp>
      <p:sp>
        <p:nvSpPr>
          <p:cNvPr id="21" name="Shape 19"/>
          <p:cNvSpPr/>
          <p:nvPr/>
        </p:nvSpPr>
        <p:spPr>
          <a:xfrm>
            <a:off x="8778240" y="1965960"/>
            <a:ext cx="2971800" cy="749808"/>
          </a:xfrm>
          <a:prstGeom prst="rect">
            <a:avLst/>
          </a:prstGeom>
          <a:solidFill>
            <a:srgbClr val="FFFFFF"/>
          </a:solidFill>
          <a:ln w="9525">
            <a:solidFill>
              <a:srgbClr val="DCE1E2"/>
            </a:solidFill>
            <a:prstDash val="solid"/>
          </a:ln>
        </p:spPr>
        <p:txBody>
          <a:bodyPr/>
          <a:lstStyle/>
          <a:p>
            <a:endParaRPr lang="ar-EG"/>
          </a:p>
        </p:txBody>
      </p:sp>
      <p:sp>
        <p:nvSpPr>
          <p:cNvPr id="22" name="Text 20"/>
          <p:cNvSpPr/>
          <p:nvPr/>
        </p:nvSpPr>
        <p:spPr>
          <a:xfrm>
            <a:off x="8869680" y="1965960"/>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Authentication on top of OAuth2</a:t>
            </a:r>
            <a:endParaRPr lang="en-US" sz="1050" dirty="0"/>
          </a:p>
        </p:txBody>
      </p:sp>
      <p:sp>
        <p:nvSpPr>
          <p:cNvPr id="23" name="Shape 21"/>
          <p:cNvSpPr/>
          <p:nvPr/>
        </p:nvSpPr>
        <p:spPr>
          <a:xfrm>
            <a:off x="502920" y="2715768"/>
            <a:ext cx="2331720" cy="749808"/>
          </a:xfrm>
          <a:prstGeom prst="rect">
            <a:avLst/>
          </a:prstGeom>
          <a:solidFill>
            <a:srgbClr val="F5F6F6"/>
          </a:solidFill>
          <a:ln w="9525">
            <a:solidFill>
              <a:srgbClr val="DCE1E2"/>
            </a:solidFill>
            <a:prstDash val="solid"/>
          </a:ln>
        </p:spPr>
        <p:txBody>
          <a:bodyPr/>
          <a:lstStyle/>
          <a:p>
            <a:endParaRPr lang="ar-EG"/>
          </a:p>
        </p:txBody>
      </p:sp>
      <p:sp>
        <p:nvSpPr>
          <p:cNvPr id="24" name="Text 22"/>
          <p:cNvSpPr/>
          <p:nvPr/>
        </p:nvSpPr>
        <p:spPr>
          <a:xfrm>
            <a:off x="594360" y="2715768"/>
            <a:ext cx="2148840" cy="749808"/>
          </a:xfrm>
          <a:prstGeom prst="rect">
            <a:avLst/>
          </a:prstGeom>
          <a:noFill/>
        </p:spPr>
        <p:txBody>
          <a:bodyPr wrap="square" rtlCol="0" anchor="ctr"/>
          <a:lstStyle/>
          <a:p>
            <a:pPr marL="0" indent="0" algn="l">
              <a:lnSpc>
                <a:spcPts val="1200"/>
              </a:lnSpc>
              <a:buNone/>
            </a:pPr>
            <a:r>
              <a:rPr lang="en-US" sz="1050" b="1" dirty="0">
                <a:solidFill>
                  <a:srgbClr val="2B2D2F"/>
                </a:solidFill>
                <a:latin typeface="Calibri" panose="020F0502020204030204" pitchFamily="34" charset="0"/>
                <a:ea typeface="Calibri" panose="020F0502020204030204" pitchFamily="34" charset="-122"/>
                <a:cs typeface="Calibri" panose="020F0502020204030204" pitchFamily="34" charset="-120"/>
              </a:rPr>
              <a:t>Token format</a:t>
            </a:r>
            <a:endParaRPr lang="en-US" sz="1050" dirty="0"/>
          </a:p>
        </p:txBody>
      </p:sp>
      <p:sp>
        <p:nvSpPr>
          <p:cNvPr id="25" name="Shape 23"/>
          <p:cNvSpPr/>
          <p:nvPr/>
        </p:nvSpPr>
        <p:spPr>
          <a:xfrm>
            <a:off x="2834640" y="2715768"/>
            <a:ext cx="2971800" cy="749808"/>
          </a:xfrm>
          <a:prstGeom prst="rect">
            <a:avLst/>
          </a:prstGeom>
          <a:solidFill>
            <a:srgbClr val="F5F6F6"/>
          </a:solidFill>
          <a:ln w="9525">
            <a:solidFill>
              <a:srgbClr val="DCE1E2"/>
            </a:solidFill>
            <a:prstDash val="solid"/>
          </a:ln>
        </p:spPr>
        <p:txBody>
          <a:bodyPr/>
          <a:lstStyle/>
          <a:p>
            <a:endParaRPr lang="ar-EG"/>
          </a:p>
        </p:txBody>
      </p:sp>
      <p:sp>
        <p:nvSpPr>
          <p:cNvPr id="26" name="Text 24"/>
          <p:cNvSpPr/>
          <p:nvPr/>
        </p:nvSpPr>
        <p:spPr>
          <a:xfrm>
            <a:off x="2926080" y="2715768"/>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XML assertion</a:t>
            </a:r>
            <a:endParaRPr lang="en-US" sz="1050" dirty="0"/>
          </a:p>
        </p:txBody>
      </p:sp>
      <p:sp>
        <p:nvSpPr>
          <p:cNvPr id="27" name="Shape 25"/>
          <p:cNvSpPr/>
          <p:nvPr/>
        </p:nvSpPr>
        <p:spPr>
          <a:xfrm>
            <a:off x="5806440" y="2715768"/>
            <a:ext cx="2971800" cy="749808"/>
          </a:xfrm>
          <a:prstGeom prst="rect">
            <a:avLst/>
          </a:prstGeom>
          <a:solidFill>
            <a:srgbClr val="F5F6F6"/>
          </a:solidFill>
          <a:ln w="9525">
            <a:solidFill>
              <a:srgbClr val="DCE1E2"/>
            </a:solidFill>
            <a:prstDash val="solid"/>
          </a:ln>
        </p:spPr>
        <p:txBody>
          <a:bodyPr/>
          <a:lstStyle/>
          <a:p>
            <a:endParaRPr lang="ar-EG"/>
          </a:p>
        </p:txBody>
      </p:sp>
      <p:sp>
        <p:nvSpPr>
          <p:cNvPr id="28" name="Text 26"/>
          <p:cNvSpPr/>
          <p:nvPr/>
        </p:nvSpPr>
        <p:spPr>
          <a:xfrm>
            <a:off x="5897880" y="2715768"/>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Access token </a:t>
            </a:r>
            <a:endParaRPr lang="en-US" sz="1050" dirty="0"/>
          </a:p>
        </p:txBody>
      </p:sp>
      <p:sp>
        <p:nvSpPr>
          <p:cNvPr id="29" name="Shape 27"/>
          <p:cNvSpPr/>
          <p:nvPr/>
        </p:nvSpPr>
        <p:spPr>
          <a:xfrm>
            <a:off x="8778240" y="2715768"/>
            <a:ext cx="2971800" cy="749808"/>
          </a:xfrm>
          <a:prstGeom prst="rect">
            <a:avLst/>
          </a:prstGeom>
          <a:solidFill>
            <a:srgbClr val="F5F6F6"/>
          </a:solidFill>
          <a:ln w="9525">
            <a:solidFill>
              <a:srgbClr val="DCE1E2"/>
            </a:solidFill>
            <a:prstDash val="solid"/>
          </a:ln>
        </p:spPr>
        <p:txBody>
          <a:bodyPr/>
          <a:lstStyle/>
          <a:p>
            <a:endParaRPr lang="ar-EG"/>
          </a:p>
        </p:txBody>
      </p:sp>
      <p:sp>
        <p:nvSpPr>
          <p:cNvPr id="30" name="Text 28"/>
          <p:cNvSpPr/>
          <p:nvPr/>
        </p:nvSpPr>
        <p:spPr>
          <a:xfrm>
            <a:off x="8869680" y="2715768"/>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ID token </a:t>
            </a:r>
            <a:endParaRPr lang="en-US" sz="1050" dirty="0"/>
          </a:p>
        </p:txBody>
      </p:sp>
      <p:sp>
        <p:nvSpPr>
          <p:cNvPr id="31" name="Shape 29"/>
          <p:cNvSpPr/>
          <p:nvPr/>
        </p:nvSpPr>
        <p:spPr>
          <a:xfrm>
            <a:off x="502920" y="3465576"/>
            <a:ext cx="2331720" cy="749808"/>
          </a:xfrm>
          <a:prstGeom prst="rect">
            <a:avLst/>
          </a:prstGeom>
          <a:solidFill>
            <a:srgbClr val="FFFFFF"/>
          </a:solidFill>
          <a:ln w="9525">
            <a:solidFill>
              <a:srgbClr val="DCE1E2"/>
            </a:solidFill>
            <a:prstDash val="solid"/>
          </a:ln>
        </p:spPr>
        <p:txBody>
          <a:bodyPr/>
          <a:lstStyle/>
          <a:p>
            <a:endParaRPr lang="ar-EG"/>
          </a:p>
        </p:txBody>
      </p:sp>
      <p:sp>
        <p:nvSpPr>
          <p:cNvPr id="32" name="Text 30"/>
          <p:cNvSpPr/>
          <p:nvPr/>
        </p:nvSpPr>
        <p:spPr>
          <a:xfrm>
            <a:off x="594360" y="3465576"/>
            <a:ext cx="2148840" cy="749808"/>
          </a:xfrm>
          <a:prstGeom prst="rect">
            <a:avLst/>
          </a:prstGeom>
          <a:noFill/>
        </p:spPr>
        <p:txBody>
          <a:bodyPr wrap="square" rtlCol="0" anchor="ctr"/>
          <a:lstStyle/>
          <a:p>
            <a:pPr marL="0" indent="0" algn="l">
              <a:lnSpc>
                <a:spcPts val="1200"/>
              </a:lnSpc>
              <a:buNone/>
            </a:pPr>
            <a:r>
              <a:rPr lang="en-US" sz="1050" b="1" dirty="0">
                <a:solidFill>
                  <a:srgbClr val="2B2D2F"/>
                </a:solidFill>
                <a:latin typeface="Calibri" panose="020F0502020204030204" pitchFamily="34" charset="0"/>
                <a:ea typeface="Calibri" panose="020F0502020204030204" pitchFamily="34" charset="-122"/>
                <a:cs typeface="Calibri" panose="020F0502020204030204" pitchFamily="34" charset="-120"/>
              </a:rPr>
              <a:t>Answers</a:t>
            </a:r>
            <a:endParaRPr lang="en-US" sz="1050" dirty="0"/>
          </a:p>
        </p:txBody>
      </p:sp>
      <p:sp>
        <p:nvSpPr>
          <p:cNvPr id="33" name="Shape 31"/>
          <p:cNvSpPr/>
          <p:nvPr/>
        </p:nvSpPr>
        <p:spPr>
          <a:xfrm>
            <a:off x="2834640" y="3465576"/>
            <a:ext cx="2971800" cy="749808"/>
          </a:xfrm>
          <a:prstGeom prst="rect">
            <a:avLst/>
          </a:prstGeom>
          <a:solidFill>
            <a:srgbClr val="FFFFFF"/>
          </a:solidFill>
          <a:ln w="9525">
            <a:solidFill>
              <a:srgbClr val="DCE1E2"/>
            </a:solidFill>
            <a:prstDash val="solid"/>
          </a:ln>
        </p:spPr>
        <p:txBody>
          <a:bodyPr/>
          <a:lstStyle/>
          <a:p>
            <a:endParaRPr lang="ar-EG"/>
          </a:p>
        </p:txBody>
      </p:sp>
      <p:sp>
        <p:nvSpPr>
          <p:cNvPr id="34" name="Text 32"/>
          <p:cNvSpPr/>
          <p:nvPr/>
        </p:nvSpPr>
        <p:spPr>
          <a:xfrm>
            <a:off x="2926080" y="3465576"/>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“Is this user authenticated?”</a:t>
            </a:r>
            <a:endParaRPr lang="en-US" sz="1050" dirty="0"/>
          </a:p>
        </p:txBody>
      </p:sp>
      <p:sp>
        <p:nvSpPr>
          <p:cNvPr id="35" name="Shape 33"/>
          <p:cNvSpPr/>
          <p:nvPr/>
        </p:nvSpPr>
        <p:spPr>
          <a:xfrm>
            <a:off x="5806440" y="3465576"/>
            <a:ext cx="2971800" cy="749808"/>
          </a:xfrm>
          <a:prstGeom prst="rect">
            <a:avLst/>
          </a:prstGeom>
          <a:solidFill>
            <a:srgbClr val="FFFFFF"/>
          </a:solidFill>
          <a:ln w="9525">
            <a:solidFill>
              <a:srgbClr val="DCE1E2"/>
            </a:solidFill>
            <a:prstDash val="solid"/>
          </a:ln>
        </p:spPr>
        <p:txBody>
          <a:bodyPr/>
          <a:lstStyle/>
          <a:p>
            <a:endParaRPr lang="ar-EG"/>
          </a:p>
        </p:txBody>
      </p:sp>
      <p:sp>
        <p:nvSpPr>
          <p:cNvPr id="36" name="Text 34"/>
          <p:cNvSpPr/>
          <p:nvPr/>
        </p:nvSpPr>
        <p:spPr>
          <a:xfrm>
            <a:off x="5897880" y="3465576"/>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“Can this app access this API?”</a:t>
            </a:r>
            <a:endParaRPr lang="en-US" sz="1050" dirty="0"/>
          </a:p>
        </p:txBody>
      </p:sp>
      <p:sp>
        <p:nvSpPr>
          <p:cNvPr id="37" name="Shape 35"/>
          <p:cNvSpPr/>
          <p:nvPr/>
        </p:nvSpPr>
        <p:spPr>
          <a:xfrm>
            <a:off x="8778240" y="3465576"/>
            <a:ext cx="2971800" cy="749808"/>
          </a:xfrm>
          <a:prstGeom prst="rect">
            <a:avLst/>
          </a:prstGeom>
          <a:solidFill>
            <a:srgbClr val="FFFFFF"/>
          </a:solidFill>
          <a:ln w="9525">
            <a:solidFill>
              <a:srgbClr val="DCE1E2"/>
            </a:solidFill>
            <a:prstDash val="solid"/>
          </a:ln>
        </p:spPr>
        <p:txBody>
          <a:bodyPr/>
          <a:lstStyle/>
          <a:p>
            <a:endParaRPr lang="ar-EG"/>
          </a:p>
        </p:txBody>
      </p:sp>
      <p:sp>
        <p:nvSpPr>
          <p:cNvPr id="38" name="Text 36"/>
          <p:cNvSpPr/>
          <p:nvPr/>
        </p:nvSpPr>
        <p:spPr>
          <a:xfrm>
            <a:off x="8869680" y="3465576"/>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“Who is this user?”</a:t>
            </a:r>
            <a:endParaRPr lang="en-US" sz="1050" dirty="0"/>
          </a:p>
        </p:txBody>
      </p:sp>
      <p:sp>
        <p:nvSpPr>
          <p:cNvPr id="39" name="Shape 37"/>
          <p:cNvSpPr/>
          <p:nvPr/>
        </p:nvSpPr>
        <p:spPr>
          <a:xfrm>
            <a:off x="502920" y="4215384"/>
            <a:ext cx="2331720" cy="749808"/>
          </a:xfrm>
          <a:prstGeom prst="rect">
            <a:avLst/>
          </a:prstGeom>
          <a:solidFill>
            <a:srgbClr val="F5F6F6"/>
          </a:solidFill>
          <a:ln w="9525">
            <a:solidFill>
              <a:srgbClr val="DCE1E2"/>
            </a:solidFill>
            <a:prstDash val="solid"/>
          </a:ln>
        </p:spPr>
        <p:txBody>
          <a:bodyPr/>
          <a:lstStyle/>
          <a:p>
            <a:endParaRPr lang="ar-EG"/>
          </a:p>
        </p:txBody>
      </p:sp>
      <p:sp>
        <p:nvSpPr>
          <p:cNvPr id="40" name="Text 38"/>
          <p:cNvSpPr/>
          <p:nvPr/>
        </p:nvSpPr>
        <p:spPr>
          <a:xfrm>
            <a:off x="594360" y="4215384"/>
            <a:ext cx="2148840" cy="749808"/>
          </a:xfrm>
          <a:prstGeom prst="rect">
            <a:avLst/>
          </a:prstGeom>
          <a:noFill/>
        </p:spPr>
        <p:txBody>
          <a:bodyPr wrap="square" rtlCol="0" anchor="ctr"/>
          <a:lstStyle/>
          <a:p>
            <a:pPr marL="0" indent="0" algn="l">
              <a:lnSpc>
                <a:spcPts val="1200"/>
              </a:lnSpc>
              <a:buNone/>
            </a:pPr>
            <a:r>
              <a:rPr lang="en-US" sz="1050" b="1" dirty="0">
                <a:solidFill>
                  <a:srgbClr val="2B2D2F"/>
                </a:solidFill>
                <a:latin typeface="Calibri" panose="020F0502020204030204" pitchFamily="34" charset="0"/>
                <a:ea typeface="Calibri" panose="020F0502020204030204" pitchFamily="34" charset="-122"/>
                <a:cs typeface="Calibri" panose="020F0502020204030204" pitchFamily="34" charset="-120"/>
              </a:rPr>
              <a:t>Typical use</a:t>
            </a:r>
            <a:endParaRPr lang="en-US" sz="1050" dirty="0"/>
          </a:p>
        </p:txBody>
      </p:sp>
      <p:sp>
        <p:nvSpPr>
          <p:cNvPr id="41" name="Shape 39"/>
          <p:cNvSpPr/>
          <p:nvPr/>
        </p:nvSpPr>
        <p:spPr>
          <a:xfrm>
            <a:off x="2834640" y="4215384"/>
            <a:ext cx="2971800" cy="749808"/>
          </a:xfrm>
          <a:prstGeom prst="rect">
            <a:avLst/>
          </a:prstGeom>
          <a:solidFill>
            <a:srgbClr val="F5F6F6"/>
          </a:solidFill>
          <a:ln w="9525">
            <a:solidFill>
              <a:srgbClr val="DCE1E2"/>
            </a:solidFill>
            <a:prstDash val="solid"/>
          </a:ln>
        </p:spPr>
        <p:txBody>
          <a:bodyPr/>
          <a:lstStyle/>
          <a:p>
            <a:endParaRPr lang="ar-EG"/>
          </a:p>
        </p:txBody>
      </p:sp>
      <p:sp>
        <p:nvSpPr>
          <p:cNvPr id="42" name="Text 40"/>
          <p:cNvSpPr/>
          <p:nvPr/>
        </p:nvSpPr>
        <p:spPr>
          <a:xfrm>
            <a:off x="2926080" y="4215384"/>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Legacy enterprise apps, B2B SSO</a:t>
            </a:r>
            <a:endParaRPr lang="en-US" sz="1050" dirty="0"/>
          </a:p>
        </p:txBody>
      </p:sp>
      <p:sp>
        <p:nvSpPr>
          <p:cNvPr id="43" name="Shape 41"/>
          <p:cNvSpPr/>
          <p:nvPr/>
        </p:nvSpPr>
        <p:spPr>
          <a:xfrm>
            <a:off x="5806440" y="4215384"/>
            <a:ext cx="2971800" cy="749808"/>
          </a:xfrm>
          <a:prstGeom prst="rect">
            <a:avLst/>
          </a:prstGeom>
          <a:solidFill>
            <a:srgbClr val="F5F6F6"/>
          </a:solidFill>
          <a:ln w="9525">
            <a:solidFill>
              <a:srgbClr val="DCE1E2"/>
            </a:solidFill>
            <a:prstDash val="solid"/>
          </a:ln>
        </p:spPr>
        <p:txBody>
          <a:bodyPr/>
          <a:lstStyle/>
          <a:p>
            <a:endParaRPr lang="ar-EG"/>
          </a:p>
        </p:txBody>
      </p:sp>
      <p:sp>
        <p:nvSpPr>
          <p:cNvPr id="44" name="Text 42"/>
          <p:cNvSpPr/>
          <p:nvPr/>
        </p:nvSpPr>
        <p:spPr>
          <a:xfrm>
            <a:off x="5897880" y="4215384"/>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Third-party API access (delegated)</a:t>
            </a:r>
            <a:endParaRPr lang="en-US" sz="1050" dirty="0"/>
          </a:p>
        </p:txBody>
      </p:sp>
      <p:sp>
        <p:nvSpPr>
          <p:cNvPr id="45" name="Shape 43"/>
          <p:cNvSpPr/>
          <p:nvPr/>
        </p:nvSpPr>
        <p:spPr>
          <a:xfrm>
            <a:off x="8778240" y="4215384"/>
            <a:ext cx="2971800" cy="749808"/>
          </a:xfrm>
          <a:prstGeom prst="rect">
            <a:avLst/>
          </a:prstGeom>
          <a:solidFill>
            <a:srgbClr val="F5F6F6"/>
          </a:solidFill>
          <a:ln w="9525">
            <a:solidFill>
              <a:srgbClr val="DCE1E2"/>
            </a:solidFill>
            <a:prstDash val="solid"/>
          </a:ln>
        </p:spPr>
        <p:txBody>
          <a:bodyPr/>
          <a:lstStyle/>
          <a:p>
            <a:endParaRPr lang="ar-EG"/>
          </a:p>
        </p:txBody>
      </p:sp>
      <p:sp>
        <p:nvSpPr>
          <p:cNvPr id="46" name="Text 44"/>
          <p:cNvSpPr/>
          <p:nvPr/>
        </p:nvSpPr>
        <p:spPr>
          <a:xfrm>
            <a:off x="8869680" y="4215384"/>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Modern web &amp; mobile login (“Sign in with…”)</a:t>
            </a:r>
            <a:endParaRPr lang="en-US" sz="1050" dirty="0"/>
          </a:p>
        </p:txBody>
      </p:sp>
      <p:sp>
        <p:nvSpPr>
          <p:cNvPr id="47" name="Shape 45"/>
          <p:cNvSpPr/>
          <p:nvPr/>
        </p:nvSpPr>
        <p:spPr>
          <a:xfrm>
            <a:off x="502920" y="4965192"/>
            <a:ext cx="2331720" cy="749808"/>
          </a:xfrm>
          <a:prstGeom prst="rect">
            <a:avLst/>
          </a:prstGeom>
          <a:solidFill>
            <a:srgbClr val="FFFFFF"/>
          </a:solidFill>
          <a:ln w="9525">
            <a:solidFill>
              <a:srgbClr val="DCE1E2"/>
            </a:solidFill>
            <a:prstDash val="solid"/>
          </a:ln>
        </p:spPr>
        <p:txBody>
          <a:bodyPr/>
          <a:lstStyle/>
          <a:p>
            <a:endParaRPr lang="ar-EG"/>
          </a:p>
        </p:txBody>
      </p:sp>
      <p:sp>
        <p:nvSpPr>
          <p:cNvPr id="48" name="Text 46"/>
          <p:cNvSpPr/>
          <p:nvPr/>
        </p:nvSpPr>
        <p:spPr>
          <a:xfrm>
            <a:off x="594360" y="4965192"/>
            <a:ext cx="2148840" cy="749808"/>
          </a:xfrm>
          <a:prstGeom prst="rect">
            <a:avLst/>
          </a:prstGeom>
          <a:noFill/>
        </p:spPr>
        <p:txBody>
          <a:bodyPr wrap="square" rtlCol="0" anchor="ctr"/>
          <a:lstStyle/>
          <a:p>
            <a:pPr marL="0" indent="0" algn="l">
              <a:lnSpc>
                <a:spcPts val="1200"/>
              </a:lnSpc>
              <a:buNone/>
            </a:pPr>
            <a:r>
              <a:rPr lang="en-US" sz="1050" b="1" dirty="0">
                <a:solidFill>
                  <a:srgbClr val="2B2D2F"/>
                </a:solidFill>
                <a:latin typeface="Calibri" panose="020F0502020204030204" pitchFamily="34" charset="0"/>
                <a:ea typeface="Calibri" panose="020F0502020204030204" pitchFamily="34" charset="-122"/>
                <a:cs typeface="Calibri" panose="020F0502020204030204" pitchFamily="34" charset="-120"/>
              </a:rPr>
              <a:t>Example</a:t>
            </a:r>
            <a:endParaRPr lang="en-US" sz="1050" dirty="0"/>
          </a:p>
        </p:txBody>
      </p:sp>
      <p:sp>
        <p:nvSpPr>
          <p:cNvPr id="49" name="Shape 47"/>
          <p:cNvSpPr/>
          <p:nvPr/>
        </p:nvSpPr>
        <p:spPr>
          <a:xfrm>
            <a:off x="2834640" y="4965192"/>
            <a:ext cx="2971800" cy="749808"/>
          </a:xfrm>
          <a:prstGeom prst="rect">
            <a:avLst/>
          </a:prstGeom>
          <a:solidFill>
            <a:srgbClr val="FFFFFF"/>
          </a:solidFill>
          <a:ln w="9525">
            <a:solidFill>
              <a:srgbClr val="DCE1E2"/>
            </a:solidFill>
            <a:prstDash val="solid"/>
          </a:ln>
        </p:spPr>
        <p:txBody>
          <a:bodyPr/>
          <a:lstStyle/>
          <a:p>
            <a:endParaRPr lang="ar-EG"/>
          </a:p>
        </p:txBody>
      </p:sp>
      <p:sp>
        <p:nvSpPr>
          <p:cNvPr id="50" name="Text 48"/>
          <p:cNvSpPr/>
          <p:nvPr/>
        </p:nvSpPr>
        <p:spPr>
          <a:xfrm>
            <a:off x="2926080" y="4965192"/>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Okta → legacy HR portal</a:t>
            </a:r>
            <a:endParaRPr lang="en-US" sz="1050" dirty="0"/>
          </a:p>
        </p:txBody>
      </p:sp>
      <p:sp>
        <p:nvSpPr>
          <p:cNvPr id="51" name="Shape 49"/>
          <p:cNvSpPr/>
          <p:nvPr/>
        </p:nvSpPr>
        <p:spPr>
          <a:xfrm>
            <a:off x="5806440" y="4965192"/>
            <a:ext cx="2971800" cy="749808"/>
          </a:xfrm>
          <a:prstGeom prst="rect">
            <a:avLst/>
          </a:prstGeom>
          <a:solidFill>
            <a:srgbClr val="FFFFFF"/>
          </a:solidFill>
          <a:ln w="9525">
            <a:solidFill>
              <a:srgbClr val="DCE1E2"/>
            </a:solidFill>
            <a:prstDash val="solid"/>
          </a:ln>
        </p:spPr>
        <p:txBody>
          <a:bodyPr/>
          <a:lstStyle/>
          <a:p>
            <a:endParaRPr lang="ar-EG"/>
          </a:p>
        </p:txBody>
      </p:sp>
      <p:sp>
        <p:nvSpPr>
          <p:cNvPr id="52" name="Text 50"/>
          <p:cNvSpPr/>
          <p:nvPr/>
        </p:nvSpPr>
        <p:spPr>
          <a:xfrm>
            <a:off x="5897880" y="4965192"/>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App accessing Google Drive API</a:t>
            </a:r>
            <a:endParaRPr lang="en-US" sz="1050" dirty="0"/>
          </a:p>
        </p:txBody>
      </p:sp>
      <p:sp>
        <p:nvSpPr>
          <p:cNvPr id="53" name="Shape 51"/>
          <p:cNvSpPr/>
          <p:nvPr/>
        </p:nvSpPr>
        <p:spPr>
          <a:xfrm>
            <a:off x="8778240" y="4965192"/>
            <a:ext cx="2971800" cy="749808"/>
          </a:xfrm>
          <a:prstGeom prst="rect">
            <a:avLst/>
          </a:prstGeom>
          <a:solidFill>
            <a:srgbClr val="FFFFFF"/>
          </a:solidFill>
          <a:ln w="9525">
            <a:solidFill>
              <a:srgbClr val="DCE1E2"/>
            </a:solidFill>
            <a:prstDash val="solid"/>
          </a:ln>
        </p:spPr>
        <p:txBody>
          <a:bodyPr/>
          <a:lstStyle/>
          <a:p>
            <a:endParaRPr lang="ar-EG"/>
          </a:p>
        </p:txBody>
      </p:sp>
      <p:sp>
        <p:nvSpPr>
          <p:cNvPr id="54" name="Text 52"/>
          <p:cNvSpPr/>
          <p:nvPr/>
        </p:nvSpPr>
        <p:spPr>
          <a:xfrm>
            <a:off x="8869680" y="4965192"/>
            <a:ext cx="2788920" cy="749808"/>
          </a:xfrm>
          <a:prstGeom prst="rect">
            <a:avLst/>
          </a:prstGeom>
          <a:noFill/>
        </p:spPr>
        <p:txBody>
          <a:bodyPr wrap="square" rtlCol="0" anchor="ctr"/>
          <a:lstStyle/>
          <a:p>
            <a:pPr marL="0" indent="0" algn="ctr">
              <a:lnSpc>
                <a:spcPts val="1200"/>
              </a:lnSpc>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“Sign in with Google/Microsoft”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IAM COMPONENTS</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2 · AUTHENTICATION FLOW</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OAuth 2.0 / OIDC — Authorization Code Flow</a:t>
            </a:r>
            <a:endParaRPr lang="en-US" sz="3000" dirty="0"/>
          </a:p>
        </p:txBody>
      </p:sp>
      <p:sp>
        <p:nvSpPr>
          <p:cNvPr id="7" name="Shape 5"/>
          <p:cNvSpPr/>
          <p:nvPr/>
        </p:nvSpPr>
        <p:spPr>
          <a:xfrm>
            <a:off x="502920" y="1508760"/>
            <a:ext cx="2286000" cy="960120"/>
          </a:xfrm>
          <a:prstGeom prst="roundRect">
            <a:avLst>
              <a:gd name="adj" fmla="val 6667"/>
            </a:avLst>
          </a:prstGeom>
          <a:solidFill>
            <a:srgbClr val="FFFFFF"/>
          </a:solidFill>
          <a:ln w="12700">
            <a:solidFill>
              <a:srgbClr val="DCE1E2"/>
            </a:solidFill>
            <a:prstDash val="solid"/>
          </a:ln>
        </p:spPr>
        <p:txBody>
          <a:bodyPr/>
          <a:lstStyle/>
          <a:p>
            <a:endParaRPr lang="ar-EG"/>
          </a:p>
        </p:txBody>
      </p:sp>
      <p:pic>
        <p:nvPicPr>
          <p:cNvPr id="8" name="Image 0" descr="/home/claude/deck/icons/user_tie_char.png"/>
          <p:cNvPicPr>
            <a:picLocks noChangeAspect="1"/>
          </p:cNvPicPr>
          <p:nvPr/>
        </p:nvPicPr>
        <p:blipFill>
          <a:blip r:embed="rId3"/>
          <a:stretch>
            <a:fillRect/>
          </a:stretch>
        </p:blipFill>
        <p:spPr>
          <a:xfrm>
            <a:off x="640080" y="1709928"/>
            <a:ext cx="548640" cy="548640"/>
          </a:xfrm>
          <a:prstGeom prst="rect">
            <a:avLst/>
          </a:prstGeom>
        </p:spPr>
      </p:pic>
      <p:sp>
        <p:nvSpPr>
          <p:cNvPr id="9" name="Text 6"/>
          <p:cNvSpPr/>
          <p:nvPr/>
        </p:nvSpPr>
        <p:spPr>
          <a:xfrm>
            <a:off x="1280160" y="1508760"/>
            <a:ext cx="1371600" cy="960120"/>
          </a:xfrm>
          <a:prstGeom prst="rect">
            <a:avLst/>
          </a:prstGeom>
          <a:noFill/>
        </p:spPr>
        <p:txBody>
          <a:bodyPr wrap="square" rtlCol="0" anchor="ctr"/>
          <a:lstStyle/>
          <a:p>
            <a:pPr marL="0" indent="0">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User</a:t>
            </a:r>
            <a:endParaRPr lang="en-US" sz="1200" dirty="0"/>
          </a:p>
        </p:txBody>
      </p:sp>
      <p:sp>
        <p:nvSpPr>
          <p:cNvPr id="10" name="Shape 7"/>
          <p:cNvSpPr/>
          <p:nvPr/>
        </p:nvSpPr>
        <p:spPr>
          <a:xfrm>
            <a:off x="3489960" y="1508760"/>
            <a:ext cx="2286000" cy="960120"/>
          </a:xfrm>
          <a:prstGeom prst="roundRect">
            <a:avLst>
              <a:gd name="adj" fmla="val 6667"/>
            </a:avLst>
          </a:prstGeom>
          <a:solidFill>
            <a:srgbClr val="FFFFFF"/>
          </a:solidFill>
          <a:ln w="12700">
            <a:solidFill>
              <a:srgbClr val="DCE1E2"/>
            </a:solidFill>
            <a:prstDash val="solid"/>
          </a:ln>
        </p:spPr>
        <p:txBody>
          <a:bodyPr/>
          <a:lstStyle/>
          <a:p>
            <a:endParaRPr lang="ar-EG"/>
          </a:p>
        </p:txBody>
      </p:sp>
      <p:pic>
        <p:nvPicPr>
          <p:cNvPr id="11" name="Image 1" descr="/home/claude/deck/icons/laptop_char.png"/>
          <p:cNvPicPr>
            <a:picLocks noChangeAspect="1"/>
          </p:cNvPicPr>
          <p:nvPr/>
        </p:nvPicPr>
        <p:blipFill>
          <a:blip r:embed="rId4"/>
          <a:stretch>
            <a:fillRect/>
          </a:stretch>
        </p:blipFill>
        <p:spPr>
          <a:xfrm>
            <a:off x="3627120" y="1709928"/>
            <a:ext cx="548640" cy="548640"/>
          </a:xfrm>
          <a:prstGeom prst="rect">
            <a:avLst/>
          </a:prstGeom>
        </p:spPr>
      </p:pic>
      <p:sp>
        <p:nvSpPr>
          <p:cNvPr id="12" name="Text 8"/>
          <p:cNvSpPr/>
          <p:nvPr/>
        </p:nvSpPr>
        <p:spPr>
          <a:xfrm>
            <a:off x="4267200" y="1508760"/>
            <a:ext cx="1371600" cy="960120"/>
          </a:xfrm>
          <a:prstGeom prst="rect">
            <a:avLst/>
          </a:prstGeom>
          <a:noFill/>
        </p:spPr>
        <p:txBody>
          <a:bodyPr wrap="square" rtlCol="0" anchor="ctr"/>
          <a:lstStyle/>
          <a:p>
            <a:pPr marL="0" indent="0">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Client App</a:t>
            </a:r>
            <a:endParaRPr lang="en-US" sz="1200" dirty="0"/>
          </a:p>
        </p:txBody>
      </p:sp>
      <p:sp>
        <p:nvSpPr>
          <p:cNvPr id="13" name="Shape 9"/>
          <p:cNvSpPr/>
          <p:nvPr/>
        </p:nvSpPr>
        <p:spPr>
          <a:xfrm>
            <a:off x="6477000" y="1508760"/>
            <a:ext cx="2286000" cy="960120"/>
          </a:xfrm>
          <a:prstGeom prst="roundRect">
            <a:avLst>
              <a:gd name="adj" fmla="val 6667"/>
            </a:avLst>
          </a:prstGeom>
          <a:solidFill>
            <a:srgbClr val="FFFFFF"/>
          </a:solidFill>
          <a:ln w="12700">
            <a:solidFill>
              <a:srgbClr val="DCE1E2"/>
            </a:solidFill>
            <a:prstDash val="solid"/>
          </a:ln>
        </p:spPr>
        <p:txBody>
          <a:bodyPr/>
          <a:lstStyle/>
          <a:p>
            <a:endParaRPr lang="ar-EG"/>
          </a:p>
        </p:txBody>
      </p:sp>
      <p:pic>
        <p:nvPicPr>
          <p:cNvPr id="14" name="Image 2" descr="/home/claude/deck/icons/key_teal.png"/>
          <p:cNvPicPr>
            <a:picLocks noChangeAspect="1"/>
          </p:cNvPicPr>
          <p:nvPr/>
        </p:nvPicPr>
        <p:blipFill>
          <a:blip r:embed="rId5"/>
          <a:stretch>
            <a:fillRect/>
          </a:stretch>
        </p:blipFill>
        <p:spPr>
          <a:xfrm>
            <a:off x="6614160" y="1709928"/>
            <a:ext cx="548640" cy="548640"/>
          </a:xfrm>
          <a:prstGeom prst="rect">
            <a:avLst/>
          </a:prstGeom>
        </p:spPr>
      </p:pic>
      <p:sp>
        <p:nvSpPr>
          <p:cNvPr id="15" name="Text 10"/>
          <p:cNvSpPr/>
          <p:nvPr/>
        </p:nvSpPr>
        <p:spPr>
          <a:xfrm>
            <a:off x="7254240" y="1508760"/>
            <a:ext cx="1371600" cy="960120"/>
          </a:xfrm>
          <a:prstGeom prst="rect">
            <a:avLst/>
          </a:prstGeom>
          <a:noFill/>
        </p:spPr>
        <p:txBody>
          <a:bodyPr wrap="square" rtlCol="0" anchor="ctr"/>
          <a:lstStyle/>
          <a:p>
            <a:pPr marL="0" indent="0">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Authorization</a:t>
            </a:r>
            <a:endParaRPr lang="en-US" sz="1200" dirty="0"/>
          </a:p>
          <a:p>
            <a:pPr marL="0" indent="0">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Server (IdP)</a:t>
            </a:r>
            <a:endParaRPr lang="en-US" sz="1200" dirty="0"/>
          </a:p>
        </p:txBody>
      </p:sp>
      <p:sp>
        <p:nvSpPr>
          <p:cNvPr id="16" name="Shape 11"/>
          <p:cNvSpPr/>
          <p:nvPr/>
        </p:nvSpPr>
        <p:spPr>
          <a:xfrm>
            <a:off x="9464040" y="1508760"/>
            <a:ext cx="2286000" cy="960120"/>
          </a:xfrm>
          <a:prstGeom prst="roundRect">
            <a:avLst>
              <a:gd name="adj" fmla="val 6667"/>
            </a:avLst>
          </a:prstGeom>
          <a:solidFill>
            <a:srgbClr val="FFFFFF"/>
          </a:solidFill>
          <a:ln w="12700">
            <a:solidFill>
              <a:srgbClr val="DCE1E2"/>
            </a:solidFill>
            <a:prstDash val="solid"/>
          </a:ln>
        </p:spPr>
        <p:txBody>
          <a:bodyPr/>
          <a:lstStyle/>
          <a:p>
            <a:endParaRPr lang="ar-EG"/>
          </a:p>
        </p:txBody>
      </p:sp>
      <p:pic>
        <p:nvPicPr>
          <p:cNvPr id="17" name="Image 3" descr="/home/claude/deck/icons/server_teal.png"/>
          <p:cNvPicPr>
            <a:picLocks noChangeAspect="1"/>
          </p:cNvPicPr>
          <p:nvPr/>
        </p:nvPicPr>
        <p:blipFill>
          <a:blip r:embed="rId6"/>
          <a:stretch>
            <a:fillRect/>
          </a:stretch>
        </p:blipFill>
        <p:spPr>
          <a:xfrm>
            <a:off x="9601200" y="1709928"/>
            <a:ext cx="548640" cy="548640"/>
          </a:xfrm>
          <a:prstGeom prst="rect">
            <a:avLst/>
          </a:prstGeom>
        </p:spPr>
      </p:pic>
      <p:sp>
        <p:nvSpPr>
          <p:cNvPr id="18" name="Text 12"/>
          <p:cNvSpPr/>
          <p:nvPr/>
        </p:nvSpPr>
        <p:spPr>
          <a:xfrm>
            <a:off x="10241280" y="1508760"/>
            <a:ext cx="1371600" cy="960120"/>
          </a:xfrm>
          <a:prstGeom prst="rect">
            <a:avLst/>
          </a:prstGeom>
          <a:noFill/>
        </p:spPr>
        <p:txBody>
          <a:bodyPr wrap="square" rtlCol="0" anchor="ctr"/>
          <a:lstStyle/>
          <a:p>
            <a:pPr marL="0" indent="0">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Resource</a:t>
            </a:r>
            <a:endParaRPr lang="en-US" sz="1200" dirty="0"/>
          </a:p>
          <a:p>
            <a:pPr marL="0" indent="0">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Server (API)</a:t>
            </a:r>
            <a:endParaRPr lang="en-US" sz="1200" dirty="0"/>
          </a:p>
        </p:txBody>
      </p:sp>
      <p:sp>
        <p:nvSpPr>
          <p:cNvPr id="19" name="Shape 13"/>
          <p:cNvSpPr/>
          <p:nvPr/>
        </p:nvSpPr>
        <p:spPr>
          <a:xfrm>
            <a:off x="502920" y="2697480"/>
            <a:ext cx="11247120" cy="457200"/>
          </a:xfrm>
          <a:prstGeom prst="roundRect">
            <a:avLst>
              <a:gd name="adj" fmla="val 14000"/>
            </a:avLst>
          </a:prstGeom>
          <a:solidFill>
            <a:srgbClr val="F5F6F6"/>
          </a:solidFill>
          <a:ln w="12700">
            <a:solidFill>
              <a:srgbClr val="DCE1E2"/>
            </a:solidFill>
            <a:prstDash val="solid"/>
          </a:ln>
        </p:spPr>
        <p:txBody>
          <a:bodyPr/>
          <a:lstStyle/>
          <a:p>
            <a:endParaRPr lang="ar-EG"/>
          </a:p>
        </p:txBody>
      </p:sp>
      <p:sp>
        <p:nvSpPr>
          <p:cNvPr id="20" name="Text 14"/>
          <p:cNvSpPr/>
          <p:nvPr/>
        </p:nvSpPr>
        <p:spPr>
          <a:xfrm>
            <a:off x="731520" y="2697480"/>
            <a:ext cx="10789920" cy="457200"/>
          </a:xfrm>
          <a:prstGeom prst="rect">
            <a:avLst/>
          </a:prstGeom>
          <a:noFill/>
        </p:spPr>
        <p:txBody>
          <a:bodyPr wrap="square" rtlCol="0" anchor="ctr"/>
          <a:lstStyle/>
          <a:p>
            <a:pPr marL="0" indent="0">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1.  User requests to log in via the Client App</a:t>
            </a:r>
            <a:endParaRPr lang="en-US" sz="1200" dirty="0"/>
          </a:p>
        </p:txBody>
      </p:sp>
      <p:sp>
        <p:nvSpPr>
          <p:cNvPr id="21" name="Shape 15"/>
          <p:cNvSpPr/>
          <p:nvPr/>
        </p:nvSpPr>
        <p:spPr>
          <a:xfrm>
            <a:off x="502920" y="3200400"/>
            <a:ext cx="11247120" cy="457200"/>
          </a:xfrm>
          <a:prstGeom prst="roundRect">
            <a:avLst>
              <a:gd name="adj" fmla="val 14000"/>
            </a:avLst>
          </a:prstGeom>
          <a:solidFill>
            <a:srgbClr val="FFFFFF"/>
          </a:solidFill>
          <a:ln w="12700">
            <a:solidFill>
              <a:srgbClr val="DCE1E2"/>
            </a:solidFill>
            <a:prstDash val="solid"/>
          </a:ln>
        </p:spPr>
        <p:txBody>
          <a:bodyPr/>
          <a:lstStyle/>
          <a:p>
            <a:endParaRPr lang="ar-EG"/>
          </a:p>
        </p:txBody>
      </p:sp>
      <p:sp>
        <p:nvSpPr>
          <p:cNvPr id="22" name="Text 16"/>
          <p:cNvSpPr/>
          <p:nvPr/>
        </p:nvSpPr>
        <p:spPr>
          <a:xfrm>
            <a:off x="731520" y="3200400"/>
            <a:ext cx="10789920" cy="457200"/>
          </a:xfrm>
          <a:prstGeom prst="rect">
            <a:avLst/>
          </a:prstGeom>
          <a:noFill/>
        </p:spPr>
        <p:txBody>
          <a:bodyPr wrap="square" rtlCol="0" anchor="ctr"/>
          <a:lstStyle/>
          <a:p>
            <a:pPr marL="0" indent="0">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2.  Client redirects the User to the Authorization Server (IdP) login page</a:t>
            </a:r>
            <a:endParaRPr lang="en-US" sz="1200" dirty="0"/>
          </a:p>
        </p:txBody>
      </p:sp>
      <p:sp>
        <p:nvSpPr>
          <p:cNvPr id="23" name="Shape 17"/>
          <p:cNvSpPr/>
          <p:nvPr/>
        </p:nvSpPr>
        <p:spPr>
          <a:xfrm>
            <a:off x="502920" y="3703320"/>
            <a:ext cx="11247120" cy="457200"/>
          </a:xfrm>
          <a:prstGeom prst="roundRect">
            <a:avLst>
              <a:gd name="adj" fmla="val 14000"/>
            </a:avLst>
          </a:prstGeom>
          <a:solidFill>
            <a:srgbClr val="F5F6F6"/>
          </a:solidFill>
          <a:ln w="12700">
            <a:solidFill>
              <a:srgbClr val="DCE1E2"/>
            </a:solidFill>
            <a:prstDash val="solid"/>
          </a:ln>
        </p:spPr>
        <p:txBody>
          <a:bodyPr/>
          <a:lstStyle/>
          <a:p>
            <a:endParaRPr lang="ar-EG"/>
          </a:p>
        </p:txBody>
      </p:sp>
      <p:sp>
        <p:nvSpPr>
          <p:cNvPr id="24" name="Text 18"/>
          <p:cNvSpPr/>
          <p:nvPr/>
        </p:nvSpPr>
        <p:spPr>
          <a:xfrm>
            <a:off x="731520" y="3703320"/>
            <a:ext cx="10789920" cy="457200"/>
          </a:xfrm>
          <a:prstGeom prst="rect">
            <a:avLst/>
          </a:prstGeom>
          <a:noFill/>
        </p:spPr>
        <p:txBody>
          <a:bodyPr wrap="square" rtlCol="0" anchor="ctr"/>
          <a:lstStyle/>
          <a:p>
            <a:pPr marL="0" indent="0">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3.  User authenticates (credentials + MFA) and consents to requested scopes</a:t>
            </a:r>
            <a:endParaRPr lang="en-US" sz="1200" dirty="0"/>
          </a:p>
        </p:txBody>
      </p:sp>
      <p:sp>
        <p:nvSpPr>
          <p:cNvPr id="25" name="Shape 19"/>
          <p:cNvSpPr/>
          <p:nvPr/>
        </p:nvSpPr>
        <p:spPr>
          <a:xfrm>
            <a:off x="502920" y="4206240"/>
            <a:ext cx="11247120" cy="457200"/>
          </a:xfrm>
          <a:prstGeom prst="roundRect">
            <a:avLst>
              <a:gd name="adj" fmla="val 14000"/>
            </a:avLst>
          </a:prstGeom>
          <a:solidFill>
            <a:srgbClr val="FFFFFF"/>
          </a:solidFill>
          <a:ln w="12700">
            <a:solidFill>
              <a:srgbClr val="DCE1E2"/>
            </a:solidFill>
            <a:prstDash val="solid"/>
          </a:ln>
        </p:spPr>
        <p:txBody>
          <a:bodyPr/>
          <a:lstStyle/>
          <a:p>
            <a:endParaRPr lang="ar-EG"/>
          </a:p>
        </p:txBody>
      </p:sp>
      <p:sp>
        <p:nvSpPr>
          <p:cNvPr id="26" name="Text 20"/>
          <p:cNvSpPr/>
          <p:nvPr/>
        </p:nvSpPr>
        <p:spPr>
          <a:xfrm>
            <a:off x="731520" y="4206240"/>
            <a:ext cx="10789920" cy="457200"/>
          </a:xfrm>
          <a:prstGeom prst="rect">
            <a:avLst/>
          </a:prstGeom>
          <a:noFill/>
        </p:spPr>
        <p:txBody>
          <a:bodyPr wrap="square" rtlCol="0" anchor="ctr"/>
          <a:lstStyle/>
          <a:p>
            <a:pPr marL="0" indent="0">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4.  Authorization Server returns a short-lived Authorization Code to the Client</a:t>
            </a:r>
            <a:endParaRPr lang="en-US" sz="1200" dirty="0"/>
          </a:p>
        </p:txBody>
      </p:sp>
      <p:sp>
        <p:nvSpPr>
          <p:cNvPr id="27" name="Shape 21"/>
          <p:cNvSpPr/>
          <p:nvPr/>
        </p:nvSpPr>
        <p:spPr>
          <a:xfrm>
            <a:off x="502920" y="4709160"/>
            <a:ext cx="11247120" cy="457200"/>
          </a:xfrm>
          <a:prstGeom prst="roundRect">
            <a:avLst>
              <a:gd name="adj" fmla="val 14000"/>
            </a:avLst>
          </a:prstGeom>
          <a:solidFill>
            <a:srgbClr val="F5F6F6"/>
          </a:solidFill>
          <a:ln w="12700">
            <a:solidFill>
              <a:srgbClr val="DCE1E2"/>
            </a:solidFill>
            <a:prstDash val="solid"/>
          </a:ln>
        </p:spPr>
        <p:txBody>
          <a:bodyPr/>
          <a:lstStyle/>
          <a:p>
            <a:endParaRPr lang="ar-EG"/>
          </a:p>
        </p:txBody>
      </p:sp>
      <p:sp>
        <p:nvSpPr>
          <p:cNvPr id="28" name="Text 22"/>
          <p:cNvSpPr/>
          <p:nvPr/>
        </p:nvSpPr>
        <p:spPr>
          <a:xfrm>
            <a:off x="731520" y="4709160"/>
            <a:ext cx="10789920" cy="457200"/>
          </a:xfrm>
          <a:prstGeom prst="rect">
            <a:avLst/>
          </a:prstGeom>
          <a:noFill/>
        </p:spPr>
        <p:txBody>
          <a:bodyPr wrap="square" rtlCol="0" anchor="ctr"/>
          <a:lstStyle/>
          <a:p>
            <a:pPr marL="0" indent="0">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5.  Client exchanges the code for an Access Token and ID Token</a:t>
            </a:r>
            <a:endParaRPr lang="en-US" sz="1200" dirty="0"/>
          </a:p>
        </p:txBody>
      </p:sp>
      <p:sp>
        <p:nvSpPr>
          <p:cNvPr id="29" name="Shape 23"/>
          <p:cNvSpPr/>
          <p:nvPr/>
        </p:nvSpPr>
        <p:spPr>
          <a:xfrm>
            <a:off x="502920" y="5212080"/>
            <a:ext cx="11247120" cy="457200"/>
          </a:xfrm>
          <a:prstGeom prst="roundRect">
            <a:avLst>
              <a:gd name="adj" fmla="val 14000"/>
            </a:avLst>
          </a:prstGeom>
          <a:solidFill>
            <a:srgbClr val="FFFFFF"/>
          </a:solidFill>
          <a:ln w="12700">
            <a:solidFill>
              <a:srgbClr val="DCE1E2"/>
            </a:solidFill>
            <a:prstDash val="solid"/>
          </a:ln>
        </p:spPr>
        <p:txBody>
          <a:bodyPr/>
          <a:lstStyle/>
          <a:p>
            <a:endParaRPr lang="ar-EG"/>
          </a:p>
        </p:txBody>
      </p:sp>
      <p:sp>
        <p:nvSpPr>
          <p:cNvPr id="30" name="Text 24"/>
          <p:cNvSpPr/>
          <p:nvPr/>
        </p:nvSpPr>
        <p:spPr>
          <a:xfrm>
            <a:off x="731520" y="5212080"/>
            <a:ext cx="10789920" cy="457200"/>
          </a:xfrm>
          <a:prstGeom prst="rect">
            <a:avLst/>
          </a:prstGeom>
          <a:noFill/>
        </p:spPr>
        <p:txBody>
          <a:bodyPr wrap="square" rtlCol="0" anchor="ctr"/>
          <a:lstStyle/>
          <a:p>
            <a:pPr marL="0" indent="0">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6.  Client calls the Resource Server API using the Access Token </a:t>
            </a:r>
            <a:endParaRPr lang="en-US" sz="1200" dirty="0"/>
          </a:p>
        </p:txBody>
      </p:sp>
      <p:sp>
        <p:nvSpPr>
          <p:cNvPr id="31" name="Text 25"/>
          <p:cNvSpPr/>
          <p:nvPr/>
        </p:nvSpPr>
        <p:spPr>
          <a:xfrm>
            <a:off x="502920" y="5769864"/>
            <a:ext cx="11247120" cy="320040"/>
          </a:xfrm>
          <a:prstGeom prst="rect">
            <a:avLst/>
          </a:prstGeom>
          <a:noFill/>
        </p:spPr>
        <p:txBody>
          <a:bodyPr wrap="square" rtlCol="0" anchor="ctr"/>
          <a:lstStyle/>
          <a:p>
            <a:pPr marL="0" indent="0">
              <a:buNone/>
            </a:pPr>
            <a:r>
              <a:rPr lang="en-US" sz="1100" b="1" i="1" dirty="0">
                <a:solidFill>
                  <a:srgbClr val="2B2D2F"/>
                </a:solidFill>
                <a:latin typeface="Calibri" panose="020F0502020204030204" pitchFamily="34" charset="0"/>
                <a:ea typeface="Calibri" panose="020F0502020204030204" pitchFamily="34" charset="-122"/>
                <a:cs typeface="Calibri" panose="020F0502020204030204" pitchFamily="34" charset="-120"/>
              </a:rPr>
              <a:t>Key distinction: </a:t>
            </a:r>
            <a:r>
              <a:rPr lang="en-US" sz="1100" i="1" dirty="0">
                <a:solidFill>
                  <a:srgbClr val="5B6670"/>
                </a:solidFill>
                <a:latin typeface="Calibri" panose="020F0502020204030204" pitchFamily="34" charset="0"/>
                <a:ea typeface="Calibri" panose="020F0502020204030204" pitchFamily="34" charset="-122"/>
                <a:cs typeface="Calibri" panose="020F0502020204030204" pitchFamily="34" charset="-120"/>
              </a:rPr>
              <a:t>the Access Token authorizes API calls; the ID Token (OIDC, JWT format) carries the user's authenticated identity claims (sub, email, name).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9418320" y="-2377440"/>
            <a:ext cx="5943600" cy="5943600"/>
          </a:xfrm>
          <a:prstGeom prst="ellipse">
            <a:avLst/>
          </a:prstGeom>
          <a:solidFill>
            <a:srgbClr val="0E7C7B">
              <a:alpha val="15000"/>
            </a:srgbClr>
          </a:solidFill>
        </p:spPr>
        <p:txBody>
          <a:bodyPr/>
          <a:lstStyle/>
          <a:p>
            <a:endParaRPr lang="ar-EG"/>
          </a:p>
        </p:txBody>
      </p:sp>
      <p:sp>
        <p:nvSpPr>
          <p:cNvPr id="3" name="Shape 1"/>
          <p:cNvSpPr/>
          <p:nvPr/>
        </p:nvSpPr>
        <p:spPr>
          <a:xfrm>
            <a:off x="-1645920" y="4206240"/>
            <a:ext cx="4206240" cy="4206240"/>
          </a:xfrm>
          <a:prstGeom prst="ellipse">
            <a:avLst/>
          </a:prstGeom>
          <a:solidFill>
            <a:srgbClr val="E8871E">
              <a:alpha val="12000"/>
            </a:srgbClr>
          </a:solidFill>
        </p:spPr>
        <p:txBody>
          <a:bodyPr/>
          <a:lstStyle/>
          <a:p>
            <a:endParaRPr lang="ar-EG"/>
          </a:p>
        </p:txBody>
      </p:sp>
      <p:sp>
        <p:nvSpPr>
          <p:cNvPr id="4" name="Text 2"/>
          <p:cNvSpPr/>
          <p:nvPr/>
        </p:nvSpPr>
        <p:spPr>
          <a:xfrm>
            <a:off x="822960" y="2331720"/>
            <a:ext cx="5486400" cy="320040"/>
          </a:xfrm>
          <a:prstGeom prst="rect">
            <a:avLst/>
          </a:prstGeom>
          <a:noFill/>
        </p:spPr>
        <p:txBody>
          <a:bodyPr wrap="square" rtlCol="0" anchor="ctr"/>
          <a:lstStyle/>
          <a:p>
            <a:pPr marL="0" indent="0">
              <a:buNone/>
            </a:pPr>
            <a:r>
              <a:rPr lang="en-US" sz="1300" b="1" kern="0" spc="20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3 / 5</a:t>
            </a:r>
            <a:endParaRPr lang="en-US" sz="1300" dirty="0"/>
          </a:p>
        </p:txBody>
      </p:sp>
      <p:sp>
        <p:nvSpPr>
          <p:cNvPr id="5" name="Shape 3"/>
          <p:cNvSpPr/>
          <p:nvPr/>
        </p:nvSpPr>
        <p:spPr>
          <a:xfrm>
            <a:off x="8869680" y="2103120"/>
            <a:ext cx="1920240" cy="1920240"/>
          </a:xfrm>
          <a:prstGeom prst="ellipse">
            <a:avLst/>
          </a:prstGeom>
          <a:solidFill>
            <a:srgbClr val="34383A"/>
          </a:solidFill>
        </p:spPr>
        <p:txBody>
          <a:bodyPr/>
          <a:lstStyle/>
          <a:p>
            <a:endParaRPr lang="ar-EG"/>
          </a:p>
        </p:txBody>
      </p:sp>
      <p:pic>
        <p:nvPicPr>
          <p:cNvPr id="6" name="Image 0" descr="/home/claude/deck/icons/fingerprint_teal.png"/>
          <p:cNvPicPr>
            <a:picLocks noChangeAspect="1"/>
          </p:cNvPicPr>
          <p:nvPr/>
        </p:nvPicPr>
        <p:blipFill>
          <a:blip r:embed="rId3"/>
          <a:stretch>
            <a:fillRect/>
          </a:stretch>
        </p:blipFill>
        <p:spPr>
          <a:xfrm>
            <a:off x="9330538" y="2563978"/>
            <a:ext cx="998525" cy="998525"/>
          </a:xfrm>
          <a:prstGeom prst="rect">
            <a:avLst/>
          </a:prstGeom>
        </p:spPr>
      </p:pic>
      <p:sp>
        <p:nvSpPr>
          <p:cNvPr id="7" name="Text 4"/>
          <p:cNvSpPr/>
          <p:nvPr/>
        </p:nvSpPr>
        <p:spPr>
          <a:xfrm>
            <a:off x="804672" y="2697480"/>
            <a:ext cx="7680960" cy="1280160"/>
          </a:xfrm>
          <a:prstGeom prst="rect">
            <a:avLst/>
          </a:prstGeom>
          <a:noFill/>
        </p:spPr>
        <p:txBody>
          <a:bodyPr wrap="square" rtlCol="0" anchor="ctr"/>
          <a:lstStyle/>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Multi-Factor</a:t>
            </a:r>
            <a:endParaRPr lang="en-US" sz="4000" dirty="0"/>
          </a:p>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Authentication</a:t>
            </a:r>
            <a:endParaRPr lang="en-US" sz="4000" dirty="0"/>
          </a:p>
        </p:txBody>
      </p:sp>
      <p:sp>
        <p:nvSpPr>
          <p:cNvPr id="8" name="Text 5"/>
          <p:cNvSpPr/>
          <p:nvPr/>
        </p:nvSpPr>
        <p:spPr>
          <a:xfrm>
            <a:off x="822960" y="3886200"/>
            <a:ext cx="7498080" cy="731520"/>
          </a:xfrm>
          <a:prstGeom prst="rect">
            <a:avLst/>
          </a:prstGeom>
          <a:noFill/>
        </p:spPr>
        <p:txBody>
          <a:bodyPr wrap="square" rtlCol="0" anchor="ctr"/>
          <a:lstStyle/>
          <a:p>
            <a:pPr marL="0" indent="0">
              <a:lnSpc>
                <a:spcPts val="1900"/>
              </a:lnSpc>
              <a:buNone/>
            </a:pPr>
            <a:r>
              <a:rPr lang="en-US" sz="1450" i="1" dirty="0">
                <a:solidFill>
                  <a:srgbClr val="C9CFD1"/>
                </a:solidFill>
                <a:latin typeface="Calibri" panose="020F0502020204030204" pitchFamily="34" charset="0"/>
                <a:ea typeface="Calibri" panose="020F0502020204030204" pitchFamily="34" charset="-122"/>
                <a:cs typeface="Calibri" panose="020F0502020204030204" pitchFamily="34" charset="-120"/>
              </a:rPr>
              <a:t>Factors, phishing-resistant methods, and a deep dive into the MFA Fatigue attack pattern.</a:t>
            </a:r>
            <a:endParaRPr lang="en-US" sz="1450" dirty="0"/>
          </a:p>
        </p:txBody>
      </p:sp>
      <p:sp>
        <p:nvSpPr>
          <p:cNvPr id="10" name="Text 7"/>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900" dirty="0"/>
          </a:p>
        </p:txBody>
      </p:sp>
      <p:sp>
        <p:nvSpPr>
          <p:cNvPr id="11" name="Text 8"/>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3 · MFA</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MFA Factors &amp; Method Comparison</a:t>
            </a:r>
            <a:endParaRPr lang="en-US" sz="3000" dirty="0"/>
          </a:p>
        </p:txBody>
      </p:sp>
      <p:sp>
        <p:nvSpPr>
          <p:cNvPr id="7" name="Shape 5"/>
          <p:cNvSpPr/>
          <p:nvPr/>
        </p:nvSpPr>
        <p:spPr>
          <a:xfrm>
            <a:off x="502920" y="1417320"/>
            <a:ext cx="3639312" cy="1051560"/>
          </a:xfrm>
          <a:prstGeom prst="roundRect">
            <a:avLst>
              <a:gd name="adj" fmla="val 6087"/>
            </a:avLst>
          </a:prstGeom>
          <a:solidFill>
            <a:srgbClr val="F5F6F6"/>
          </a:solidFill>
          <a:ln w="12700">
            <a:solidFill>
              <a:srgbClr val="DCE1E2"/>
            </a:solidFill>
            <a:prstDash val="solid"/>
          </a:ln>
        </p:spPr>
        <p:txBody>
          <a:bodyPr/>
          <a:lstStyle/>
          <a:p>
            <a:endParaRPr lang="ar-EG"/>
          </a:p>
        </p:txBody>
      </p:sp>
      <p:sp>
        <p:nvSpPr>
          <p:cNvPr id="8" name="Shape 6"/>
          <p:cNvSpPr/>
          <p:nvPr/>
        </p:nvSpPr>
        <p:spPr>
          <a:xfrm>
            <a:off x="640080" y="1572768"/>
            <a:ext cx="731520" cy="731520"/>
          </a:xfrm>
          <a:prstGeom prst="ellipse">
            <a:avLst/>
          </a:prstGeom>
          <a:solidFill>
            <a:srgbClr val="0E7C7B"/>
          </a:solidFill>
        </p:spPr>
        <p:txBody>
          <a:bodyPr/>
          <a:lstStyle/>
          <a:p>
            <a:endParaRPr lang="ar-EG"/>
          </a:p>
        </p:txBody>
      </p:sp>
      <p:pic>
        <p:nvPicPr>
          <p:cNvPr id="9" name="Image 0" descr="/home/claude/deck/icons/key_teal.png"/>
          <p:cNvPicPr>
            <a:picLocks noChangeAspect="1"/>
          </p:cNvPicPr>
          <p:nvPr/>
        </p:nvPicPr>
        <p:blipFill>
          <a:blip r:embed="rId3"/>
          <a:stretch>
            <a:fillRect/>
          </a:stretch>
        </p:blipFill>
        <p:spPr>
          <a:xfrm>
            <a:off x="804672" y="1737360"/>
            <a:ext cx="402336" cy="402336"/>
          </a:xfrm>
          <a:prstGeom prst="rect">
            <a:avLst/>
          </a:prstGeom>
        </p:spPr>
      </p:pic>
      <p:sp>
        <p:nvSpPr>
          <p:cNvPr id="10" name="Text 7"/>
          <p:cNvSpPr/>
          <p:nvPr/>
        </p:nvSpPr>
        <p:spPr>
          <a:xfrm>
            <a:off x="1508760" y="1481328"/>
            <a:ext cx="2542032" cy="320040"/>
          </a:xfrm>
          <a:prstGeom prst="rect">
            <a:avLst/>
          </a:prstGeom>
          <a:noFill/>
        </p:spPr>
        <p:txBody>
          <a:bodyPr wrap="square" rtlCol="0" anchor="ctr"/>
          <a:lstStyle/>
          <a:p>
            <a:pPr marL="0" indent="0">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Something You Know</a:t>
            </a:r>
            <a:endParaRPr lang="en-US" sz="1250" dirty="0"/>
          </a:p>
        </p:txBody>
      </p:sp>
      <p:sp>
        <p:nvSpPr>
          <p:cNvPr id="11" name="Text 8"/>
          <p:cNvSpPr/>
          <p:nvPr/>
        </p:nvSpPr>
        <p:spPr>
          <a:xfrm>
            <a:off x="1508760" y="1801368"/>
            <a:ext cx="2542032" cy="548640"/>
          </a:xfrm>
          <a:prstGeom prst="rect">
            <a:avLst/>
          </a:prstGeom>
          <a:noFill/>
        </p:spPr>
        <p:txBody>
          <a:bodyPr wrap="square" rtlCol="0" anchor="ctr"/>
          <a:lstStyle/>
          <a:p>
            <a:pPr marL="0" indent="0">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Password, PIN</a:t>
            </a:r>
            <a:endParaRPr lang="en-US" sz="1050" dirty="0"/>
          </a:p>
        </p:txBody>
      </p:sp>
      <p:sp>
        <p:nvSpPr>
          <p:cNvPr id="12" name="Shape 9"/>
          <p:cNvSpPr/>
          <p:nvPr/>
        </p:nvSpPr>
        <p:spPr>
          <a:xfrm>
            <a:off x="4306824" y="1417320"/>
            <a:ext cx="3639312" cy="1051560"/>
          </a:xfrm>
          <a:prstGeom prst="roundRect">
            <a:avLst>
              <a:gd name="adj" fmla="val 6087"/>
            </a:avLst>
          </a:prstGeom>
          <a:solidFill>
            <a:srgbClr val="F5F6F6"/>
          </a:solidFill>
          <a:ln w="12700">
            <a:solidFill>
              <a:srgbClr val="DCE1E2"/>
            </a:solidFill>
            <a:prstDash val="solid"/>
          </a:ln>
        </p:spPr>
        <p:txBody>
          <a:bodyPr/>
          <a:lstStyle/>
          <a:p>
            <a:endParaRPr lang="ar-EG"/>
          </a:p>
        </p:txBody>
      </p:sp>
      <p:sp>
        <p:nvSpPr>
          <p:cNvPr id="13" name="Shape 10"/>
          <p:cNvSpPr/>
          <p:nvPr/>
        </p:nvSpPr>
        <p:spPr>
          <a:xfrm>
            <a:off x="4443984" y="1572768"/>
            <a:ext cx="731520" cy="731520"/>
          </a:xfrm>
          <a:prstGeom prst="ellipse">
            <a:avLst/>
          </a:prstGeom>
          <a:solidFill>
            <a:srgbClr val="0E7C7B"/>
          </a:solidFill>
        </p:spPr>
        <p:txBody>
          <a:bodyPr/>
          <a:lstStyle/>
          <a:p>
            <a:endParaRPr lang="ar-EG"/>
          </a:p>
        </p:txBody>
      </p:sp>
      <p:pic>
        <p:nvPicPr>
          <p:cNvPr id="14" name="Image 1" descr="/home/claude/deck/icons/mobile_teal.png"/>
          <p:cNvPicPr>
            <a:picLocks noChangeAspect="1"/>
          </p:cNvPicPr>
          <p:nvPr/>
        </p:nvPicPr>
        <p:blipFill>
          <a:blip r:embed="rId4"/>
          <a:stretch>
            <a:fillRect/>
          </a:stretch>
        </p:blipFill>
        <p:spPr>
          <a:xfrm>
            <a:off x="4608576" y="1737360"/>
            <a:ext cx="402336" cy="402336"/>
          </a:xfrm>
          <a:prstGeom prst="rect">
            <a:avLst/>
          </a:prstGeom>
        </p:spPr>
      </p:pic>
      <p:sp>
        <p:nvSpPr>
          <p:cNvPr id="15" name="Text 11"/>
          <p:cNvSpPr/>
          <p:nvPr/>
        </p:nvSpPr>
        <p:spPr>
          <a:xfrm>
            <a:off x="5312664" y="1481328"/>
            <a:ext cx="2542032" cy="320040"/>
          </a:xfrm>
          <a:prstGeom prst="rect">
            <a:avLst/>
          </a:prstGeom>
          <a:noFill/>
        </p:spPr>
        <p:txBody>
          <a:bodyPr wrap="square" rtlCol="0" anchor="ctr"/>
          <a:lstStyle/>
          <a:p>
            <a:pPr marL="0" indent="0">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Something You Have</a:t>
            </a:r>
            <a:endParaRPr lang="en-US" sz="1250" dirty="0"/>
          </a:p>
        </p:txBody>
      </p:sp>
      <p:sp>
        <p:nvSpPr>
          <p:cNvPr id="16" name="Text 12"/>
          <p:cNvSpPr/>
          <p:nvPr/>
        </p:nvSpPr>
        <p:spPr>
          <a:xfrm>
            <a:off x="5312664" y="1801368"/>
            <a:ext cx="2542032" cy="548640"/>
          </a:xfrm>
          <a:prstGeom prst="rect">
            <a:avLst/>
          </a:prstGeom>
          <a:noFill/>
        </p:spPr>
        <p:txBody>
          <a:bodyPr wrap="square" rtlCol="0" anchor="ctr"/>
          <a:lstStyle/>
          <a:p>
            <a:pPr marL="0" indent="0">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Phone, hardware token, smart card</a:t>
            </a:r>
            <a:endParaRPr lang="en-US" sz="1050" dirty="0"/>
          </a:p>
        </p:txBody>
      </p:sp>
      <p:sp>
        <p:nvSpPr>
          <p:cNvPr id="17" name="Shape 13"/>
          <p:cNvSpPr/>
          <p:nvPr/>
        </p:nvSpPr>
        <p:spPr>
          <a:xfrm>
            <a:off x="8110728" y="1417320"/>
            <a:ext cx="3639312" cy="1051560"/>
          </a:xfrm>
          <a:prstGeom prst="roundRect">
            <a:avLst>
              <a:gd name="adj" fmla="val 6087"/>
            </a:avLst>
          </a:prstGeom>
          <a:solidFill>
            <a:srgbClr val="F5F6F6"/>
          </a:solidFill>
          <a:ln w="12700">
            <a:solidFill>
              <a:srgbClr val="DCE1E2"/>
            </a:solidFill>
            <a:prstDash val="solid"/>
          </a:ln>
        </p:spPr>
        <p:txBody>
          <a:bodyPr/>
          <a:lstStyle/>
          <a:p>
            <a:endParaRPr lang="ar-EG"/>
          </a:p>
        </p:txBody>
      </p:sp>
      <p:sp>
        <p:nvSpPr>
          <p:cNvPr id="18" name="Shape 14"/>
          <p:cNvSpPr/>
          <p:nvPr/>
        </p:nvSpPr>
        <p:spPr>
          <a:xfrm>
            <a:off x="8247888" y="1572768"/>
            <a:ext cx="731520" cy="731520"/>
          </a:xfrm>
          <a:prstGeom prst="ellipse">
            <a:avLst/>
          </a:prstGeom>
          <a:solidFill>
            <a:srgbClr val="0E7C7B"/>
          </a:solidFill>
        </p:spPr>
        <p:txBody>
          <a:bodyPr/>
          <a:lstStyle/>
          <a:p>
            <a:endParaRPr lang="ar-EG"/>
          </a:p>
        </p:txBody>
      </p:sp>
      <p:pic>
        <p:nvPicPr>
          <p:cNvPr id="19" name="Image 2" descr="/home/claude/deck/icons/fingerprint_teal.png"/>
          <p:cNvPicPr>
            <a:picLocks noChangeAspect="1"/>
          </p:cNvPicPr>
          <p:nvPr/>
        </p:nvPicPr>
        <p:blipFill>
          <a:blip r:embed="rId5"/>
          <a:stretch>
            <a:fillRect/>
          </a:stretch>
        </p:blipFill>
        <p:spPr>
          <a:xfrm>
            <a:off x="8412480" y="1737360"/>
            <a:ext cx="402336" cy="402336"/>
          </a:xfrm>
          <a:prstGeom prst="rect">
            <a:avLst/>
          </a:prstGeom>
        </p:spPr>
      </p:pic>
      <p:sp>
        <p:nvSpPr>
          <p:cNvPr id="20" name="Text 15"/>
          <p:cNvSpPr/>
          <p:nvPr/>
        </p:nvSpPr>
        <p:spPr>
          <a:xfrm>
            <a:off x="9116568" y="1481328"/>
            <a:ext cx="2542032" cy="320040"/>
          </a:xfrm>
          <a:prstGeom prst="rect">
            <a:avLst/>
          </a:prstGeom>
          <a:noFill/>
        </p:spPr>
        <p:txBody>
          <a:bodyPr wrap="square" rtlCol="0" anchor="ctr"/>
          <a:lstStyle/>
          <a:p>
            <a:pPr marL="0" indent="0">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Something You Are</a:t>
            </a:r>
            <a:endParaRPr lang="en-US" sz="1250" dirty="0"/>
          </a:p>
        </p:txBody>
      </p:sp>
      <p:sp>
        <p:nvSpPr>
          <p:cNvPr id="21" name="Text 16"/>
          <p:cNvSpPr/>
          <p:nvPr/>
        </p:nvSpPr>
        <p:spPr>
          <a:xfrm>
            <a:off x="9116568" y="1801368"/>
            <a:ext cx="2542032" cy="548640"/>
          </a:xfrm>
          <a:prstGeom prst="rect">
            <a:avLst/>
          </a:prstGeom>
          <a:noFill/>
        </p:spPr>
        <p:txBody>
          <a:bodyPr wrap="square" rtlCol="0" anchor="ctr"/>
          <a:lstStyle/>
          <a:p>
            <a:pPr marL="0" indent="0">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Fingerprint, face, biometrics</a:t>
            </a:r>
            <a:endParaRPr lang="en-US" sz="1050" dirty="0"/>
          </a:p>
        </p:txBody>
      </p:sp>
      <p:sp>
        <p:nvSpPr>
          <p:cNvPr id="22" name="Shape 17"/>
          <p:cNvSpPr/>
          <p:nvPr/>
        </p:nvSpPr>
        <p:spPr>
          <a:xfrm>
            <a:off x="502920" y="2697480"/>
            <a:ext cx="2743200" cy="457200"/>
          </a:xfrm>
          <a:prstGeom prst="rect">
            <a:avLst/>
          </a:prstGeom>
          <a:solidFill>
            <a:srgbClr val="2B2D2F"/>
          </a:solidFill>
        </p:spPr>
        <p:txBody>
          <a:bodyPr/>
          <a:lstStyle/>
          <a:p>
            <a:endParaRPr lang="ar-EG"/>
          </a:p>
        </p:txBody>
      </p:sp>
      <p:sp>
        <p:nvSpPr>
          <p:cNvPr id="23" name="Text 18"/>
          <p:cNvSpPr/>
          <p:nvPr/>
        </p:nvSpPr>
        <p:spPr>
          <a:xfrm>
            <a:off x="594360" y="2697480"/>
            <a:ext cx="2560320" cy="45720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Method</a:t>
            </a:r>
            <a:endParaRPr lang="en-US" sz="1150" dirty="0"/>
          </a:p>
        </p:txBody>
      </p:sp>
      <p:sp>
        <p:nvSpPr>
          <p:cNvPr id="24" name="Shape 19"/>
          <p:cNvSpPr/>
          <p:nvPr/>
        </p:nvSpPr>
        <p:spPr>
          <a:xfrm>
            <a:off x="3246120" y="2697480"/>
            <a:ext cx="2606040" cy="457200"/>
          </a:xfrm>
          <a:prstGeom prst="rect">
            <a:avLst/>
          </a:prstGeom>
          <a:solidFill>
            <a:srgbClr val="2B2D2F"/>
          </a:solidFill>
        </p:spPr>
        <p:txBody>
          <a:bodyPr/>
          <a:lstStyle/>
          <a:p>
            <a:endParaRPr lang="ar-EG"/>
          </a:p>
        </p:txBody>
      </p:sp>
      <p:sp>
        <p:nvSpPr>
          <p:cNvPr id="25" name="Text 20"/>
          <p:cNvSpPr/>
          <p:nvPr/>
        </p:nvSpPr>
        <p:spPr>
          <a:xfrm>
            <a:off x="3337560" y="2697480"/>
            <a:ext cx="2423160" cy="45720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Phishing Resistant?</a:t>
            </a:r>
            <a:endParaRPr lang="en-US" sz="1150" dirty="0"/>
          </a:p>
        </p:txBody>
      </p:sp>
      <p:sp>
        <p:nvSpPr>
          <p:cNvPr id="26" name="Shape 21"/>
          <p:cNvSpPr/>
          <p:nvPr/>
        </p:nvSpPr>
        <p:spPr>
          <a:xfrm>
            <a:off x="5852160" y="2697480"/>
            <a:ext cx="2606040" cy="457200"/>
          </a:xfrm>
          <a:prstGeom prst="rect">
            <a:avLst/>
          </a:prstGeom>
          <a:solidFill>
            <a:srgbClr val="2B2D2F"/>
          </a:solidFill>
        </p:spPr>
        <p:txBody>
          <a:bodyPr/>
          <a:lstStyle/>
          <a:p>
            <a:endParaRPr lang="ar-EG"/>
          </a:p>
        </p:txBody>
      </p:sp>
      <p:sp>
        <p:nvSpPr>
          <p:cNvPr id="27" name="Text 22"/>
          <p:cNvSpPr/>
          <p:nvPr/>
        </p:nvSpPr>
        <p:spPr>
          <a:xfrm>
            <a:off x="5943600" y="2697480"/>
            <a:ext cx="2423160" cy="45720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Security Level</a:t>
            </a:r>
            <a:endParaRPr lang="en-US" sz="1150" dirty="0"/>
          </a:p>
        </p:txBody>
      </p:sp>
      <p:sp>
        <p:nvSpPr>
          <p:cNvPr id="28" name="Shape 23"/>
          <p:cNvSpPr/>
          <p:nvPr/>
        </p:nvSpPr>
        <p:spPr>
          <a:xfrm>
            <a:off x="8458200" y="2697480"/>
            <a:ext cx="3291840" cy="457200"/>
          </a:xfrm>
          <a:prstGeom prst="rect">
            <a:avLst/>
          </a:prstGeom>
          <a:solidFill>
            <a:srgbClr val="2B2D2F"/>
          </a:solidFill>
        </p:spPr>
        <p:txBody>
          <a:bodyPr/>
          <a:lstStyle/>
          <a:p>
            <a:endParaRPr lang="ar-EG"/>
          </a:p>
        </p:txBody>
      </p:sp>
      <p:sp>
        <p:nvSpPr>
          <p:cNvPr id="29" name="Text 24"/>
          <p:cNvSpPr/>
          <p:nvPr/>
        </p:nvSpPr>
        <p:spPr>
          <a:xfrm>
            <a:off x="8549640" y="2697480"/>
            <a:ext cx="3108960" cy="45720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Typical Vendor / Example</a:t>
            </a:r>
            <a:endParaRPr lang="en-US" sz="1150" dirty="0"/>
          </a:p>
        </p:txBody>
      </p:sp>
      <p:sp>
        <p:nvSpPr>
          <p:cNvPr id="30" name="Shape 25"/>
          <p:cNvSpPr/>
          <p:nvPr/>
        </p:nvSpPr>
        <p:spPr>
          <a:xfrm>
            <a:off x="502920" y="3154680"/>
            <a:ext cx="2743200" cy="530352"/>
          </a:xfrm>
          <a:prstGeom prst="rect">
            <a:avLst/>
          </a:prstGeom>
          <a:solidFill>
            <a:srgbClr val="FFFFFF"/>
          </a:solidFill>
          <a:ln w="9525">
            <a:solidFill>
              <a:srgbClr val="DCE1E2"/>
            </a:solidFill>
            <a:prstDash val="solid"/>
          </a:ln>
        </p:spPr>
        <p:txBody>
          <a:bodyPr/>
          <a:lstStyle/>
          <a:p>
            <a:endParaRPr lang="ar-EG"/>
          </a:p>
        </p:txBody>
      </p:sp>
      <p:sp>
        <p:nvSpPr>
          <p:cNvPr id="31" name="Text 26"/>
          <p:cNvSpPr/>
          <p:nvPr/>
        </p:nvSpPr>
        <p:spPr>
          <a:xfrm>
            <a:off x="594360" y="3154680"/>
            <a:ext cx="2560320" cy="530352"/>
          </a:xfrm>
          <a:prstGeom prst="rect">
            <a:avLst/>
          </a:prstGeom>
          <a:noFill/>
        </p:spPr>
        <p:txBody>
          <a:bodyPr wrap="square" rtlCol="0" anchor="ctr"/>
          <a:lstStyle/>
          <a:p>
            <a:pPr marL="0" indent="0">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SMS OTP</a:t>
            </a:r>
            <a:endParaRPr lang="en-US" sz="1100" dirty="0"/>
          </a:p>
        </p:txBody>
      </p:sp>
      <p:sp>
        <p:nvSpPr>
          <p:cNvPr id="32" name="Shape 27"/>
          <p:cNvSpPr/>
          <p:nvPr/>
        </p:nvSpPr>
        <p:spPr>
          <a:xfrm>
            <a:off x="3246120" y="3154680"/>
            <a:ext cx="2606040" cy="530352"/>
          </a:xfrm>
          <a:prstGeom prst="rect">
            <a:avLst/>
          </a:prstGeom>
          <a:solidFill>
            <a:srgbClr val="FFFFFF"/>
          </a:solidFill>
          <a:ln w="9525">
            <a:solidFill>
              <a:srgbClr val="DCE1E2"/>
            </a:solidFill>
            <a:prstDash val="solid"/>
          </a:ln>
        </p:spPr>
        <p:txBody>
          <a:bodyPr/>
          <a:lstStyle/>
          <a:p>
            <a:endParaRPr lang="ar-EG"/>
          </a:p>
        </p:txBody>
      </p:sp>
      <p:sp>
        <p:nvSpPr>
          <p:cNvPr id="33" name="Text 28"/>
          <p:cNvSpPr/>
          <p:nvPr/>
        </p:nvSpPr>
        <p:spPr>
          <a:xfrm>
            <a:off x="3337560" y="3154680"/>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No</a:t>
            </a:r>
            <a:endParaRPr lang="en-US" sz="1100" dirty="0"/>
          </a:p>
        </p:txBody>
      </p:sp>
      <p:sp>
        <p:nvSpPr>
          <p:cNvPr id="34" name="Shape 29"/>
          <p:cNvSpPr/>
          <p:nvPr/>
        </p:nvSpPr>
        <p:spPr>
          <a:xfrm>
            <a:off x="5852160" y="3154680"/>
            <a:ext cx="2606040" cy="530352"/>
          </a:xfrm>
          <a:prstGeom prst="rect">
            <a:avLst/>
          </a:prstGeom>
          <a:solidFill>
            <a:srgbClr val="FFFFFF"/>
          </a:solidFill>
          <a:ln w="9525">
            <a:solidFill>
              <a:srgbClr val="DCE1E2"/>
            </a:solidFill>
            <a:prstDash val="solid"/>
          </a:ln>
        </p:spPr>
        <p:txBody>
          <a:bodyPr/>
          <a:lstStyle/>
          <a:p>
            <a:endParaRPr lang="ar-EG"/>
          </a:p>
        </p:txBody>
      </p:sp>
      <p:sp>
        <p:nvSpPr>
          <p:cNvPr id="35" name="Text 30"/>
          <p:cNvSpPr/>
          <p:nvPr/>
        </p:nvSpPr>
        <p:spPr>
          <a:xfrm>
            <a:off x="5943600" y="3154680"/>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Low</a:t>
            </a:r>
            <a:endParaRPr lang="en-US" sz="1100" dirty="0"/>
          </a:p>
        </p:txBody>
      </p:sp>
      <p:sp>
        <p:nvSpPr>
          <p:cNvPr id="36" name="Shape 31"/>
          <p:cNvSpPr/>
          <p:nvPr/>
        </p:nvSpPr>
        <p:spPr>
          <a:xfrm>
            <a:off x="8458200" y="3154680"/>
            <a:ext cx="3291840" cy="530352"/>
          </a:xfrm>
          <a:prstGeom prst="rect">
            <a:avLst/>
          </a:prstGeom>
          <a:solidFill>
            <a:srgbClr val="FFFFFF"/>
          </a:solidFill>
          <a:ln w="9525">
            <a:solidFill>
              <a:srgbClr val="DCE1E2"/>
            </a:solidFill>
            <a:prstDash val="solid"/>
          </a:ln>
        </p:spPr>
        <p:txBody>
          <a:bodyPr/>
          <a:lstStyle/>
          <a:p>
            <a:endParaRPr lang="ar-EG"/>
          </a:p>
        </p:txBody>
      </p:sp>
      <p:sp>
        <p:nvSpPr>
          <p:cNvPr id="37" name="Text 32"/>
          <p:cNvSpPr/>
          <p:nvPr/>
        </p:nvSpPr>
        <p:spPr>
          <a:xfrm>
            <a:off x="8549640" y="3154680"/>
            <a:ext cx="31089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Carrier SMS (deprecated by NIST)</a:t>
            </a:r>
            <a:endParaRPr lang="en-US" sz="1100" dirty="0"/>
          </a:p>
        </p:txBody>
      </p:sp>
      <p:sp>
        <p:nvSpPr>
          <p:cNvPr id="38" name="Shape 33"/>
          <p:cNvSpPr/>
          <p:nvPr/>
        </p:nvSpPr>
        <p:spPr>
          <a:xfrm>
            <a:off x="502920" y="3685032"/>
            <a:ext cx="2743200" cy="530352"/>
          </a:xfrm>
          <a:prstGeom prst="rect">
            <a:avLst/>
          </a:prstGeom>
          <a:solidFill>
            <a:srgbClr val="F5F6F6"/>
          </a:solidFill>
          <a:ln w="9525">
            <a:solidFill>
              <a:srgbClr val="DCE1E2"/>
            </a:solidFill>
            <a:prstDash val="solid"/>
          </a:ln>
        </p:spPr>
        <p:txBody>
          <a:bodyPr/>
          <a:lstStyle/>
          <a:p>
            <a:endParaRPr lang="ar-EG"/>
          </a:p>
        </p:txBody>
      </p:sp>
      <p:sp>
        <p:nvSpPr>
          <p:cNvPr id="39" name="Text 34"/>
          <p:cNvSpPr/>
          <p:nvPr/>
        </p:nvSpPr>
        <p:spPr>
          <a:xfrm>
            <a:off x="594360" y="3685032"/>
            <a:ext cx="2560320" cy="530352"/>
          </a:xfrm>
          <a:prstGeom prst="rect">
            <a:avLst/>
          </a:prstGeom>
          <a:noFill/>
        </p:spPr>
        <p:txBody>
          <a:bodyPr wrap="square" rtlCol="0" anchor="ctr"/>
          <a:lstStyle/>
          <a:p>
            <a:pPr marL="0" indent="0">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TOTP App</a:t>
            </a:r>
            <a:endParaRPr lang="en-US" sz="1100" dirty="0"/>
          </a:p>
        </p:txBody>
      </p:sp>
      <p:sp>
        <p:nvSpPr>
          <p:cNvPr id="40" name="Shape 35"/>
          <p:cNvSpPr/>
          <p:nvPr/>
        </p:nvSpPr>
        <p:spPr>
          <a:xfrm>
            <a:off x="3246120" y="3685032"/>
            <a:ext cx="2606040" cy="530352"/>
          </a:xfrm>
          <a:prstGeom prst="rect">
            <a:avLst/>
          </a:prstGeom>
          <a:solidFill>
            <a:srgbClr val="F5F6F6"/>
          </a:solidFill>
          <a:ln w="9525">
            <a:solidFill>
              <a:srgbClr val="DCE1E2"/>
            </a:solidFill>
            <a:prstDash val="solid"/>
          </a:ln>
        </p:spPr>
        <p:txBody>
          <a:bodyPr/>
          <a:lstStyle/>
          <a:p>
            <a:endParaRPr lang="ar-EG"/>
          </a:p>
        </p:txBody>
      </p:sp>
      <p:sp>
        <p:nvSpPr>
          <p:cNvPr id="41" name="Text 36"/>
          <p:cNvSpPr/>
          <p:nvPr/>
        </p:nvSpPr>
        <p:spPr>
          <a:xfrm>
            <a:off x="3337560" y="3685032"/>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No</a:t>
            </a:r>
            <a:endParaRPr lang="en-US" sz="1100" dirty="0"/>
          </a:p>
        </p:txBody>
      </p:sp>
      <p:sp>
        <p:nvSpPr>
          <p:cNvPr id="42" name="Shape 37"/>
          <p:cNvSpPr/>
          <p:nvPr/>
        </p:nvSpPr>
        <p:spPr>
          <a:xfrm>
            <a:off x="5852160" y="3685032"/>
            <a:ext cx="2606040" cy="530352"/>
          </a:xfrm>
          <a:prstGeom prst="rect">
            <a:avLst/>
          </a:prstGeom>
          <a:solidFill>
            <a:srgbClr val="F5F6F6"/>
          </a:solidFill>
          <a:ln w="9525">
            <a:solidFill>
              <a:srgbClr val="DCE1E2"/>
            </a:solidFill>
            <a:prstDash val="solid"/>
          </a:ln>
        </p:spPr>
        <p:txBody>
          <a:bodyPr/>
          <a:lstStyle/>
          <a:p>
            <a:endParaRPr lang="ar-EG"/>
          </a:p>
        </p:txBody>
      </p:sp>
      <p:sp>
        <p:nvSpPr>
          <p:cNvPr id="43" name="Text 38"/>
          <p:cNvSpPr/>
          <p:nvPr/>
        </p:nvSpPr>
        <p:spPr>
          <a:xfrm>
            <a:off x="5943600" y="3685032"/>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Medium</a:t>
            </a:r>
            <a:endParaRPr lang="en-US" sz="1100" dirty="0"/>
          </a:p>
        </p:txBody>
      </p:sp>
      <p:sp>
        <p:nvSpPr>
          <p:cNvPr id="44" name="Shape 39"/>
          <p:cNvSpPr/>
          <p:nvPr/>
        </p:nvSpPr>
        <p:spPr>
          <a:xfrm>
            <a:off x="8458200" y="3685032"/>
            <a:ext cx="3291840" cy="530352"/>
          </a:xfrm>
          <a:prstGeom prst="rect">
            <a:avLst/>
          </a:prstGeom>
          <a:solidFill>
            <a:srgbClr val="F5F6F6"/>
          </a:solidFill>
          <a:ln w="9525">
            <a:solidFill>
              <a:srgbClr val="DCE1E2"/>
            </a:solidFill>
            <a:prstDash val="solid"/>
          </a:ln>
        </p:spPr>
        <p:txBody>
          <a:bodyPr/>
          <a:lstStyle/>
          <a:p>
            <a:endParaRPr lang="ar-EG"/>
          </a:p>
        </p:txBody>
      </p:sp>
      <p:sp>
        <p:nvSpPr>
          <p:cNvPr id="45" name="Text 40"/>
          <p:cNvSpPr/>
          <p:nvPr/>
        </p:nvSpPr>
        <p:spPr>
          <a:xfrm>
            <a:off x="8549640" y="3685032"/>
            <a:ext cx="31089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Google/Microsoft Authenticator</a:t>
            </a:r>
            <a:endParaRPr lang="en-US" sz="1100" dirty="0"/>
          </a:p>
        </p:txBody>
      </p:sp>
      <p:sp>
        <p:nvSpPr>
          <p:cNvPr id="46" name="Shape 41"/>
          <p:cNvSpPr/>
          <p:nvPr/>
        </p:nvSpPr>
        <p:spPr>
          <a:xfrm>
            <a:off x="502920" y="4215384"/>
            <a:ext cx="2743200" cy="530352"/>
          </a:xfrm>
          <a:prstGeom prst="rect">
            <a:avLst/>
          </a:prstGeom>
          <a:solidFill>
            <a:srgbClr val="FFFFFF"/>
          </a:solidFill>
          <a:ln w="9525">
            <a:solidFill>
              <a:srgbClr val="DCE1E2"/>
            </a:solidFill>
            <a:prstDash val="solid"/>
          </a:ln>
        </p:spPr>
        <p:txBody>
          <a:bodyPr/>
          <a:lstStyle/>
          <a:p>
            <a:endParaRPr lang="ar-EG"/>
          </a:p>
        </p:txBody>
      </p:sp>
      <p:sp>
        <p:nvSpPr>
          <p:cNvPr id="47" name="Text 42"/>
          <p:cNvSpPr/>
          <p:nvPr/>
        </p:nvSpPr>
        <p:spPr>
          <a:xfrm>
            <a:off x="594360" y="4215384"/>
            <a:ext cx="2560320" cy="530352"/>
          </a:xfrm>
          <a:prstGeom prst="rect">
            <a:avLst/>
          </a:prstGeom>
          <a:noFill/>
        </p:spPr>
        <p:txBody>
          <a:bodyPr wrap="square" rtlCol="0" anchor="ctr"/>
          <a:lstStyle/>
          <a:p>
            <a:pPr marL="0" indent="0">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Push Notification</a:t>
            </a:r>
            <a:endParaRPr lang="en-US" sz="1100" dirty="0"/>
          </a:p>
        </p:txBody>
      </p:sp>
      <p:sp>
        <p:nvSpPr>
          <p:cNvPr id="48" name="Shape 43"/>
          <p:cNvSpPr/>
          <p:nvPr/>
        </p:nvSpPr>
        <p:spPr>
          <a:xfrm>
            <a:off x="3246120" y="4215384"/>
            <a:ext cx="2606040" cy="530352"/>
          </a:xfrm>
          <a:prstGeom prst="rect">
            <a:avLst/>
          </a:prstGeom>
          <a:solidFill>
            <a:srgbClr val="FFFFFF"/>
          </a:solidFill>
          <a:ln w="9525">
            <a:solidFill>
              <a:srgbClr val="DCE1E2"/>
            </a:solidFill>
            <a:prstDash val="solid"/>
          </a:ln>
        </p:spPr>
        <p:txBody>
          <a:bodyPr/>
          <a:lstStyle/>
          <a:p>
            <a:endParaRPr lang="ar-EG"/>
          </a:p>
        </p:txBody>
      </p:sp>
      <p:sp>
        <p:nvSpPr>
          <p:cNvPr id="49" name="Text 44"/>
          <p:cNvSpPr/>
          <p:nvPr/>
        </p:nvSpPr>
        <p:spPr>
          <a:xfrm>
            <a:off x="3337560" y="4215384"/>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Partial (fatigue risk)</a:t>
            </a:r>
            <a:endParaRPr lang="en-US" sz="1100" dirty="0"/>
          </a:p>
        </p:txBody>
      </p:sp>
      <p:sp>
        <p:nvSpPr>
          <p:cNvPr id="50" name="Shape 45"/>
          <p:cNvSpPr/>
          <p:nvPr/>
        </p:nvSpPr>
        <p:spPr>
          <a:xfrm>
            <a:off x="5852160" y="4215384"/>
            <a:ext cx="2606040" cy="530352"/>
          </a:xfrm>
          <a:prstGeom prst="rect">
            <a:avLst/>
          </a:prstGeom>
          <a:solidFill>
            <a:srgbClr val="FFFFFF"/>
          </a:solidFill>
          <a:ln w="9525">
            <a:solidFill>
              <a:srgbClr val="DCE1E2"/>
            </a:solidFill>
            <a:prstDash val="solid"/>
          </a:ln>
        </p:spPr>
        <p:txBody>
          <a:bodyPr/>
          <a:lstStyle/>
          <a:p>
            <a:endParaRPr lang="ar-EG"/>
          </a:p>
        </p:txBody>
      </p:sp>
      <p:sp>
        <p:nvSpPr>
          <p:cNvPr id="51" name="Text 46"/>
          <p:cNvSpPr/>
          <p:nvPr/>
        </p:nvSpPr>
        <p:spPr>
          <a:xfrm>
            <a:off x="5943600" y="4215384"/>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Medium</a:t>
            </a:r>
            <a:endParaRPr lang="en-US" sz="1100" dirty="0"/>
          </a:p>
        </p:txBody>
      </p:sp>
      <p:sp>
        <p:nvSpPr>
          <p:cNvPr id="52" name="Shape 47"/>
          <p:cNvSpPr/>
          <p:nvPr/>
        </p:nvSpPr>
        <p:spPr>
          <a:xfrm>
            <a:off x="8458200" y="4215384"/>
            <a:ext cx="3291840" cy="530352"/>
          </a:xfrm>
          <a:prstGeom prst="rect">
            <a:avLst/>
          </a:prstGeom>
          <a:solidFill>
            <a:srgbClr val="FFFFFF"/>
          </a:solidFill>
          <a:ln w="9525">
            <a:solidFill>
              <a:srgbClr val="DCE1E2"/>
            </a:solidFill>
            <a:prstDash val="solid"/>
          </a:ln>
        </p:spPr>
        <p:txBody>
          <a:bodyPr/>
          <a:lstStyle/>
          <a:p>
            <a:endParaRPr lang="ar-EG"/>
          </a:p>
        </p:txBody>
      </p:sp>
      <p:sp>
        <p:nvSpPr>
          <p:cNvPr id="53" name="Text 48"/>
          <p:cNvSpPr/>
          <p:nvPr/>
        </p:nvSpPr>
        <p:spPr>
          <a:xfrm>
            <a:off x="8549640" y="4215384"/>
            <a:ext cx="31089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Duo Push, Okta Verify</a:t>
            </a:r>
            <a:endParaRPr lang="en-US" sz="1100" dirty="0"/>
          </a:p>
        </p:txBody>
      </p:sp>
      <p:sp>
        <p:nvSpPr>
          <p:cNvPr id="54" name="Shape 49"/>
          <p:cNvSpPr/>
          <p:nvPr/>
        </p:nvSpPr>
        <p:spPr>
          <a:xfrm>
            <a:off x="502920" y="4745736"/>
            <a:ext cx="2743200" cy="530352"/>
          </a:xfrm>
          <a:prstGeom prst="rect">
            <a:avLst/>
          </a:prstGeom>
          <a:solidFill>
            <a:srgbClr val="F5F6F6"/>
          </a:solidFill>
          <a:ln w="9525">
            <a:solidFill>
              <a:srgbClr val="DCE1E2"/>
            </a:solidFill>
            <a:prstDash val="solid"/>
          </a:ln>
        </p:spPr>
        <p:txBody>
          <a:bodyPr/>
          <a:lstStyle/>
          <a:p>
            <a:endParaRPr lang="ar-EG"/>
          </a:p>
        </p:txBody>
      </p:sp>
      <p:sp>
        <p:nvSpPr>
          <p:cNvPr id="55" name="Text 50"/>
          <p:cNvSpPr/>
          <p:nvPr/>
        </p:nvSpPr>
        <p:spPr>
          <a:xfrm>
            <a:off x="594360" y="4745736"/>
            <a:ext cx="2560320" cy="530352"/>
          </a:xfrm>
          <a:prstGeom prst="rect">
            <a:avLst/>
          </a:prstGeom>
          <a:noFill/>
        </p:spPr>
        <p:txBody>
          <a:bodyPr wrap="square" rtlCol="0" anchor="ctr"/>
          <a:lstStyle/>
          <a:p>
            <a:pPr marL="0" indent="0">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Push + Number Matching</a:t>
            </a:r>
            <a:endParaRPr lang="en-US" sz="1100" dirty="0"/>
          </a:p>
        </p:txBody>
      </p:sp>
      <p:sp>
        <p:nvSpPr>
          <p:cNvPr id="56" name="Shape 51"/>
          <p:cNvSpPr/>
          <p:nvPr/>
        </p:nvSpPr>
        <p:spPr>
          <a:xfrm>
            <a:off x="3246120" y="4745736"/>
            <a:ext cx="2606040" cy="530352"/>
          </a:xfrm>
          <a:prstGeom prst="rect">
            <a:avLst/>
          </a:prstGeom>
          <a:solidFill>
            <a:srgbClr val="F5F6F6"/>
          </a:solidFill>
          <a:ln w="9525">
            <a:solidFill>
              <a:srgbClr val="DCE1E2"/>
            </a:solidFill>
            <a:prstDash val="solid"/>
          </a:ln>
        </p:spPr>
        <p:txBody>
          <a:bodyPr/>
          <a:lstStyle/>
          <a:p>
            <a:endParaRPr lang="ar-EG"/>
          </a:p>
        </p:txBody>
      </p:sp>
      <p:sp>
        <p:nvSpPr>
          <p:cNvPr id="57" name="Text 52"/>
          <p:cNvSpPr/>
          <p:nvPr/>
        </p:nvSpPr>
        <p:spPr>
          <a:xfrm>
            <a:off x="3337560" y="4745736"/>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Improved</a:t>
            </a:r>
            <a:endParaRPr lang="en-US" sz="1100" dirty="0"/>
          </a:p>
        </p:txBody>
      </p:sp>
      <p:sp>
        <p:nvSpPr>
          <p:cNvPr id="58" name="Shape 53"/>
          <p:cNvSpPr/>
          <p:nvPr/>
        </p:nvSpPr>
        <p:spPr>
          <a:xfrm>
            <a:off x="5852160" y="4745736"/>
            <a:ext cx="2606040" cy="530352"/>
          </a:xfrm>
          <a:prstGeom prst="rect">
            <a:avLst/>
          </a:prstGeom>
          <a:solidFill>
            <a:srgbClr val="F5F6F6"/>
          </a:solidFill>
          <a:ln w="9525">
            <a:solidFill>
              <a:srgbClr val="DCE1E2"/>
            </a:solidFill>
            <a:prstDash val="solid"/>
          </a:ln>
        </p:spPr>
        <p:txBody>
          <a:bodyPr/>
          <a:lstStyle/>
          <a:p>
            <a:endParaRPr lang="ar-EG"/>
          </a:p>
        </p:txBody>
      </p:sp>
      <p:sp>
        <p:nvSpPr>
          <p:cNvPr id="59" name="Text 54"/>
          <p:cNvSpPr/>
          <p:nvPr/>
        </p:nvSpPr>
        <p:spPr>
          <a:xfrm>
            <a:off x="5943600" y="4745736"/>
            <a:ext cx="24231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Medium-High</a:t>
            </a:r>
            <a:endParaRPr lang="en-US" sz="1100" dirty="0"/>
          </a:p>
        </p:txBody>
      </p:sp>
      <p:sp>
        <p:nvSpPr>
          <p:cNvPr id="60" name="Shape 55"/>
          <p:cNvSpPr/>
          <p:nvPr/>
        </p:nvSpPr>
        <p:spPr>
          <a:xfrm>
            <a:off x="8458200" y="4745736"/>
            <a:ext cx="3291840" cy="530352"/>
          </a:xfrm>
          <a:prstGeom prst="rect">
            <a:avLst/>
          </a:prstGeom>
          <a:solidFill>
            <a:srgbClr val="F5F6F6"/>
          </a:solidFill>
          <a:ln w="9525">
            <a:solidFill>
              <a:srgbClr val="DCE1E2"/>
            </a:solidFill>
            <a:prstDash val="solid"/>
          </a:ln>
        </p:spPr>
        <p:txBody>
          <a:bodyPr/>
          <a:lstStyle/>
          <a:p>
            <a:endParaRPr lang="ar-EG"/>
          </a:p>
        </p:txBody>
      </p:sp>
      <p:sp>
        <p:nvSpPr>
          <p:cNvPr id="61" name="Text 56"/>
          <p:cNvSpPr/>
          <p:nvPr/>
        </p:nvSpPr>
        <p:spPr>
          <a:xfrm>
            <a:off x="8549640" y="4745736"/>
            <a:ext cx="3108960" cy="530352"/>
          </a:xfrm>
          <a:prstGeom prst="rect">
            <a:avLst/>
          </a:prstGeom>
          <a:noFill/>
        </p:spPr>
        <p:txBody>
          <a:bodyPr wrap="square" rtlCol="0" anchor="ctr"/>
          <a:lstStyle/>
          <a:p>
            <a:pPr marL="0" indent="0">
              <a:buNone/>
            </a:pPr>
            <a:r>
              <a:rPr lang="en-US" sz="1100" dirty="0">
                <a:solidFill>
                  <a:srgbClr val="5B6670"/>
                </a:solidFill>
                <a:latin typeface="Calibri" panose="020F0502020204030204" pitchFamily="34" charset="0"/>
                <a:ea typeface="Calibri" panose="020F0502020204030204" pitchFamily="34" charset="-122"/>
                <a:cs typeface="Calibri" panose="020F0502020204030204" pitchFamily="34" charset="-120"/>
              </a:rPr>
              <a:t>Microsoft Authenticator, Duo Verified</a:t>
            </a:r>
            <a:endParaRPr lang="en-US" sz="1100" dirty="0"/>
          </a:p>
        </p:txBody>
      </p:sp>
      <p:sp>
        <p:nvSpPr>
          <p:cNvPr id="62" name="Shape 57"/>
          <p:cNvSpPr/>
          <p:nvPr/>
        </p:nvSpPr>
        <p:spPr>
          <a:xfrm>
            <a:off x="502920" y="5276088"/>
            <a:ext cx="2743200" cy="530352"/>
          </a:xfrm>
          <a:prstGeom prst="rect">
            <a:avLst/>
          </a:prstGeom>
          <a:solidFill>
            <a:srgbClr val="E3F2F1"/>
          </a:solidFill>
          <a:ln w="9525">
            <a:solidFill>
              <a:srgbClr val="DCE1E2"/>
            </a:solidFill>
            <a:prstDash val="solid"/>
          </a:ln>
        </p:spPr>
        <p:txBody>
          <a:bodyPr/>
          <a:lstStyle/>
          <a:p>
            <a:endParaRPr lang="ar-EG"/>
          </a:p>
        </p:txBody>
      </p:sp>
      <p:sp>
        <p:nvSpPr>
          <p:cNvPr id="63" name="Text 58"/>
          <p:cNvSpPr/>
          <p:nvPr/>
        </p:nvSpPr>
        <p:spPr>
          <a:xfrm>
            <a:off x="594360" y="5276088"/>
            <a:ext cx="2560320" cy="530352"/>
          </a:xfrm>
          <a:prstGeom prst="rect">
            <a:avLst/>
          </a:prstGeom>
          <a:noFill/>
        </p:spPr>
        <p:txBody>
          <a:bodyPr wrap="square" rtlCol="0" anchor="ctr"/>
          <a:lstStyle/>
          <a:p>
            <a:pPr marL="0" indent="0">
              <a:buNone/>
            </a:pPr>
            <a:r>
              <a:rPr lang="en-US" sz="1100" b="1" dirty="0">
                <a:solidFill>
                  <a:srgbClr val="0A5F5E"/>
                </a:solidFill>
                <a:latin typeface="Calibri" panose="020F0502020204030204" pitchFamily="34" charset="0"/>
                <a:ea typeface="Calibri" panose="020F0502020204030204" pitchFamily="34" charset="-122"/>
                <a:cs typeface="Calibri" panose="020F0502020204030204" pitchFamily="34" charset="-120"/>
              </a:rPr>
              <a:t>FIDO2 / WebAuthn</a:t>
            </a:r>
            <a:endParaRPr lang="en-US" sz="1100" dirty="0"/>
          </a:p>
        </p:txBody>
      </p:sp>
      <p:sp>
        <p:nvSpPr>
          <p:cNvPr id="64" name="Shape 59"/>
          <p:cNvSpPr/>
          <p:nvPr/>
        </p:nvSpPr>
        <p:spPr>
          <a:xfrm>
            <a:off x="3246120" y="5276088"/>
            <a:ext cx="2606040" cy="530352"/>
          </a:xfrm>
          <a:prstGeom prst="rect">
            <a:avLst/>
          </a:prstGeom>
          <a:solidFill>
            <a:srgbClr val="E3F2F1"/>
          </a:solidFill>
          <a:ln w="9525">
            <a:solidFill>
              <a:srgbClr val="DCE1E2"/>
            </a:solidFill>
            <a:prstDash val="solid"/>
          </a:ln>
        </p:spPr>
        <p:txBody>
          <a:bodyPr/>
          <a:lstStyle/>
          <a:p>
            <a:endParaRPr lang="ar-EG"/>
          </a:p>
        </p:txBody>
      </p:sp>
      <p:sp>
        <p:nvSpPr>
          <p:cNvPr id="65" name="Text 60"/>
          <p:cNvSpPr/>
          <p:nvPr/>
        </p:nvSpPr>
        <p:spPr>
          <a:xfrm>
            <a:off x="3337560" y="5276088"/>
            <a:ext cx="2423160" cy="530352"/>
          </a:xfrm>
          <a:prstGeom prst="rect">
            <a:avLst/>
          </a:prstGeom>
          <a:noFill/>
        </p:spPr>
        <p:txBody>
          <a:bodyPr wrap="square" rtlCol="0" anchor="ctr"/>
          <a:lstStyle/>
          <a:p>
            <a:pPr marL="0" indent="0">
              <a:buNone/>
            </a:pPr>
            <a:r>
              <a:rPr lang="en-US" sz="1100" b="1" dirty="0">
                <a:solidFill>
                  <a:srgbClr val="0A5F5E"/>
                </a:solidFill>
                <a:latin typeface="Calibri" panose="020F0502020204030204" pitchFamily="34" charset="0"/>
                <a:ea typeface="Calibri" panose="020F0502020204030204" pitchFamily="34" charset="-122"/>
                <a:cs typeface="Calibri" panose="020F0502020204030204" pitchFamily="34" charset="-120"/>
              </a:rPr>
              <a:t>Yes</a:t>
            </a:r>
            <a:endParaRPr lang="en-US" sz="1100" dirty="0"/>
          </a:p>
        </p:txBody>
      </p:sp>
      <p:sp>
        <p:nvSpPr>
          <p:cNvPr id="66" name="Shape 61"/>
          <p:cNvSpPr/>
          <p:nvPr/>
        </p:nvSpPr>
        <p:spPr>
          <a:xfrm>
            <a:off x="5852160" y="5276088"/>
            <a:ext cx="2606040" cy="530352"/>
          </a:xfrm>
          <a:prstGeom prst="rect">
            <a:avLst/>
          </a:prstGeom>
          <a:solidFill>
            <a:srgbClr val="E3F2F1"/>
          </a:solidFill>
          <a:ln w="9525">
            <a:solidFill>
              <a:srgbClr val="DCE1E2"/>
            </a:solidFill>
            <a:prstDash val="solid"/>
          </a:ln>
        </p:spPr>
        <p:txBody>
          <a:bodyPr/>
          <a:lstStyle/>
          <a:p>
            <a:endParaRPr lang="ar-EG"/>
          </a:p>
        </p:txBody>
      </p:sp>
      <p:sp>
        <p:nvSpPr>
          <p:cNvPr id="67" name="Text 62"/>
          <p:cNvSpPr/>
          <p:nvPr/>
        </p:nvSpPr>
        <p:spPr>
          <a:xfrm>
            <a:off x="5943600" y="5276088"/>
            <a:ext cx="2423160" cy="530352"/>
          </a:xfrm>
          <a:prstGeom prst="rect">
            <a:avLst/>
          </a:prstGeom>
          <a:noFill/>
        </p:spPr>
        <p:txBody>
          <a:bodyPr wrap="square" rtlCol="0" anchor="ctr"/>
          <a:lstStyle/>
          <a:p>
            <a:pPr marL="0" indent="0">
              <a:buNone/>
            </a:pPr>
            <a:r>
              <a:rPr lang="en-US" sz="1100" b="1" dirty="0">
                <a:solidFill>
                  <a:srgbClr val="0A5F5E"/>
                </a:solidFill>
                <a:latin typeface="Calibri" panose="020F0502020204030204" pitchFamily="34" charset="0"/>
                <a:ea typeface="Calibri" panose="020F0502020204030204" pitchFamily="34" charset="-122"/>
                <a:cs typeface="Calibri" panose="020F0502020204030204" pitchFamily="34" charset="-120"/>
              </a:rPr>
              <a:t>Highest</a:t>
            </a:r>
            <a:endParaRPr lang="en-US" sz="1100" dirty="0"/>
          </a:p>
        </p:txBody>
      </p:sp>
      <p:sp>
        <p:nvSpPr>
          <p:cNvPr id="68" name="Shape 63"/>
          <p:cNvSpPr/>
          <p:nvPr/>
        </p:nvSpPr>
        <p:spPr>
          <a:xfrm>
            <a:off x="8458200" y="5276088"/>
            <a:ext cx="3291840" cy="530352"/>
          </a:xfrm>
          <a:prstGeom prst="rect">
            <a:avLst/>
          </a:prstGeom>
          <a:solidFill>
            <a:srgbClr val="E3F2F1"/>
          </a:solidFill>
          <a:ln w="9525">
            <a:solidFill>
              <a:srgbClr val="DCE1E2"/>
            </a:solidFill>
            <a:prstDash val="solid"/>
          </a:ln>
        </p:spPr>
        <p:txBody>
          <a:bodyPr/>
          <a:lstStyle/>
          <a:p>
            <a:endParaRPr lang="ar-EG"/>
          </a:p>
        </p:txBody>
      </p:sp>
      <p:sp>
        <p:nvSpPr>
          <p:cNvPr id="69" name="Text 64"/>
          <p:cNvSpPr/>
          <p:nvPr/>
        </p:nvSpPr>
        <p:spPr>
          <a:xfrm>
            <a:off x="8549640" y="5276088"/>
            <a:ext cx="3108960" cy="530352"/>
          </a:xfrm>
          <a:prstGeom prst="rect">
            <a:avLst/>
          </a:prstGeom>
          <a:noFill/>
        </p:spPr>
        <p:txBody>
          <a:bodyPr wrap="square" rtlCol="0" anchor="ctr"/>
          <a:lstStyle/>
          <a:p>
            <a:pPr marL="0" indent="0">
              <a:buNone/>
            </a:pPr>
            <a:r>
              <a:rPr lang="en-US" sz="1100" b="1" dirty="0">
                <a:solidFill>
                  <a:srgbClr val="0A5F5E"/>
                </a:solidFill>
                <a:latin typeface="Calibri" panose="020F0502020204030204" pitchFamily="34" charset="0"/>
                <a:ea typeface="Calibri" panose="020F0502020204030204" pitchFamily="34" charset="-122"/>
                <a:cs typeface="Calibri" panose="020F0502020204030204" pitchFamily="34" charset="-120"/>
              </a:rPr>
              <a:t>YubiKey, Windows Hello, Touch ID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3 · PHISHING-RESISTANT MFA</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FIDO2 / WebAuthn Authentication Flow</a:t>
            </a:r>
            <a:endParaRPr lang="en-US" sz="3000" dirty="0"/>
          </a:p>
        </p:txBody>
      </p:sp>
      <p:sp>
        <p:nvSpPr>
          <p:cNvPr id="7" name="Shape 5"/>
          <p:cNvSpPr/>
          <p:nvPr/>
        </p:nvSpPr>
        <p:spPr>
          <a:xfrm>
            <a:off x="502920" y="1463040"/>
            <a:ext cx="5468112" cy="2331720"/>
          </a:xfrm>
          <a:prstGeom prst="roundRect">
            <a:avLst>
              <a:gd name="adj" fmla="val 2745"/>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731520" y="1627632"/>
            <a:ext cx="4846320" cy="274320"/>
          </a:xfrm>
          <a:prstGeom prst="rect">
            <a:avLst/>
          </a:prstGeom>
          <a:noFill/>
        </p:spPr>
        <p:txBody>
          <a:bodyPr wrap="square" rtlCol="0" anchor="ctr"/>
          <a:lstStyle/>
          <a:p>
            <a:pPr marL="0" indent="0">
              <a:buNone/>
            </a:pPr>
            <a:r>
              <a:rPr lang="en-US" sz="120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1 · REGISTRATION</a:t>
            </a:r>
            <a:endParaRPr lang="en-US" sz="1200" dirty="0"/>
          </a:p>
        </p:txBody>
      </p:sp>
      <p:sp>
        <p:nvSpPr>
          <p:cNvPr id="9" name="Text 7"/>
          <p:cNvSpPr/>
          <p:nvPr/>
        </p:nvSpPr>
        <p:spPr>
          <a:xfrm>
            <a:off x="731520" y="1965960"/>
            <a:ext cx="5029200" cy="1737360"/>
          </a:xfrm>
          <a:prstGeom prst="rect">
            <a:avLst/>
          </a:prstGeom>
          <a:noFill/>
        </p:spPr>
        <p:txBody>
          <a:bodyPr wrap="square" rtlCol="0" anchor="t"/>
          <a:lstStyle/>
          <a:p>
            <a:pPr marL="342900" indent="-342900">
              <a:lnSpc>
                <a:spcPts val="1500"/>
              </a:lnSpc>
              <a:spcAft>
                <a:spcPts val="1000"/>
              </a:spcAft>
              <a:buSzPct val="100000"/>
              <a:buChar char="•"/>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Device generates a public/private key pair bound to the site (origin)</a:t>
            </a:r>
            <a:endParaRPr lang="en-US" sz="1200" dirty="0"/>
          </a:p>
          <a:p>
            <a:pPr marL="342900" indent="-342900">
              <a:lnSpc>
                <a:spcPts val="1500"/>
              </a:lnSpc>
              <a:spcAft>
                <a:spcPts val="1000"/>
              </a:spcAft>
              <a:buSzPct val="100000"/>
              <a:buChar char="•"/>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Private key never leaves the device's secure hardware</a:t>
            </a:r>
            <a:endParaRPr lang="en-US" sz="1200" dirty="0"/>
          </a:p>
          <a:p>
            <a:pPr marL="342900" indent="-342900">
              <a:lnSpc>
                <a:spcPts val="1500"/>
              </a:lnSpc>
              <a:spcAft>
                <a:spcPts val="1000"/>
              </a:spcAft>
              <a:buSzPct val="100000"/>
              <a:buChar char="•"/>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Public key is registered with the server (relying party)</a:t>
            </a:r>
            <a:endParaRPr lang="en-US" sz="1200" dirty="0"/>
          </a:p>
        </p:txBody>
      </p:sp>
      <p:sp>
        <p:nvSpPr>
          <p:cNvPr id="10" name="Shape 8"/>
          <p:cNvSpPr/>
          <p:nvPr/>
        </p:nvSpPr>
        <p:spPr>
          <a:xfrm>
            <a:off x="6217920" y="1463040"/>
            <a:ext cx="5468112" cy="2331720"/>
          </a:xfrm>
          <a:prstGeom prst="roundRect">
            <a:avLst>
              <a:gd name="adj" fmla="val 2745"/>
            </a:avLst>
          </a:prstGeom>
          <a:solidFill>
            <a:srgbClr val="E3F2F1"/>
          </a:solidFill>
          <a:ln w="12700">
            <a:solidFill>
              <a:srgbClr val="0E7C7B"/>
            </a:solidFill>
            <a:prstDash val="solid"/>
          </a:ln>
          <a:effectLst>
            <a:outerShdw blurRad="76200" dist="25400" dir="5400000" algn="bl" rotWithShape="0">
              <a:srgbClr val="8B939A">
                <a:alpha val="18000"/>
              </a:srgbClr>
            </a:outerShdw>
          </a:effectLst>
        </p:spPr>
        <p:txBody>
          <a:bodyPr/>
          <a:lstStyle/>
          <a:p>
            <a:endParaRPr lang="ar-EG"/>
          </a:p>
        </p:txBody>
      </p:sp>
      <p:sp>
        <p:nvSpPr>
          <p:cNvPr id="11" name="Text 9"/>
          <p:cNvSpPr/>
          <p:nvPr/>
        </p:nvSpPr>
        <p:spPr>
          <a:xfrm>
            <a:off x="6446520" y="1627632"/>
            <a:ext cx="4846320" cy="274320"/>
          </a:xfrm>
          <a:prstGeom prst="rect">
            <a:avLst/>
          </a:prstGeom>
          <a:noFill/>
        </p:spPr>
        <p:txBody>
          <a:bodyPr wrap="square" rtlCol="0" anchor="ctr"/>
          <a:lstStyle/>
          <a:p>
            <a:pPr marL="0" indent="0">
              <a:buNone/>
            </a:pPr>
            <a:r>
              <a:rPr lang="en-US" sz="1200" b="1" kern="0" spc="100" dirty="0">
                <a:solidFill>
                  <a:srgbClr val="0A5F5E"/>
                </a:solidFill>
                <a:latin typeface="Calibri" panose="020F0502020204030204" pitchFamily="34" charset="0"/>
                <a:ea typeface="Calibri" panose="020F0502020204030204" pitchFamily="34" charset="-122"/>
                <a:cs typeface="Calibri" panose="020F0502020204030204" pitchFamily="34" charset="-120"/>
              </a:rPr>
              <a:t>2 · AUTHENTICATION</a:t>
            </a:r>
            <a:endParaRPr lang="en-US" sz="1200" dirty="0"/>
          </a:p>
        </p:txBody>
      </p:sp>
      <p:sp>
        <p:nvSpPr>
          <p:cNvPr id="12" name="Text 10"/>
          <p:cNvSpPr/>
          <p:nvPr/>
        </p:nvSpPr>
        <p:spPr>
          <a:xfrm>
            <a:off x="6446520" y="1965960"/>
            <a:ext cx="5029200" cy="1737360"/>
          </a:xfrm>
          <a:prstGeom prst="rect">
            <a:avLst/>
          </a:prstGeom>
          <a:noFill/>
        </p:spPr>
        <p:txBody>
          <a:bodyPr wrap="square" rtlCol="0" anchor="t"/>
          <a:lstStyle/>
          <a:p>
            <a:pPr marL="342900" indent="-342900">
              <a:lnSpc>
                <a:spcPts val="1500"/>
              </a:lnSpc>
              <a:spcAft>
                <a:spcPts val="1000"/>
              </a:spcAft>
              <a:buSzPct val="100000"/>
              <a:buChar char="•"/>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Server sends a random cryptographic challenge</a:t>
            </a:r>
            <a:endParaRPr lang="en-US" sz="1200" dirty="0"/>
          </a:p>
          <a:p>
            <a:pPr marL="342900" indent="-342900">
              <a:lnSpc>
                <a:spcPts val="1500"/>
              </a:lnSpc>
              <a:spcAft>
                <a:spcPts val="1000"/>
              </a:spcAft>
              <a:buSzPct val="100000"/>
              <a:buChar char="•"/>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User unlocks device (biometric / PIN) to authorize signing</a:t>
            </a:r>
            <a:endParaRPr lang="en-US" sz="1200" dirty="0"/>
          </a:p>
          <a:p>
            <a:pPr marL="342900" indent="-342900">
              <a:lnSpc>
                <a:spcPts val="1500"/>
              </a:lnSpc>
              <a:spcAft>
                <a:spcPts val="1000"/>
              </a:spcAft>
              <a:buSzPct val="100000"/>
              <a:buChar char="•"/>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Device signs the challenge with the private key; server verifies with stored public key</a:t>
            </a:r>
            <a:endParaRPr lang="en-US" sz="1200" dirty="0"/>
          </a:p>
        </p:txBody>
      </p:sp>
      <p:sp>
        <p:nvSpPr>
          <p:cNvPr id="13" name="Shape 11"/>
          <p:cNvSpPr/>
          <p:nvPr/>
        </p:nvSpPr>
        <p:spPr>
          <a:xfrm>
            <a:off x="502920" y="4160520"/>
            <a:ext cx="3535680" cy="1005840"/>
          </a:xfrm>
          <a:prstGeom prst="roundRect">
            <a:avLst>
              <a:gd name="adj" fmla="val 6364"/>
            </a:avLst>
          </a:prstGeom>
          <a:solidFill>
            <a:srgbClr val="FFFFFF"/>
          </a:solidFill>
          <a:ln w="12700">
            <a:solidFill>
              <a:srgbClr val="DCE1E2"/>
            </a:solidFill>
            <a:prstDash val="solid"/>
          </a:ln>
        </p:spPr>
        <p:txBody>
          <a:bodyPr/>
          <a:lstStyle/>
          <a:p>
            <a:endParaRPr lang="ar-EG"/>
          </a:p>
        </p:txBody>
      </p:sp>
      <p:pic>
        <p:nvPicPr>
          <p:cNvPr id="14" name="Image 0" descr="/home/claude/deck/icons/laptop_char.png"/>
          <p:cNvPicPr>
            <a:picLocks noChangeAspect="1"/>
          </p:cNvPicPr>
          <p:nvPr/>
        </p:nvPicPr>
        <p:blipFill>
          <a:blip r:embed="rId3"/>
          <a:stretch>
            <a:fillRect/>
          </a:stretch>
        </p:blipFill>
        <p:spPr>
          <a:xfrm>
            <a:off x="640080" y="4389120"/>
            <a:ext cx="548640" cy="548640"/>
          </a:xfrm>
          <a:prstGeom prst="rect">
            <a:avLst/>
          </a:prstGeom>
        </p:spPr>
      </p:pic>
      <p:sp>
        <p:nvSpPr>
          <p:cNvPr id="15" name="Text 12"/>
          <p:cNvSpPr/>
          <p:nvPr/>
        </p:nvSpPr>
        <p:spPr>
          <a:xfrm>
            <a:off x="1280160" y="4160520"/>
            <a:ext cx="2667000" cy="1005840"/>
          </a:xfrm>
          <a:prstGeom prst="rect">
            <a:avLst/>
          </a:prstGeom>
          <a:noFill/>
        </p:spPr>
        <p:txBody>
          <a:bodyPr wrap="square" rtlCol="0" anchor="ctr"/>
          <a:lstStyle/>
          <a:p>
            <a:pPr marL="0" indent="0">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Browser /</a:t>
            </a:r>
            <a:endParaRPr lang="en-US" sz="1150" dirty="0"/>
          </a:p>
          <a:p>
            <a:pPr marL="0" indent="0">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Authenticator</a:t>
            </a:r>
            <a:endParaRPr lang="en-US" sz="1150" dirty="0"/>
          </a:p>
        </p:txBody>
      </p:sp>
      <p:sp>
        <p:nvSpPr>
          <p:cNvPr id="16" name="Shape 13"/>
          <p:cNvSpPr/>
          <p:nvPr/>
        </p:nvSpPr>
        <p:spPr>
          <a:xfrm>
            <a:off x="4066032" y="4581144"/>
            <a:ext cx="265176" cy="164592"/>
          </a:xfrm>
          <a:prstGeom prst="rightArrow">
            <a:avLst/>
          </a:prstGeom>
          <a:solidFill>
            <a:srgbClr val="0E7C7B"/>
          </a:solidFill>
        </p:spPr>
        <p:txBody>
          <a:bodyPr/>
          <a:lstStyle/>
          <a:p>
            <a:endParaRPr lang="ar-EG"/>
          </a:p>
        </p:txBody>
      </p:sp>
      <p:sp>
        <p:nvSpPr>
          <p:cNvPr id="17" name="Shape 14"/>
          <p:cNvSpPr/>
          <p:nvPr/>
        </p:nvSpPr>
        <p:spPr>
          <a:xfrm>
            <a:off x="4358640" y="4160520"/>
            <a:ext cx="3535680" cy="1005840"/>
          </a:xfrm>
          <a:prstGeom prst="roundRect">
            <a:avLst>
              <a:gd name="adj" fmla="val 6364"/>
            </a:avLst>
          </a:prstGeom>
          <a:solidFill>
            <a:srgbClr val="FFFFFF"/>
          </a:solidFill>
          <a:ln w="12700">
            <a:solidFill>
              <a:srgbClr val="DCE1E2"/>
            </a:solidFill>
            <a:prstDash val="solid"/>
          </a:ln>
        </p:spPr>
        <p:txBody>
          <a:bodyPr/>
          <a:lstStyle/>
          <a:p>
            <a:endParaRPr lang="ar-EG"/>
          </a:p>
        </p:txBody>
      </p:sp>
      <p:pic>
        <p:nvPicPr>
          <p:cNvPr id="18" name="Image 1" descr="/home/claude/deck/icons/fingerprint_teal.png"/>
          <p:cNvPicPr>
            <a:picLocks noChangeAspect="1"/>
          </p:cNvPicPr>
          <p:nvPr/>
        </p:nvPicPr>
        <p:blipFill>
          <a:blip r:embed="rId4"/>
          <a:stretch>
            <a:fillRect/>
          </a:stretch>
        </p:blipFill>
        <p:spPr>
          <a:xfrm>
            <a:off x="4495800" y="4389120"/>
            <a:ext cx="548640" cy="548640"/>
          </a:xfrm>
          <a:prstGeom prst="rect">
            <a:avLst/>
          </a:prstGeom>
        </p:spPr>
      </p:pic>
      <p:sp>
        <p:nvSpPr>
          <p:cNvPr id="19" name="Text 15"/>
          <p:cNvSpPr/>
          <p:nvPr/>
        </p:nvSpPr>
        <p:spPr>
          <a:xfrm>
            <a:off x="5135880" y="4160520"/>
            <a:ext cx="2667000" cy="1005840"/>
          </a:xfrm>
          <a:prstGeom prst="rect">
            <a:avLst/>
          </a:prstGeom>
          <a:noFill/>
        </p:spPr>
        <p:txBody>
          <a:bodyPr wrap="square" rtlCol="0" anchor="ctr"/>
          <a:lstStyle/>
          <a:p>
            <a:pPr marL="0" indent="0">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Challenge</a:t>
            </a:r>
            <a:endParaRPr lang="en-US" sz="1150" dirty="0"/>
          </a:p>
          <a:p>
            <a:pPr marL="0" indent="0">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Signed Locally</a:t>
            </a:r>
            <a:endParaRPr lang="en-US" sz="1150" dirty="0"/>
          </a:p>
        </p:txBody>
      </p:sp>
      <p:sp>
        <p:nvSpPr>
          <p:cNvPr id="20" name="Shape 16"/>
          <p:cNvSpPr/>
          <p:nvPr/>
        </p:nvSpPr>
        <p:spPr>
          <a:xfrm>
            <a:off x="7921752" y="4581144"/>
            <a:ext cx="265176" cy="164592"/>
          </a:xfrm>
          <a:prstGeom prst="rightArrow">
            <a:avLst/>
          </a:prstGeom>
          <a:solidFill>
            <a:srgbClr val="0E7C7B"/>
          </a:solidFill>
        </p:spPr>
        <p:txBody>
          <a:bodyPr/>
          <a:lstStyle/>
          <a:p>
            <a:endParaRPr lang="ar-EG"/>
          </a:p>
        </p:txBody>
      </p:sp>
      <p:sp>
        <p:nvSpPr>
          <p:cNvPr id="21" name="Shape 17"/>
          <p:cNvSpPr/>
          <p:nvPr/>
        </p:nvSpPr>
        <p:spPr>
          <a:xfrm>
            <a:off x="8214360" y="4160520"/>
            <a:ext cx="3535680" cy="1005840"/>
          </a:xfrm>
          <a:prstGeom prst="roundRect">
            <a:avLst>
              <a:gd name="adj" fmla="val 6364"/>
            </a:avLst>
          </a:prstGeom>
          <a:solidFill>
            <a:srgbClr val="FFFFFF"/>
          </a:solidFill>
          <a:ln w="12700">
            <a:solidFill>
              <a:srgbClr val="DCE1E2"/>
            </a:solidFill>
            <a:prstDash val="solid"/>
          </a:ln>
        </p:spPr>
        <p:txBody>
          <a:bodyPr/>
          <a:lstStyle/>
          <a:p>
            <a:endParaRPr lang="ar-EG"/>
          </a:p>
        </p:txBody>
      </p:sp>
      <p:pic>
        <p:nvPicPr>
          <p:cNvPr id="22" name="Image 2" descr="/home/claude/deck/icons/server_teal.png"/>
          <p:cNvPicPr>
            <a:picLocks noChangeAspect="1"/>
          </p:cNvPicPr>
          <p:nvPr/>
        </p:nvPicPr>
        <p:blipFill>
          <a:blip r:embed="rId5"/>
          <a:stretch>
            <a:fillRect/>
          </a:stretch>
        </p:blipFill>
        <p:spPr>
          <a:xfrm>
            <a:off x="8351520" y="4389120"/>
            <a:ext cx="548640" cy="548640"/>
          </a:xfrm>
          <a:prstGeom prst="rect">
            <a:avLst/>
          </a:prstGeom>
        </p:spPr>
      </p:pic>
      <p:sp>
        <p:nvSpPr>
          <p:cNvPr id="23" name="Text 18"/>
          <p:cNvSpPr/>
          <p:nvPr/>
        </p:nvSpPr>
        <p:spPr>
          <a:xfrm>
            <a:off x="8991600" y="4160520"/>
            <a:ext cx="2667000" cy="1005840"/>
          </a:xfrm>
          <a:prstGeom prst="rect">
            <a:avLst/>
          </a:prstGeom>
          <a:noFill/>
        </p:spPr>
        <p:txBody>
          <a:bodyPr wrap="square" rtlCol="0" anchor="ctr"/>
          <a:lstStyle/>
          <a:p>
            <a:pPr marL="0" indent="0">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Relying Party</a:t>
            </a:r>
            <a:endParaRPr lang="en-US" sz="1150" dirty="0"/>
          </a:p>
          <a:p>
            <a:pPr marL="0" indent="0">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Server Verifies</a:t>
            </a:r>
            <a:endParaRPr lang="en-US" sz="1150" dirty="0"/>
          </a:p>
        </p:txBody>
      </p:sp>
      <p:sp>
        <p:nvSpPr>
          <p:cNvPr id="24" name="Text 19"/>
          <p:cNvSpPr/>
          <p:nvPr/>
        </p:nvSpPr>
        <p:spPr>
          <a:xfrm>
            <a:off x="502920" y="5349240"/>
            <a:ext cx="11247120" cy="685800"/>
          </a:xfrm>
          <a:prstGeom prst="rect">
            <a:avLst/>
          </a:prstGeom>
          <a:noFill/>
        </p:spPr>
        <p:txBody>
          <a:bodyPr wrap="square" rtlCol="0" anchor="t"/>
          <a:lstStyle/>
          <a:p>
            <a:pPr marL="0" indent="0">
              <a:lnSpc>
                <a:spcPts val="1600"/>
              </a:lnSpc>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Why it defeats phishing: </a:t>
            </a:r>
            <a:r>
              <a:rPr lang="en-US" sz="1200" dirty="0">
                <a:solidFill>
                  <a:srgbClr val="5B6670"/>
                </a:solidFill>
                <a:latin typeface="Calibri" panose="020F0502020204030204" pitchFamily="34" charset="0"/>
                <a:ea typeface="Calibri" panose="020F0502020204030204" pitchFamily="34" charset="-122"/>
                <a:cs typeface="Calibri" panose="020F0502020204030204" pitchFamily="34" charset="-120"/>
              </a:rPr>
              <a:t>the cryptographic signature is bound to the origin domain, so a fake look-alike login page cannot obtain a valid signature — unlike OTP codes or push approvals, which work on any site the user is tricked into visiting.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E8871E"/>
                </a:solidFill>
                <a:latin typeface="Calibri" panose="020F0502020204030204" pitchFamily="34" charset="0"/>
                <a:ea typeface="Calibri" panose="020F0502020204030204" pitchFamily="34" charset="-122"/>
                <a:cs typeface="Calibri" panose="020F0502020204030204" pitchFamily="34" charset="-120"/>
              </a:rPr>
              <a:t>ATTACK SPOTLIGHT</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The MFA Fatigue Attack</a:t>
            </a:r>
            <a:endParaRPr lang="en-US" sz="3000" dirty="0"/>
          </a:p>
        </p:txBody>
      </p:sp>
      <p:sp>
        <p:nvSpPr>
          <p:cNvPr id="7" name="Shape 5"/>
          <p:cNvSpPr/>
          <p:nvPr/>
        </p:nvSpPr>
        <p:spPr>
          <a:xfrm>
            <a:off x="502920" y="1508760"/>
            <a:ext cx="5349240" cy="4709160"/>
          </a:xfrm>
          <a:prstGeom prst="roundRect">
            <a:avLst>
              <a:gd name="adj" fmla="val 1359"/>
            </a:avLst>
          </a:prstGeom>
          <a:solidFill>
            <a:srgbClr val="FCEDDC"/>
          </a:solidFill>
          <a:ln w="12700">
            <a:solidFill>
              <a:srgbClr val="E8871E"/>
            </a:solidFill>
            <a:prstDash val="solid"/>
          </a:ln>
          <a:effectLst>
            <a:outerShdw blurRad="76200" dist="25400" dir="5400000" algn="bl" rotWithShape="0">
              <a:srgbClr val="8B939A">
                <a:alpha val="18000"/>
              </a:srgbClr>
            </a:outerShdw>
          </a:effectLst>
        </p:spPr>
        <p:txBody>
          <a:bodyPr/>
          <a:lstStyle/>
          <a:p>
            <a:endParaRPr lang="ar-EG"/>
          </a:p>
        </p:txBody>
      </p:sp>
      <p:sp>
        <p:nvSpPr>
          <p:cNvPr id="8" name="Shape 6"/>
          <p:cNvSpPr/>
          <p:nvPr/>
        </p:nvSpPr>
        <p:spPr>
          <a:xfrm>
            <a:off x="731520" y="1737360"/>
            <a:ext cx="777240" cy="777240"/>
          </a:xfrm>
          <a:prstGeom prst="ellipse">
            <a:avLst/>
          </a:prstGeom>
          <a:solidFill>
            <a:srgbClr val="E8871E"/>
          </a:solidFill>
        </p:spPr>
        <p:txBody>
          <a:bodyPr/>
          <a:lstStyle/>
          <a:p>
            <a:endParaRPr lang="ar-EG"/>
          </a:p>
        </p:txBody>
      </p:sp>
      <p:pic>
        <p:nvPicPr>
          <p:cNvPr id="9" name="Image 0" descr="/home/claude/deck/icons/bell.png"/>
          <p:cNvPicPr>
            <a:picLocks noChangeAspect="1"/>
          </p:cNvPicPr>
          <p:nvPr/>
        </p:nvPicPr>
        <p:blipFill>
          <a:blip r:embed="rId3"/>
          <a:stretch>
            <a:fillRect/>
          </a:stretch>
        </p:blipFill>
        <p:spPr>
          <a:xfrm>
            <a:off x="906399" y="1912239"/>
            <a:ext cx="427482" cy="427482"/>
          </a:xfrm>
          <a:prstGeom prst="rect">
            <a:avLst/>
          </a:prstGeom>
        </p:spPr>
      </p:pic>
      <p:sp>
        <p:nvSpPr>
          <p:cNvPr id="10" name="Text 7"/>
          <p:cNvSpPr/>
          <p:nvPr/>
        </p:nvSpPr>
        <p:spPr>
          <a:xfrm>
            <a:off x="1691640" y="1810512"/>
            <a:ext cx="3931920" cy="274320"/>
          </a:xfrm>
          <a:prstGeom prst="rect">
            <a:avLst/>
          </a:prstGeom>
          <a:noFill/>
        </p:spPr>
        <p:txBody>
          <a:bodyPr wrap="square" rtlCol="0" anchor="ctr"/>
          <a:lstStyle/>
          <a:p>
            <a:pPr marL="0" indent="0">
              <a:buNone/>
            </a:pPr>
            <a:r>
              <a:rPr lang="en-US" sz="1200" b="1" kern="0" spc="100" dirty="0">
                <a:solidFill>
                  <a:srgbClr val="8A4A0F"/>
                </a:solidFill>
                <a:latin typeface="Calibri" panose="020F0502020204030204" pitchFamily="34" charset="0"/>
                <a:ea typeface="Calibri" panose="020F0502020204030204" pitchFamily="34" charset="-122"/>
                <a:cs typeface="Calibri" panose="020F0502020204030204" pitchFamily="34" charset="-120"/>
              </a:rPr>
              <a:t>WHAT IT IS</a:t>
            </a:r>
            <a:endParaRPr lang="en-US" sz="1200" dirty="0"/>
          </a:p>
        </p:txBody>
      </p:sp>
      <p:sp>
        <p:nvSpPr>
          <p:cNvPr id="11" name="Text 8"/>
          <p:cNvSpPr/>
          <p:nvPr/>
        </p:nvSpPr>
        <p:spPr>
          <a:xfrm>
            <a:off x="1691640" y="2148840"/>
            <a:ext cx="3977640" cy="1371600"/>
          </a:xfrm>
          <a:prstGeom prst="rect">
            <a:avLst/>
          </a:prstGeom>
          <a:noFill/>
        </p:spPr>
        <p:txBody>
          <a:bodyPr wrap="square" rtlCol="0" anchor="t"/>
          <a:lstStyle/>
          <a:p>
            <a:pPr marL="0" indent="0">
              <a:lnSpc>
                <a:spcPts val="1600"/>
              </a:lnSpc>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Also called “MFA bombing” or “prompt bombing.” The attacker already holds valid, stolen credentials (password) and repeatedly triggers push-based MFA requests to the victim's phone — hoping annoyance, confusion, or social pressure leads them to tap “Approve.”</a:t>
            </a:r>
            <a:endParaRPr lang="en-US" sz="1200" dirty="0"/>
          </a:p>
        </p:txBody>
      </p:sp>
      <p:sp>
        <p:nvSpPr>
          <p:cNvPr id="12" name="Shape 9"/>
          <p:cNvSpPr/>
          <p:nvPr/>
        </p:nvSpPr>
        <p:spPr>
          <a:xfrm>
            <a:off x="731520" y="3703320"/>
            <a:ext cx="4892040" cy="0"/>
          </a:xfrm>
          <a:prstGeom prst="line">
            <a:avLst/>
          </a:prstGeom>
          <a:noFill/>
          <a:ln w="12700">
            <a:solidFill>
              <a:srgbClr val="F0C89A"/>
            </a:solidFill>
            <a:prstDash val="solid"/>
          </a:ln>
        </p:spPr>
        <p:txBody>
          <a:bodyPr/>
          <a:lstStyle/>
          <a:p>
            <a:endParaRPr lang="ar-EG"/>
          </a:p>
        </p:txBody>
      </p:sp>
      <p:sp>
        <p:nvSpPr>
          <p:cNvPr id="13" name="Text 10"/>
          <p:cNvSpPr/>
          <p:nvPr/>
        </p:nvSpPr>
        <p:spPr>
          <a:xfrm>
            <a:off x="731520" y="3840480"/>
            <a:ext cx="4846320" cy="274320"/>
          </a:xfrm>
          <a:prstGeom prst="rect">
            <a:avLst/>
          </a:prstGeom>
          <a:noFill/>
        </p:spPr>
        <p:txBody>
          <a:bodyPr wrap="square" rtlCol="0" anchor="ctr"/>
          <a:lstStyle/>
          <a:p>
            <a:pPr marL="0" indent="0">
              <a:buNone/>
            </a:pPr>
            <a:r>
              <a:rPr lang="en-US" sz="1200" b="1" kern="0" spc="100" dirty="0">
                <a:solidFill>
                  <a:srgbClr val="8A4A0F"/>
                </a:solidFill>
                <a:latin typeface="Calibri" panose="020F0502020204030204" pitchFamily="34" charset="0"/>
                <a:ea typeface="Calibri" panose="020F0502020204030204" pitchFamily="34" charset="-122"/>
                <a:cs typeface="Calibri" panose="020F0502020204030204" pitchFamily="34" charset="-120"/>
              </a:rPr>
              <a:t>WHY IT WORKS</a:t>
            </a:r>
            <a:endParaRPr lang="en-US" sz="1200" dirty="0"/>
          </a:p>
        </p:txBody>
      </p:sp>
      <p:sp>
        <p:nvSpPr>
          <p:cNvPr id="14" name="Text 11"/>
          <p:cNvSpPr/>
          <p:nvPr/>
        </p:nvSpPr>
        <p:spPr>
          <a:xfrm>
            <a:off x="731520" y="4160520"/>
            <a:ext cx="4937760" cy="1920240"/>
          </a:xfrm>
          <a:prstGeom prst="rect">
            <a:avLst/>
          </a:prstGeom>
          <a:noFill/>
        </p:spPr>
        <p:txBody>
          <a:bodyPr wrap="square" rtlCol="0" anchor="t"/>
          <a:lstStyle/>
          <a:p>
            <a:pPr marL="342900" indent="-342900">
              <a:lnSpc>
                <a:spcPts val="1400"/>
              </a:lnSpc>
              <a:spcAft>
                <a:spcPts val="800"/>
              </a:spcAft>
              <a:buSzPct val="100000"/>
              <a:buChar char="•"/>
            </a:pPr>
            <a:r>
              <a:rPr lang="en-US" sz="1150" dirty="0">
                <a:solidFill>
                  <a:srgbClr val="2B2D2F"/>
                </a:solidFill>
                <a:latin typeface="Calibri" panose="020F0502020204030204" pitchFamily="34" charset="0"/>
                <a:ea typeface="Calibri" panose="020F0502020204030204" pitchFamily="34" charset="-122"/>
                <a:cs typeface="Calibri" panose="020F0502020204030204" pitchFamily="34" charset="-120"/>
              </a:rPr>
              <a:t>Push MFA requires only a single tap — low friction, low attention</a:t>
            </a:r>
            <a:endParaRPr lang="en-US" sz="1150" dirty="0"/>
          </a:p>
          <a:p>
            <a:pPr marL="342900" indent="-342900">
              <a:lnSpc>
                <a:spcPts val="1400"/>
              </a:lnSpc>
              <a:spcAft>
                <a:spcPts val="800"/>
              </a:spcAft>
              <a:buSzPct val="100000"/>
              <a:buChar char="•"/>
            </a:pPr>
            <a:r>
              <a:rPr lang="en-US" sz="1150" dirty="0">
                <a:solidFill>
                  <a:srgbClr val="2B2D2F"/>
                </a:solidFill>
                <a:latin typeface="Calibri" panose="020F0502020204030204" pitchFamily="34" charset="0"/>
                <a:ea typeface="Calibri" panose="020F0502020204030204" pitchFamily="34" charset="-122"/>
                <a:cs typeface="Calibri" panose="020F0502020204030204" pitchFamily="34" charset="-120"/>
              </a:rPr>
              <a:t>Victims assume repeated prompts mean a system glitch</a:t>
            </a:r>
            <a:endParaRPr lang="en-US" sz="1150" dirty="0"/>
          </a:p>
          <a:p>
            <a:pPr marL="342900" indent="-342900">
              <a:lnSpc>
                <a:spcPts val="1400"/>
              </a:lnSpc>
              <a:spcAft>
                <a:spcPts val="800"/>
              </a:spcAft>
              <a:buSzPct val="100000"/>
              <a:buChar char="•"/>
            </a:pPr>
            <a:r>
              <a:rPr lang="en-US" sz="1150" dirty="0">
                <a:solidFill>
                  <a:srgbClr val="2B2D2F"/>
                </a:solidFill>
                <a:latin typeface="Calibri" panose="020F0502020204030204" pitchFamily="34" charset="0"/>
                <a:ea typeface="Calibri" panose="020F0502020204030204" pitchFamily="34" charset="-122"/>
                <a:cs typeface="Calibri" panose="020F0502020204030204" pitchFamily="34" charset="-120"/>
              </a:rPr>
              <a:t>Attacks often run late at night when users are less alert</a:t>
            </a:r>
            <a:endParaRPr lang="en-US" sz="1150" dirty="0"/>
          </a:p>
        </p:txBody>
      </p:sp>
      <p:sp>
        <p:nvSpPr>
          <p:cNvPr id="15" name="Shape 12"/>
          <p:cNvSpPr/>
          <p:nvPr/>
        </p:nvSpPr>
        <p:spPr>
          <a:xfrm>
            <a:off x="6080760" y="1508760"/>
            <a:ext cx="5605272" cy="4709160"/>
          </a:xfrm>
          <a:prstGeom prst="roundRect">
            <a:avLst>
              <a:gd name="adj" fmla="val 1359"/>
            </a:avLst>
          </a:prstGeom>
          <a:solidFill>
            <a:srgbClr val="2B2D2F"/>
          </a:solidFill>
          <a:ln w="12700">
            <a:solidFill>
              <a:srgbClr val="2B2D2F"/>
            </a:solidFill>
            <a:prstDash val="solid"/>
          </a:ln>
        </p:spPr>
        <p:txBody>
          <a:bodyPr/>
          <a:lstStyle/>
          <a:p>
            <a:endParaRPr lang="ar-EG"/>
          </a:p>
        </p:txBody>
      </p:sp>
      <p:sp>
        <p:nvSpPr>
          <p:cNvPr id="16" name="Shape 13"/>
          <p:cNvSpPr/>
          <p:nvPr/>
        </p:nvSpPr>
        <p:spPr>
          <a:xfrm>
            <a:off x="6309360" y="1737360"/>
            <a:ext cx="777240" cy="777240"/>
          </a:xfrm>
          <a:prstGeom prst="ellipse">
            <a:avLst/>
          </a:prstGeom>
          <a:solidFill>
            <a:srgbClr val="E8871E"/>
          </a:solidFill>
        </p:spPr>
        <p:txBody>
          <a:bodyPr/>
          <a:lstStyle/>
          <a:p>
            <a:endParaRPr lang="ar-EG"/>
          </a:p>
        </p:txBody>
      </p:sp>
      <p:pic>
        <p:nvPicPr>
          <p:cNvPr id="17" name="Image 1" descr="/home/claude/deck/icons/skull_amber.png"/>
          <p:cNvPicPr>
            <a:picLocks noChangeAspect="1"/>
          </p:cNvPicPr>
          <p:nvPr/>
        </p:nvPicPr>
        <p:blipFill>
          <a:blip r:embed="rId4"/>
          <a:stretch>
            <a:fillRect/>
          </a:stretch>
        </p:blipFill>
        <p:spPr>
          <a:xfrm>
            <a:off x="6484239" y="1912239"/>
            <a:ext cx="427482" cy="427482"/>
          </a:xfrm>
          <a:prstGeom prst="rect">
            <a:avLst/>
          </a:prstGeom>
        </p:spPr>
      </p:pic>
      <p:sp>
        <p:nvSpPr>
          <p:cNvPr id="18" name="Text 14"/>
          <p:cNvSpPr/>
          <p:nvPr/>
        </p:nvSpPr>
        <p:spPr>
          <a:xfrm>
            <a:off x="7269480" y="1783080"/>
            <a:ext cx="4206240" cy="274320"/>
          </a:xfrm>
          <a:prstGeom prst="rect">
            <a:avLst/>
          </a:prstGeom>
          <a:noFill/>
        </p:spPr>
        <p:txBody>
          <a:bodyPr wrap="square" rtlCol="0" anchor="ctr"/>
          <a:lstStyle/>
          <a:p>
            <a:pPr marL="0" indent="0">
              <a:buNone/>
            </a:pPr>
            <a:r>
              <a:rPr lang="en-US" sz="1150" b="1" kern="0" spc="150" dirty="0">
                <a:solidFill>
                  <a:srgbClr val="E8871E"/>
                </a:solidFill>
                <a:latin typeface="Calibri" panose="020F0502020204030204" pitchFamily="34" charset="0"/>
                <a:ea typeface="Calibri" panose="020F0502020204030204" pitchFamily="34" charset="-122"/>
                <a:cs typeface="Calibri" panose="020F0502020204030204" pitchFamily="34" charset="-120"/>
              </a:rPr>
              <a:t>CASE STUDY</a:t>
            </a:r>
            <a:endParaRPr lang="en-US" sz="1150" dirty="0"/>
          </a:p>
        </p:txBody>
      </p:sp>
      <p:sp>
        <p:nvSpPr>
          <p:cNvPr id="19" name="Text 15"/>
          <p:cNvSpPr/>
          <p:nvPr/>
        </p:nvSpPr>
        <p:spPr>
          <a:xfrm>
            <a:off x="7269480" y="2029968"/>
            <a:ext cx="4206240" cy="365760"/>
          </a:xfrm>
          <a:prstGeom prst="rect">
            <a:avLst/>
          </a:prstGeom>
          <a:noFill/>
        </p:spPr>
        <p:txBody>
          <a:bodyPr wrap="square" rtlCol="0" anchor="ctr"/>
          <a:lstStyle/>
          <a:p>
            <a:pPr marL="0" indent="0">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Uber Breach — September 2022</a:t>
            </a:r>
            <a:endParaRPr lang="en-US" sz="1700" dirty="0"/>
          </a:p>
        </p:txBody>
      </p:sp>
      <p:sp>
        <p:nvSpPr>
          <p:cNvPr id="20" name="Shape 16"/>
          <p:cNvSpPr/>
          <p:nvPr/>
        </p:nvSpPr>
        <p:spPr>
          <a:xfrm>
            <a:off x="7269480" y="2560320"/>
            <a:ext cx="100584" cy="100584"/>
          </a:xfrm>
          <a:prstGeom prst="ellipse">
            <a:avLst/>
          </a:prstGeom>
          <a:solidFill>
            <a:srgbClr val="E8871E"/>
          </a:solidFill>
        </p:spPr>
        <p:txBody>
          <a:bodyPr/>
          <a:lstStyle/>
          <a:p>
            <a:endParaRPr lang="ar-EG"/>
          </a:p>
        </p:txBody>
      </p:sp>
      <p:sp>
        <p:nvSpPr>
          <p:cNvPr id="21" name="Text 17"/>
          <p:cNvSpPr/>
          <p:nvPr/>
        </p:nvSpPr>
        <p:spPr>
          <a:xfrm>
            <a:off x="7498080" y="2441448"/>
            <a:ext cx="4023360" cy="594360"/>
          </a:xfrm>
          <a:prstGeom prst="rect">
            <a:avLst/>
          </a:prstGeom>
          <a:noFill/>
        </p:spPr>
        <p:txBody>
          <a:bodyPr wrap="square" rtlCol="0" anchor="t"/>
          <a:lstStyle/>
          <a:p>
            <a:pPr marL="0" indent="0">
              <a:lnSpc>
                <a:spcPts val="1300"/>
              </a:lnSpc>
              <a:buNone/>
            </a:pPr>
            <a:r>
              <a:rPr lang="en-US" sz="1050" dirty="0">
                <a:solidFill>
                  <a:srgbClr val="E7E9EA"/>
                </a:solidFill>
                <a:latin typeface="Calibri" panose="020F0502020204030204" pitchFamily="34" charset="0"/>
                <a:ea typeface="Calibri" panose="020F0502020204030204" pitchFamily="34" charset="-122"/>
                <a:cs typeface="Calibri" panose="020F0502020204030204" pitchFamily="34" charset="-120"/>
              </a:rPr>
              <a:t>Attacker purchased a contractor's stolen corporate password from the dark web / malware log</a:t>
            </a:r>
            <a:endParaRPr lang="en-US" sz="1050" dirty="0"/>
          </a:p>
        </p:txBody>
      </p:sp>
      <p:sp>
        <p:nvSpPr>
          <p:cNvPr id="22" name="Shape 18"/>
          <p:cNvSpPr/>
          <p:nvPr/>
        </p:nvSpPr>
        <p:spPr>
          <a:xfrm>
            <a:off x="7269480" y="3218688"/>
            <a:ext cx="100584" cy="100584"/>
          </a:xfrm>
          <a:prstGeom prst="ellipse">
            <a:avLst/>
          </a:prstGeom>
          <a:solidFill>
            <a:srgbClr val="E8871E"/>
          </a:solidFill>
        </p:spPr>
        <p:txBody>
          <a:bodyPr/>
          <a:lstStyle/>
          <a:p>
            <a:endParaRPr lang="ar-EG"/>
          </a:p>
        </p:txBody>
      </p:sp>
      <p:sp>
        <p:nvSpPr>
          <p:cNvPr id="23" name="Text 19"/>
          <p:cNvSpPr/>
          <p:nvPr/>
        </p:nvSpPr>
        <p:spPr>
          <a:xfrm>
            <a:off x="7498080" y="3099816"/>
            <a:ext cx="4023360" cy="594360"/>
          </a:xfrm>
          <a:prstGeom prst="rect">
            <a:avLst/>
          </a:prstGeom>
          <a:noFill/>
        </p:spPr>
        <p:txBody>
          <a:bodyPr wrap="square" rtlCol="0" anchor="t"/>
          <a:lstStyle/>
          <a:p>
            <a:pPr marL="0" indent="0">
              <a:lnSpc>
                <a:spcPts val="1300"/>
              </a:lnSpc>
              <a:buNone/>
            </a:pPr>
            <a:r>
              <a:rPr lang="en-US" sz="1050" dirty="0">
                <a:solidFill>
                  <a:srgbClr val="E7E9EA"/>
                </a:solidFill>
                <a:latin typeface="Calibri" panose="020F0502020204030204" pitchFamily="34" charset="0"/>
                <a:ea typeface="Calibri" panose="020F0502020204030204" pitchFamily="34" charset="-122"/>
                <a:cs typeface="Calibri" panose="020F0502020204030204" pitchFamily="34" charset="-120"/>
              </a:rPr>
              <a:t>Sent dozens of MFA push requests over roughly one hour — the contractor initially declined all of them</a:t>
            </a:r>
            <a:endParaRPr lang="en-US" sz="1050" dirty="0"/>
          </a:p>
        </p:txBody>
      </p:sp>
      <p:sp>
        <p:nvSpPr>
          <p:cNvPr id="24" name="Shape 20"/>
          <p:cNvSpPr/>
          <p:nvPr/>
        </p:nvSpPr>
        <p:spPr>
          <a:xfrm>
            <a:off x="7269480" y="3877056"/>
            <a:ext cx="100584" cy="100584"/>
          </a:xfrm>
          <a:prstGeom prst="ellipse">
            <a:avLst/>
          </a:prstGeom>
          <a:solidFill>
            <a:srgbClr val="E8871E"/>
          </a:solidFill>
        </p:spPr>
        <p:txBody>
          <a:bodyPr/>
          <a:lstStyle/>
          <a:p>
            <a:endParaRPr lang="ar-EG"/>
          </a:p>
        </p:txBody>
      </p:sp>
      <p:sp>
        <p:nvSpPr>
          <p:cNvPr id="25" name="Text 21"/>
          <p:cNvSpPr/>
          <p:nvPr/>
        </p:nvSpPr>
        <p:spPr>
          <a:xfrm>
            <a:off x="7498080" y="3758184"/>
            <a:ext cx="4023360" cy="594360"/>
          </a:xfrm>
          <a:prstGeom prst="rect">
            <a:avLst/>
          </a:prstGeom>
          <a:noFill/>
        </p:spPr>
        <p:txBody>
          <a:bodyPr wrap="square" rtlCol="0" anchor="t"/>
          <a:lstStyle/>
          <a:p>
            <a:pPr marL="0" indent="0">
              <a:lnSpc>
                <a:spcPts val="1300"/>
              </a:lnSpc>
              <a:buNone/>
            </a:pPr>
            <a:r>
              <a:rPr lang="en-US" sz="1050" dirty="0">
                <a:solidFill>
                  <a:srgbClr val="E7E9EA"/>
                </a:solidFill>
                <a:latin typeface="Calibri" panose="020F0502020204030204" pitchFamily="34" charset="0"/>
                <a:ea typeface="Calibri" panose="020F0502020204030204" pitchFamily="34" charset="-122"/>
                <a:cs typeface="Calibri" panose="020F0502020204030204" pitchFamily="34" charset="-120"/>
              </a:rPr>
              <a:t>Posed as IT support on WhatsApp, telling the contractor to accept the prompt to “stop the notifications”</a:t>
            </a:r>
            <a:endParaRPr lang="en-US" sz="1050" dirty="0"/>
          </a:p>
        </p:txBody>
      </p:sp>
      <p:sp>
        <p:nvSpPr>
          <p:cNvPr id="26" name="Shape 22"/>
          <p:cNvSpPr/>
          <p:nvPr/>
        </p:nvSpPr>
        <p:spPr>
          <a:xfrm>
            <a:off x="7269480" y="4535424"/>
            <a:ext cx="100584" cy="100584"/>
          </a:xfrm>
          <a:prstGeom prst="ellipse">
            <a:avLst/>
          </a:prstGeom>
          <a:solidFill>
            <a:srgbClr val="E8871E"/>
          </a:solidFill>
        </p:spPr>
        <p:txBody>
          <a:bodyPr/>
          <a:lstStyle/>
          <a:p>
            <a:endParaRPr lang="ar-EG"/>
          </a:p>
        </p:txBody>
      </p:sp>
      <p:sp>
        <p:nvSpPr>
          <p:cNvPr id="27" name="Text 23"/>
          <p:cNvSpPr/>
          <p:nvPr/>
        </p:nvSpPr>
        <p:spPr>
          <a:xfrm>
            <a:off x="7498080" y="4416552"/>
            <a:ext cx="4023360" cy="594360"/>
          </a:xfrm>
          <a:prstGeom prst="rect">
            <a:avLst/>
          </a:prstGeom>
          <a:noFill/>
        </p:spPr>
        <p:txBody>
          <a:bodyPr wrap="square" rtlCol="0" anchor="t"/>
          <a:lstStyle/>
          <a:p>
            <a:pPr marL="0" indent="0">
              <a:lnSpc>
                <a:spcPts val="1300"/>
              </a:lnSpc>
              <a:buNone/>
            </a:pPr>
            <a:r>
              <a:rPr lang="en-US" sz="1050" dirty="0">
                <a:solidFill>
                  <a:srgbClr val="E7E9EA"/>
                </a:solidFill>
                <a:latin typeface="Calibri" panose="020F0502020204030204" pitchFamily="34" charset="0"/>
                <a:ea typeface="Calibri" panose="020F0502020204030204" pitchFamily="34" charset="-122"/>
                <a:cs typeface="Calibri" panose="020F0502020204030204" pitchFamily="34" charset="-120"/>
              </a:rPr>
              <a:t>Contractor approved one push — attacker gained an authenticated session on the corporate VPN</a:t>
            </a:r>
            <a:endParaRPr lang="en-US" sz="1050" dirty="0"/>
          </a:p>
        </p:txBody>
      </p:sp>
      <p:sp>
        <p:nvSpPr>
          <p:cNvPr id="28" name="Shape 24"/>
          <p:cNvSpPr/>
          <p:nvPr/>
        </p:nvSpPr>
        <p:spPr>
          <a:xfrm>
            <a:off x="7269480" y="5193792"/>
            <a:ext cx="100584" cy="100584"/>
          </a:xfrm>
          <a:prstGeom prst="ellipse">
            <a:avLst/>
          </a:prstGeom>
          <a:solidFill>
            <a:srgbClr val="E8871E"/>
          </a:solidFill>
        </p:spPr>
        <p:txBody>
          <a:bodyPr/>
          <a:lstStyle/>
          <a:p>
            <a:endParaRPr lang="ar-EG"/>
          </a:p>
        </p:txBody>
      </p:sp>
      <p:sp>
        <p:nvSpPr>
          <p:cNvPr id="29" name="Text 25"/>
          <p:cNvSpPr/>
          <p:nvPr/>
        </p:nvSpPr>
        <p:spPr>
          <a:xfrm>
            <a:off x="7498080" y="5074920"/>
            <a:ext cx="4023360" cy="594360"/>
          </a:xfrm>
          <a:prstGeom prst="rect">
            <a:avLst/>
          </a:prstGeom>
          <a:noFill/>
        </p:spPr>
        <p:txBody>
          <a:bodyPr wrap="square" rtlCol="0" anchor="t"/>
          <a:lstStyle/>
          <a:p>
            <a:pPr marL="0" indent="0">
              <a:lnSpc>
                <a:spcPts val="1300"/>
              </a:lnSpc>
              <a:buNone/>
            </a:pPr>
            <a:r>
              <a:rPr lang="en-US" sz="1050" dirty="0">
                <a:solidFill>
                  <a:srgbClr val="E7E9EA"/>
                </a:solidFill>
                <a:latin typeface="Calibri" panose="020F0502020204030204" pitchFamily="34" charset="0"/>
                <a:ea typeface="Calibri" panose="020F0502020204030204" pitchFamily="34" charset="-122"/>
                <a:cs typeface="Calibri" panose="020F0502020204030204" pitchFamily="34" charset="-120"/>
              </a:rPr>
              <a:t>Pivoted internally: found hardcoded credentials on a network share for a PAM tool, escalating to admin access across Slack, AWS, Google Workspace, and internal tools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3 · ATTACK ANATOMY</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MFA Fatigue — Attack Flow</a:t>
            </a:r>
            <a:endParaRPr lang="en-US" sz="3000" dirty="0"/>
          </a:p>
        </p:txBody>
      </p:sp>
      <p:sp>
        <p:nvSpPr>
          <p:cNvPr id="7" name="Shape 5"/>
          <p:cNvSpPr/>
          <p:nvPr/>
        </p:nvSpPr>
        <p:spPr>
          <a:xfrm>
            <a:off x="502920" y="1600200"/>
            <a:ext cx="2103120" cy="3246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612648" y="1709928"/>
            <a:ext cx="640080" cy="457200"/>
          </a:xfrm>
          <a:prstGeom prst="rect">
            <a:avLst/>
          </a:prstGeom>
          <a:noFill/>
        </p:spPr>
        <p:txBody>
          <a:bodyPr wrap="square" rtlCol="0" anchor="ctr"/>
          <a:lstStyle/>
          <a:p>
            <a:pPr marL="0" indent="0">
              <a:buNone/>
            </a:pPr>
            <a:r>
              <a:rPr lang="en-US" sz="2600" b="1" dirty="0">
                <a:solidFill>
                  <a:srgbClr val="D8DCDC"/>
                </a:solidFill>
                <a:latin typeface="Cambria" panose="02040503050406030204" pitchFamily="34" charset="0"/>
                <a:ea typeface="Cambria" panose="02040503050406030204" pitchFamily="34" charset="-122"/>
                <a:cs typeface="Cambria" panose="02040503050406030204" pitchFamily="34" charset="-120"/>
              </a:rPr>
              <a:t>1</a:t>
            </a:r>
            <a:endParaRPr lang="en-US" sz="2600" dirty="0"/>
          </a:p>
        </p:txBody>
      </p:sp>
      <p:sp>
        <p:nvSpPr>
          <p:cNvPr id="9" name="Shape 7"/>
          <p:cNvSpPr/>
          <p:nvPr/>
        </p:nvSpPr>
        <p:spPr>
          <a:xfrm>
            <a:off x="1207008" y="2167128"/>
            <a:ext cx="694944" cy="694944"/>
          </a:xfrm>
          <a:prstGeom prst="ellipse">
            <a:avLst/>
          </a:prstGeom>
          <a:solidFill>
            <a:srgbClr val="E8871E"/>
          </a:solidFill>
        </p:spPr>
        <p:txBody>
          <a:bodyPr/>
          <a:lstStyle/>
          <a:p>
            <a:endParaRPr lang="ar-EG"/>
          </a:p>
        </p:txBody>
      </p:sp>
      <p:pic>
        <p:nvPicPr>
          <p:cNvPr id="10" name="Image 0" descr="/home/claude/deck/icons/key_amber.png"/>
          <p:cNvPicPr>
            <a:picLocks noChangeAspect="1"/>
          </p:cNvPicPr>
          <p:nvPr/>
        </p:nvPicPr>
        <p:blipFill>
          <a:blip r:embed="rId3"/>
          <a:stretch>
            <a:fillRect/>
          </a:stretch>
        </p:blipFill>
        <p:spPr>
          <a:xfrm>
            <a:off x="1363370" y="2323490"/>
            <a:ext cx="382219" cy="382219"/>
          </a:xfrm>
          <a:prstGeom prst="rect">
            <a:avLst/>
          </a:prstGeom>
        </p:spPr>
      </p:pic>
      <p:sp>
        <p:nvSpPr>
          <p:cNvPr id="11" name="Text 8"/>
          <p:cNvSpPr/>
          <p:nvPr/>
        </p:nvSpPr>
        <p:spPr>
          <a:xfrm>
            <a:off x="640080" y="3017520"/>
            <a:ext cx="1828800" cy="548640"/>
          </a:xfrm>
          <a:prstGeom prst="rect">
            <a:avLst/>
          </a:prstGeom>
          <a:noFill/>
        </p:spPr>
        <p:txBody>
          <a:bodyPr wrap="square" rtlCol="0" anchor="t"/>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Obtain Credentials</a:t>
            </a:r>
            <a:endParaRPr lang="en-US" sz="1200" dirty="0"/>
          </a:p>
        </p:txBody>
      </p:sp>
      <p:sp>
        <p:nvSpPr>
          <p:cNvPr id="12" name="Text 9"/>
          <p:cNvSpPr/>
          <p:nvPr/>
        </p:nvSpPr>
        <p:spPr>
          <a:xfrm>
            <a:off x="640080" y="3566160"/>
            <a:ext cx="1828800" cy="1188720"/>
          </a:xfrm>
          <a:prstGeom prst="rect">
            <a:avLst/>
          </a:prstGeom>
          <a:noFill/>
        </p:spPr>
        <p:txBody>
          <a:bodyPr wrap="square" rtlCol="0" anchor="t"/>
          <a:lstStyle/>
          <a:p>
            <a:pPr marL="0" indent="0" algn="ctr">
              <a:lnSpc>
                <a:spcPts val="1200"/>
              </a:lnSpc>
              <a:buNone/>
            </a:pPr>
            <a:r>
              <a:rPr lang="en-US" sz="970" dirty="0">
                <a:solidFill>
                  <a:srgbClr val="5B6670"/>
                </a:solidFill>
                <a:latin typeface="Calibri" panose="020F0502020204030204" pitchFamily="34" charset="0"/>
                <a:ea typeface="Calibri" panose="020F0502020204030204" pitchFamily="34" charset="-122"/>
                <a:cs typeface="Calibri" panose="020F0502020204030204" pitchFamily="34" charset="-120"/>
              </a:rPr>
              <a:t>Phishing, infostealer malware, or dark-web breach dump provides valid username + password</a:t>
            </a:r>
            <a:endParaRPr lang="en-US" sz="970" dirty="0"/>
          </a:p>
        </p:txBody>
      </p:sp>
      <p:sp>
        <p:nvSpPr>
          <p:cNvPr id="13" name="Shape 10"/>
          <p:cNvSpPr/>
          <p:nvPr/>
        </p:nvSpPr>
        <p:spPr>
          <a:xfrm>
            <a:off x="2615184" y="3140964"/>
            <a:ext cx="164592" cy="164592"/>
          </a:xfrm>
          <a:prstGeom prst="rightArrow">
            <a:avLst/>
          </a:prstGeom>
          <a:solidFill>
            <a:srgbClr val="E8871E"/>
          </a:solidFill>
        </p:spPr>
        <p:txBody>
          <a:bodyPr/>
          <a:lstStyle/>
          <a:p>
            <a:endParaRPr lang="ar-EG"/>
          </a:p>
        </p:txBody>
      </p:sp>
      <p:sp>
        <p:nvSpPr>
          <p:cNvPr id="14" name="Shape 11"/>
          <p:cNvSpPr/>
          <p:nvPr/>
        </p:nvSpPr>
        <p:spPr>
          <a:xfrm>
            <a:off x="2788920" y="1600200"/>
            <a:ext cx="2103120" cy="3246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5" name="Text 12"/>
          <p:cNvSpPr/>
          <p:nvPr/>
        </p:nvSpPr>
        <p:spPr>
          <a:xfrm>
            <a:off x="2898648" y="1709928"/>
            <a:ext cx="640080" cy="457200"/>
          </a:xfrm>
          <a:prstGeom prst="rect">
            <a:avLst/>
          </a:prstGeom>
          <a:noFill/>
        </p:spPr>
        <p:txBody>
          <a:bodyPr wrap="square" rtlCol="0" anchor="ctr"/>
          <a:lstStyle/>
          <a:p>
            <a:pPr marL="0" indent="0">
              <a:buNone/>
            </a:pPr>
            <a:r>
              <a:rPr lang="en-US" sz="2600" b="1" dirty="0">
                <a:solidFill>
                  <a:srgbClr val="D8DCDC"/>
                </a:solidFill>
                <a:latin typeface="Cambria" panose="02040503050406030204" pitchFamily="34" charset="0"/>
                <a:ea typeface="Cambria" panose="02040503050406030204" pitchFamily="34" charset="-122"/>
                <a:cs typeface="Cambria" panose="02040503050406030204" pitchFamily="34" charset="-120"/>
              </a:rPr>
              <a:t>2</a:t>
            </a:r>
            <a:endParaRPr lang="en-US" sz="2600" dirty="0"/>
          </a:p>
        </p:txBody>
      </p:sp>
      <p:sp>
        <p:nvSpPr>
          <p:cNvPr id="16" name="Shape 13"/>
          <p:cNvSpPr/>
          <p:nvPr/>
        </p:nvSpPr>
        <p:spPr>
          <a:xfrm>
            <a:off x="3493008" y="2167128"/>
            <a:ext cx="694944" cy="694944"/>
          </a:xfrm>
          <a:prstGeom prst="ellipse">
            <a:avLst/>
          </a:prstGeom>
          <a:solidFill>
            <a:srgbClr val="E8871E"/>
          </a:solidFill>
        </p:spPr>
        <p:txBody>
          <a:bodyPr/>
          <a:lstStyle/>
          <a:p>
            <a:endParaRPr lang="ar-EG"/>
          </a:p>
        </p:txBody>
      </p:sp>
      <p:pic>
        <p:nvPicPr>
          <p:cNvPr id="17" name="Image 1" descr="/home/claude/deck/icons/bell_amber.png"/>
          <p:cNvPicPr>
            <a:picLocks noChangeAspect="1"/>
          </p:cNvPicPr>
          <p:nvPr/>
        </p:nvPicPr>
        <p:blipFill>
          <a:blip r:embed="rId4"/>
          <a:stretch>
            <a:fillRect/>
          </a:stretch>
        </p:blipFill>
        <p:spPr>
          <a:xfrm>
            <a:off x="3649370" y="2323490"/>
            <a:ext cx="382219" cy="382219"/>
          </a:xfrm>
          <a:prstGeom prst="rect">
            <a:avLst/>
          </a:prstGeom>
        </p:spPr>
      </p:pic>
      <p:sp>
        <p:nvSpPr>
          <p:cNvPr id="18" name="Text 14"/>
          <p:cNvSpPr/>
          <p:nvPr/>
        </p:nvSpPr>
        <p:spPr>
          <a:xfrm>
            <a:off x="2926080" y="3017520"/>
            <a:ext cx="1828800" cy="548640"/>
          </a:xfrm>
          <a:prstGeom prst="rect">
            <a:avLst/>
          </a:prstGeom>
          <a:noFill/>
        </p:spPr>
        <p:txBody>
          <a:bodyPr wrap="square" rtlCol="0" anchor="t"/>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Trigger Repeated Pushes</a:t>
            </a:r>
            <a:endParaRPr lang="en-US" sz="1200" dirty="0"/>
          </a:p>
        </p:txBody>
      </p:sp>
      <p:sp>
        <p:nvSpPr>
          <p:cNvPr id="19" name="Text 15"/>
          <p:cNvSpPr/>
          <p:nvPr/>
        </p:nvSpPr>
        <p:spPr>
          <a:xfrm>
            <a:off x="2926080" y="3566160"/>
            <a:ext cx="1828800" cy="1188720"/>
          </a:xfrm>
          <a:prstGeom prst="rect">
            <a:avLst/>
          </a:prstGeom>
          <a:noFill/>
        </p:spPr>
        <p:txBody>
          <a:bodyPr wrap="square" rtlCol="0" anchor="t"/>
          <a:lstStyle/>
          <a:p>
            <a:pPr marL="0" indent="0" algn="ctr">
              <a:lnSpc>
                <a:spcPts val="1200"/>
              </a:lnSpc>
              <a:buNone/>
            </a:pPr>
            <a:r>
              <a:rPr lang="en-US" sz="970" dirty="0">
                <a:solidFill>
                  <a:srgbClr val="5B6670"/>
                </a:solidFill>
                <a:latin typeface="Calibri" panose="020F0502020204030204" pitchFamily="34" charset="0"/>
                <a:ea typeface="Calibri" panose="020F0502020204030204" pitchFamily="34" charset="-122"/>
                <a:cs typeface="Calibri" panose="020F0502020204030204" pitchFamily="34" charset="-120"/>
              </a:rPr>
              <a:t>Attacker logs in repeatedly, firing push notifications to the victim's authenticator app</a:t>
            </a:r>
            <a:endParaRPr lang="en-US" sz="970" dirty="0"/>
          </a:p>
        </p:txBody>
      </p:sp>
      <p:sp>
        <p:nvSpPr>
          <p:cNvPr id="20" name="Shape 16"/>
          <p:cNvSpPr/>
          <p:nvPr/>
        </p:nvSpPr>
        <p:spPr>
          <a:xfrm>
            <a:off x="4901184" y="3140964"/>
            <a:ext cx="164592" cy="164592"/>
          </a:xfrm>
          <a:prstGeom prst="rightArrow">
            <a:avLst/>
          </a:prstGeom>
          <a:solidFill>
            <a:srgbClr val="E8871E"/>
          </a:solidFill>
        </p:spPr>
        <p:txBody>
          <a:bodyPr/>
          <a:lstStyle/>
          <a:p>
            <a:endParaRPr lang="ar-EG"/>
          </a:p>
        </p:txBody>
      </p:sp>
      <p:sp>
        <p:nvSpPr>
          <p:cNvPr id="21" name="Shape 17"/>
          <p:cNvSpPr/>
          <p:nvPr/>
        </p:nvSpPr>
        <p:spPr>
          <a:xfrm>
            <a:off x="5074920" y="1600200"/>
            <a:ext cx="2103120" cy="3246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2" name="Text 18"/>
          <p:cNvSpPr/>
          <p:nvPr/>
        </p:nvSpPr>
        <p:spPr>
          <a:xfrm>
            <a:off x="5184648" y="1709928"/>
            <a:ext cx="640080" cy="457200"/>
          </a:xfrm>
          <a:prstGeom prst="rect">
            <a:avLst/>
          </a:prstGeom>
          <a:noFill/>
        </p:spPr>
        <p:txBody>
          <a:bodyPr wrap="square" rtlCol="0" anchor="ctr"/>
          <a:lstStyle/>
          <a:p>
            <a:pPr marL="0" indent="0">
              <a:buNone/>
            </a:pPr>
            <a:r>
              <a:rPr lang="en-US" sz="2600" b="1" dirty="0">
                <a:solidFill>
                  <a:srgbClr val="D8DCDC"/>
                </a:solidFill>
                <a:latin typeface="Cambria" panose="02040503050406030204" pitchFamily="34" charset="0"/>
                <a:ea typeface="Cambria" panose="02040503050406030204" pitchFamily="34" charset="-122"/>
                <a:cs typeface="Cambria" panose="02040503050406030204" pitchFamily="34" charset="-120"/>
              </a:rPr>
              <a:t>3</a:t>
            </a:r>
            <a:endParaRPr lang="en-US" sz="2600" dirty="0"/>
          </a:p>
        </p:txBody>
      </p:sp>
      <p:sp>
        <p:nvSpPr>
          <p:cNvPr id="23" name="Shape 19"/>
          <p:cNvSpPr/>
          <p:nvPr/>
        </p:nvSpPr>
        <p:spPr>
          <a:xfrm>
            <a:off x="5779008" y="2167128"/>
            <a:ext cx="694944" cy="694944"/>
          </a:xfrm>
          <a:prstGeom prst="ellipse">
            <a:avLst/>
          </a:prstGeom>
          <a:solidFill>
            <a:srgbClr val="E8871E"/>
          </a:solidFill>
        </p:spPr>
        <p:txBody>
          <a:bodyPr/>
          <a:lstStyle/>
          <a:p>
            <a:endParaRPr lang="ar-EG"/>
          </a:p>
        </p:txBody>
      </p:sp>
      <p:pic>
        <p:nvPicPr>
          <p:cNvPr id="24" name="Image 2" descr="/home/claude/deck/icons/mobile_amber.png"/>
          <p:cNvPicPr>
            <a:picLocks noChangeAspect="1"/>
          </p:cNvPicPr>
          <p:nvPr/>
        </p:nvPicPr>
        <p:blipFill>
          <a:blip r:embed="rId5"/>
          <a:stretch>
            <a:fillRect/>
          </a:stretch>
        </p:blipFill>
        <p:spPr>
          <a:xfrm>
            <a:off x="5935370" y="2323490"/>
            <a:ext cx="382219" cy="382219"/>
          </a:xfrm>
          <a:prstGeom prst="rect">
            <a:avLst/>
          </a:prstGeom>
        </p:spPr>
      </p:pic>
      <p:sp>
        <p:nvSpPr>
          <p:cNvPr id="25" name="Text 20"/>
          <p:cNvSpPr/>
          <p:nvPr/>
        </p:nvSpPr>
        <p:spPr>
          <a:xfrm>
            <a:off x="5212080" y="3017520"/>
            <a:ext cx="1828800" cy="548640"/>
          </a:xfrm>
          <a:prstGeom prst="rect">
            <a:avLst/>
          </a:prstGeom>
          <a:noFill/>
        </p:spPr>
        <p:txBody>
          <a:bodyPr wrap="square" rtlCol="0" anchor="t"/>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Social Engineering</a:t>
            </a:r>
            <a:endParaRPr lang="en-US" sz="1200" dirty="0"/>
          </a:p>
        </p:txBody>
      </p:sp>
      <p:sp>
        <p:nvSpPr>
          <p:cNvPr id="26" name="Text 21"/>
          <p:cNvSpPr/>
          <p:nvPr/>
        </p:nvSpPr>
        <p:spPr>
          <a:xfrm>
            <a:off x="5212080" y="3566160"/>
            <a:ext cx="1828800" cy="1188720"/>
          </a:xfrm>
          <a:prstGeom prst="rect">
            <a:avLst/>
          </a:prstGeom>
          <a:noFill/>
        </p:spPr>
        <p:txBody>
          <a:bodyPr wrap="square" rtlCol="0" anchor="t"/>
          <a:lstStyle/>
          <a:p>
            <a:pPr marL="0" indent="0" algn="ctr">
              <a:lnSpc>
                <a:spcPts val="1200"/>
              </a:lnSpc>
              <a:buNone/>
            </a:pPr>
            <a:r>
              <a:rPr lang="en-US" sz="970" dirty="0">
                <a:solidFill>
                  <a:srgbClr val="5B6670"/>
                </a:solidFill>
                <a:latin typeface="Calibri" panose="020F0502020204030204" pitchFamily="34" charset="0"/>
                <a:ea typeface="Calibri" panose="020F0502020204030204" pitchFamily="34" charset="-122"/>
                <a:cs typeface="Calibri" panose="020F0502020204030204" pitchFamily="34" charset="-120"/>
              </a:rPr>
              <a:t>Attacker contacts victim (call/SMS/WhatsApp) posing as IT support, pressuring approval</a:t>
            </a:r>
            <a:endParaRPr lang="en-US" sz="970" dirty="0"/>
          </a:p>
        </p:txBody>
      </p:sp>
      <p:sp>
        <p:nvSpPr>
          <p:cNvPr id="27" name="Shape 22"/>
          <p:cNvSpPr/>
          <p:nvPr/>
        </p:nvSpPr>
        <p:spPr>
          <a:xfrm>
            <a:off x="7187184" y="3140964"/>
            <a:ext cx="164592" cy="164592"/>
          </a:xfrm>
          <a:prstGeom prst="rightArrow">
            <a:avLst/>
          </a:prstGeom>
          <a:solidFill>
            <a:srgbClr val="E8871E"/>
          </a:solidFill>
        </p:spPr>
        <p:txBody>
          <a:bodyPr/>
          <a:lstStyle/>
          <a:p>
            <a:endParaRPr lang="ar-EG"/>
          </a:p>
        </p:txBody>
      </p:sp>
      <p:sp>
        <p:nvSpPr>
          <p:cNvPr id="28" name="Shape 23"/>
          <p:cNvSpPr/>
          <p:nvPr/>
        </p:nvSpPr>
        <p:spPr>
          <a:xfrm>
            <a:off x="7360920" y="1600200"/>
            <a:ext cx="2103120" cy="3246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9" name="Text 24"/>
          <p:cNvSpPr/>
          <p:nvPr/>
        </p:nvSpPr>
        <p:spPr>
          <a:xfrm>
            <a:off x="7470648" y="1709928"/>
            <a:ext cx="640080" cy="457200"/>
          </a:xfrm>
          <a:prstGeom prst="rect">
            <a:avLst/>
          </a:prstGeom>
          <a:noFill/>
        </p:spPr>
        <p:txBody>
          <a:bodyPr wrap="square" rtlCol="0" anchor="ctr"/>
          <a:lstStyle/>
          <a:p>
            <a:pPr marL="0" indent="0">
              <a:buNone/>
            </a:pPr>
            <a:r>
              <a:rPr lang="en-US" sz="2600" b="1" dirty="0">
                <a:solidFill>
                  <a:srgbClr val="D8DCDC"/>
                </a:solidFill>
                <a:latin typeface="Cambria" panose="02040503050406030204" pitchFamily="34" charset="0"/>
                <a:ea typeface="Cambria" panose="02040503050406030204" pitchFamily="34" charset="-122"/>
                <a:cs typeface="Cambria" panose="02040503050406030204" pitchFamily="34" charset="-120"/>
              </a:rPr>
              <a:t>4</a:t>
            </a:r>
            <a:endParaRPr lang="en-US" sz="2600" dirty="0"/>
          </a:p>
        </p:txBody>
      </p:sp>
      <p:sp>
        <p:nvSpPr>
          <p:cNvPr id="30" name="Shape 25"/>
          <p:cNvSpPr/>
          <p:nvPr/>
        </p:nvSpPr>
        <p:spPr>
          <a:xfrm>
            <a:off x="8065008" y="2167128"/>
            <a:ext cx="694944" cy="694944"/>
          </a:xfrm>
          <a:prstGeom prst="ellipse">
            <a:avLst/>
          </a:prstGeom>
          <a:solidFill>
            <a:srgbClr val="E8871E"/>
          </a:solidFill>
        </p:spPr>
        <p:txBody>
          <a:bodyPr/>
          <a:lstStyle/>
          <a:p>
            <a:endParaRPr lang="ar-EG"/>
          </a:p>
        </p:txBody>
      </p:sp>
      <p:pic>
        <p:nvPicPr>
          <p:cNvPr id="31" name="Image 3" descr="/home/claude/deck/icons/lock_open_amber.png"/>
          <p:cNvPicPr>
            <a:picLocks noChangeAspect="1"/>
          </p:cNvPicPr>
          <p:nvPr/>
        </p:nvPicPr>
        <p:blipFill>
          <a:blip r:embed="rId6"/>
          <a:stretch>
            <a:fillRect/>
          </a:stretch>
        </p:blipFill>
        <p:spPr>
          <a:xfrm>
            <a:off x="8221370" y="2323490"/>
            <a:ext cx="382219" cy="382219"/>
          </a:xfrm>
          <a:prstGeom prst="rect">
            <a:avLst/>
          </a:prstGeom>
        </p:spPr>
      </p:pic>
      <p:sp>
        <p:nvSpPr>
          <p:cNvPr id="32" name="Text 26"/>
          <p:cNvSpPr/>
          <p:nvPr/>
        </p:nvSpPr>
        <p:spPr>
          <a:xfrm>
            <a:off x="7498080" y="3017520"/>
            <a:ext cx="1828800" cy="548640"/>
          </a:xfrm>
          <a:prstGeom prst="rect">
            <a:avLst/>
          </a:prstGeom>
          <a:noFill/>
        </p:spPr>
        <p:txBody>
          <a:bodyPr wrap="square" rtlCol="0" anchor="t"/>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Victim Approves</a:t>
            </a:r>
            <a:endParaRPr lang="en-US" sz="1200" dirty="0"/>
          </a:p>
        </p:txBody>
      </p:sp>
      <p:sp>
        <p:nvSpPr>
          <p:cNvPr id="33" name="Text 27"/>
          <p:cNvSpPr/>
          <p:nvPr/>
        </p:nvSpPr>
        <p:spPr>
          <a:xfrm>
            <a:off x="7498080" y="3566160"/>
            <a:ext cx="1828800" cy="1188720"/>
          </a:xfrm>
          <a:prstGeom prst="rect">
            <a:avLst/>
          </a:prstGeom>
          <a:noFill/>
        </p:spPr>
        <p:txBody>
          <a:bodyPr wrap="square" rtlCol="0" anchor="t"/>
          <a:lstStyle/>
          <a:p>
            <a:pPr marL="0" indent="0" algn="ctr">
              <a:lnSpc>
                <a:spcPts val="1200"/>
              </a:lnSpc>
              <a:buNone/>
            </a:pPr>
            <a:r>
              <a:rPr lang="en-US" sz="970" dirty="0">
                <a:solidFill>
                  <a:srgbClr val="5B6670"/>
                </a:solidFill>
                <a:latin typeface="Calibri" panose="020F0502020204030204" pitchFamily="34" charset="0"/>
                <a:ea typeface="Calibri" panose="020F0502020204030204" pitchFamily="34" charset="-122"/>
                <a:cs typeface="Calibri" panose="020F0502020204030204" pitchFamily="34" charset="-120"/>
              </a:rPr>
              <a:t>Out of annoyance, confusion, or belief it's legitimate, the victim taps “Approve”</a:t>
            </a:r>
            <a:endParaRPr lang="en-US" sz="970" dirty="0"/>
          </a:p>
        </p:txBody>
      </p:sp>
      <p:sp>
        <p:nvSpPr>
          <p:cNvPr id="34" name="Shape 28"/>
          <p:cNvSpPr/>
          <p:nvPr/>
        </p:nvSpPr>
        <p:spPr>
          <a:xfrm>
            <a:off x="9473184" y="3140964"/>
            <a:ext cx="164592" cy="164592"/>
          </a:xfrm>
          <a:prstGeom prst="rightArrow">
            <a:avLst/>
          </a:prstGeom>
          <a:solidFill>
            <a:srgbClr val="E8871E"/>
          </a:solidFill>
        </p:spPr>
        <p:txBody>
          <a:bodyPr/>
          <a:lstStyle/>
          <a:p>
            <a:endParaRPr lang="ar-EG"/>
          </a:p>
        </p:txBody>
      </p:sp>
      <p:sp>
        <p:nvSpPr>
          <p:cNvPr id="35" name="Shape 29"/>
          <p:cNvSpPr/>
          <p:nvPr/>
        </p:nvSpPr>
        <p:spPr>
          <a:xfrm>
            <a:off x="9646920" y="1600200"/>
            <a:ext cx="2103120" cy="3246120"/>
          </a:xfrm>
          <a:prstGeom prst="roundRect">
            <a:avLst>
              <a:gd name="adj" fmla="val 3043"/>
            </a:avLst>
          </a:prstGeom>
          <a:solidFill>
            <a:srgbClr val="2B2D2F"/>
          </a:solidFill>
          <a:ln w="12700">
            <a:solidFill>
              <a:srgbClr val="2B2D2F"/>
            </a:solidFill>
            <a:prstDash val="solid"/>
          </a:ln>
          <a:effectLst>
            <a:outerShdw blurRad="76200" dist="25400" dir="5400000" algn="bl" rotWithShape="0">
              <a:srgbClr val="8B939A">
                <a:alpha val="18000"/>
              </a:srgbClr>
            </a:outerShdw>
          </a:effectLst>
        </p:spPr>
        <p:txBody>
          <a:bodyPr/>
          <a:lstStyle/>
          <a:p>
            <a:endParaRPr lang="ar-EG"/>
          </a:p>
        </p:txBody>
      </p:sp>
      <p:sp>
        <p:nvSpPr>
          <p:cNvPr id="36" name="Text 30"/>
          <p:cNvSpPr/>
          <p:nvPr/>
        </p:nvSpPr>
        <p:spPr>
          <a:xfrm>
            <a:off x="9756648" y="1709928"/>
            <a:ext cx="640080" cy="457200"/>
          </a:xfrm>
          <a:prstGeom prst="rect">
            <a:avLst/>
          </a:prstGeom>
          <a:noFill/>
        </p:spPr>
        <p:txBody>
          <a:bodyPr wrap="square" rtlCol="0" anchor="ctr"/>
          <a:lstStyle/>
          <a:p>
            <a:pPr marL="0" indent="0">
              <a:buNone/>
            </a:pPr>
            <a:r>
              <a:rPr lang="en-US" sz="2600" b="1" dirty="0">
                <a:solidFill>
                  <a:srgbClr val="E8871E"/>
                </a:solidFill>
                <a:latin typeface="Cambria" panose="02040503050406030204" pitchFamily="34" charset="0"/>
                <a:ea typeface="Cambria" panose="02040503050406030204" pitchFamily="34" charset="-122"/>
                <a:cs typeface="Cambria" panose="02040503050406030204" pitchFamily="34" charset="-120"/>
              </a:rPr>
              <a:t>5</a:t>
            </a:r>
            <a:endParaRPr lang="en-US" sz="2600" dirty="0"/>
          </a:p>
        </p:txBody>
      </p:sp>
      <p:sp>
        <p:nvSpPr>
          <p:cNvPr id="37" name="Shape 31"/>
          <p:cNvSpPr/>
          <p:nvPr/>
        </p:nvSpPr>
        <p:spPr>
          <a:xfrm>
            <a:off x="10351008" y="2167128"/>
            <a:ext cx="694944" cy="694944"/>
          </a:xfrm>
          <a:prstGeom prst="ellipse">
            <a:avLst/>
          </a:prstGeom>
          <a:solidFill>
            <a:srgbClr val="E8871E"/>
          </a:solidFill>
        </p:spPr>
        <p:txBody>
          <a:bodyPr/>
          <a:lstStyle/>
          <a:p>
            <a:endParaRPr lang="ar-EG"/>
          </a:p>
        </p:txBody>
      </p:sp>
      <p:pic>
        <p:nvPicPr>
          <p:cNvPr id="38" name="Image 4" descr="/home/claude/deck/icons/skull_amber.png"/>
          <p:cNvPicPr>
            <a:picLocks noChangeAspect="1"/>
          </p:cNvPicPr>
          <p:nvPr/>
        </p:nvPicPr>
        <p:blipFill>
          <a:blip r:embed="rId7"/>
          <a:stretch>
            <a:fillRect/>
          </a:stretch>
        </p:blipFill>
        <p:spPr>
          <a:xfrm>
            <a:off x="10507370" y="2323490"/>
            <a:ext cx="382219" cy="382219"/>
          </a:xfrm>
          <a:prstGeom prst="rect">
            <a:avLst/>
          </a:prstGeom>
        </p:spPr>
      </p:pic>
      <p:sp>
        <p:nvSpPr>
          <p:cNvPr id="39" name="Text 32"/>
          <p:cNvSpPr/>
          <p:nvPr/>
        </p:nvSpPr>
        <p:spPr>
          <a:xfrm>
            <a:off x="9784080" y="3017520"/>
            <a:ext cx="1828800" cy="548640"/>
          </a:xfrm>
          <a:prstGeom prst="rect">
            <a:avLst/>
          </a:prstGeom>
          <a:noFill/>
        </p:spPr>
        <p:txBody>
          <a:bodyPr wrap="square" rtlCol="0" anchor="t"/>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Session Hijacked</a:t>
            </a:r>
            <a:endParaRPr lang="en-US" sz="1200" dirty="0"/>
          </a:p>
        </p:txBody>
      </p:sp>
      <p:sp>
        <p:nvSpPr>
          <p:cNvPr id="40" name="Text 33"/>
          <p:cNvSpPr/>
          <p:nvPr/>
        </p:nvSpPr>
        <p:spPr>
          <a:xfrm>
            <a:off x="9784080" y="3566160"/>
            <a:ext cx="1828800" cy="1188720"/>
          </a:xfrm>
          <a:prstGeom prst="rect">
            <a:avLst/>
          </a:prstGeom>
          <a:noFill/>
        </p:spPr>
        <p:txBody>
          <a:bodyPr wrap="square" rtlCol="0" anchor="t"/>
          <a:lstStyle/>
          <a:p>
            <a:pPr marL="0" indent="0" algn="ctr">
              <a:lnSpc>
                <a:spcPts val="1200"/>
              </a:lnSpc>
              <a:buNone/>
            </a:pPr>
            <a:r>
              <a:rPr lang="en-US" sz="970" dirty="0">
                <a:solidFill>
                  <a:srgbClr val="C9CFD1"/>
                </a:solidFill>
                <a:latin typeface="Calibri" panose="020F0502020204030204" pitchFamily="34" charset="0"/>
                <a:ea typeface="Calibri" panose="020F0502020204030204" pitchFamily="34" charset="-122"/>
                <a:cs typeface="Calibri" panose="020F0502020204030204" pitchFamily="34" charset="-120"/>
              </a:rPr>
              <a:t>Attacker receives a valid authenticated session and begins lateral movement</a:t>
            </a:r>
            <a:endParaRPr lang="en-US" sz="970" dirty="0"/>
          </a:p>
        </p:txBody>
      </p:sp>
      <p:sp>
        <p:nvSpPr>
          <p:cNvPr id="41" name="Text 34"/>
          <p:cNvSpPr/>
          <p:nvPr/>
        </p:nvSpPr>
        <p:spPr>
          <a:xfrm>
            <a:off x="502920" y="5029200"/>
            <a:ext cx="11247120" cy="502920"/>
          </a:xfrm>
          <a:prstGeom prst="rect">
            <a:avLst/>
          </a:prstGeom>
          <a:noFill/>
        </p:spPr>
        <p:txBody>
          <a:bodyPr wrap="square" rtlCol="0" anchor="ctr"/>
          <a:lstStyle/>
          <a:p>
            <a:pPr marL="0" indent="0">
              <a:buNone/>
            </a:pPr>
            <a:r>
              <a:rPr lang="en-US" sz="1250" i="1" dirty="0">
                <a:solidFill>
                  <a:srgbClr val="5B6670"/>
                </a:solidFill>
                <a:latin typeface="Calibri" panose="020F0502020204030204" pitchFamily="34" charset="0"/>
                <a:ea typeface="Calibri" panose="020F0502020204030204" pitchFamily="34" charset="-122"/>
                <a:cs typeface="Calibri" panose="020F0502020204030204" pitchFamily="34" charset="-120"/>
              </a:rPr>
              <a:t>Notice: at no point does the attacker need to defeat MFA cryptographically — they exploit human decision fatigue and notification design.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18</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3 · DEFENSE</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Defending Against MFA Fatigue</a:t>
            </a:r>
            <a:endParaRPr lang="en-US" sz="3000" dirty="0"/>
          </a:p>
        </p:txBody>
      </p:sp>
      <p:sp>
        <p:nvSpPr>
          <p:cNvPr id="7" name="Shape 5"/>
          <p:cNvSpPr/>
          <p:nvPr/>
        </p:nvSpPr>
        <p:spPr>
          <a:xfrm>
            <a:off x="502920" y="1463040"/>
            <a:ext cx="5486400" cy="1481328"/>
          </a:xfrm>
          <a:prstGeom prst="roundRect">
            <a:avLst>
              <a:gd name="adj" fmla="val 4321"/>
            </a:avLst>
          </a:prstGeom>
          <a:solidFill>
            <a:srgbClr val="FFFFFF"/>
          </a:solidFill>
          <a:ln w="12700">
            <a:solidFill>
              <a:srgbClr val="DCE1E2"/>
            </a:solidFill>
            <a:prstDash val="solid"/>
          </a:ln>
        </p:spPr>
        <p:txBody>
          <a:bodyPr/>
          <a:lstStyle/>
          <a:p>
            <a:endParaRPr lang="ar-EG"/>
          </a:p>
        </p:txBody>
      </p:sp>
      <p:sp>
        <p:nvSpPr>
          <p:cNvPr id="8" name="Shape 6"/>
          <p:cNvSpPr/>
          <p:nvPr/>
        </p:nvSpPr>
        <p:spPr>
          <a:xfrm>
            <a:off x="667512" y="1627632"/>
            <a:ext cx="621792" cy="621792"/>
          </a:xfrm>
          <a:prstGeom prst="ellipse">
            <a:avLst/>
          </a:prstGeom>
          <a:solidFill>
            <a:srgbClr val="0E7C7B"/>
          </a:solidFill>
        </p:spPr>
        <p:txBody>
          <a:bodyPr/>
          <a:lstStyle/>
          <a:p>
            <a:endParaRPr lang="ar-EG"/>
          </a:p>
        </p:txBody>
      </p:sp>
      <p:pic>
        <p:nvPicPr>
          <p:cNvPr id="9" name="Image 0" descr="/home/claude/deck/icons/check_teal.png"/>
          <p:cNvPicPr>
            <a:picLocks noChangeAspect="1"/>
          </p:cNvPicPr>
          <p:nvPr/>
        </p:nvPicPr>
        <p:blipFill>
          <a:blip r:embed="rId3"/>
          <a:stretch>
            <a:fillRect/>
          </a:stretch>
        </p:blipFill>
        <p:spPr>
          <a:xfrm>
            <a:off x="807415" y="1767535"/>
            <a:ext cx="341986" cy="341986"/>
          </a:xfrm>
          <a:prstGeom prst="rect">
            <a:avLst/>
          </a:prstGeom>
        </p:spPr>
      </p:pic>
      <p:sp>
        <p:nvSpPr>
          <p:cNvPr id="10" name="Text 7"/>
          <p:cNvSpPr/>
          <p:nvPr/>
        </p:nvSpPr>
        <p:spPr>
          <a:xfrm>
            <a:off x="1417320" y="1591056"/>
            <a:ext cx="4434840" cy="320040"/>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Number Matching</a:t>
            </a:r>
            <a:endParaRPr lang="en-US" sz="1300" dirty="0"/>
          </a:p>
        </p:txBody>
      </p:sp>
      <p:sp>
        <p:nvSpPr>
          <p:cNvPr id="11" name="Text 8"/>
          <p:cNvSpPr/>
          <p:nvPr/>
        </p:nvSpPr>
        <p:spPr>
          <a:xfrm>
            <a:off x="1417320" y="1920240"/>
            <a:ext cx="4434840" cy="960120"/>
          </a:xfrm>
          <a:prstGeom prst="rect">
            <a:avLst/>
          </a:prstGeom>
          <a:noFill/>
        </p:spPr>
        <p:txBody>
          <a:bodyPr wrap="square" rtlCol="0" anchor="t"/>
          <a:lstStyle/>
          <a:p>
            <a:pPr marL="0" indent="0">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User must enter a number shown on the login screen into the app — defeats blind tapping (Microsoft Authenticator, Duo Verified Push)</a:t>
            </a:r>
            <a:endParaRPr lang="en-US" sz="1030" dirty="0"/>
          </a:p>
        </p:txBody>
      </p:sp>
      <p:sp>
        <p:nvSpPr>
          <p:cNvPr id="12" name="Shape 9"/>
          <p:cNvSpPr/>
          <p:nvPr/>
        </p:nvSpPr>
        <p:spPr>
          <a:xfrm>
            <a:off x="6263640" y="1463040"/>
            <a:ext cx="5486400" cy="1481328"/>
          </a:xfrm>
          <a:prstGeom prst="roundRect">
            <a:avLst>
              <a:gd name="adj" fmla="val 4321"/>
            </a:avLst>
          </a:prstGeom>
          <a:solidFill>
            <a:srgbClr val="FFFFFF"/>
          </a:solidFill>
          <a:ln w="12700">
            <a:solidFill>
              <a:srgbClr val="DCE1E2"/>
            </a:solidFill>
            <a:prstDash val="solid"/>
          </a:ln>
        </p:spPr>
        <p:txBody>
          <a:bodyPr/>
          <a:lstStyle/>
          <a:p>
            <a:endParaRPr lang="ar-EG"/>
          </a:p>
        </p:txBody>
      </p:sp>
      <p:sp>
        <p:nvSpPr>
          <p:cNvPr id="13" name="Shape 10"/>
          <p:cNvSpPr/>
          <p:nvPr/>
        </p:nvSpPr>
        <p:spPr>
          <a:xfrm>
            <a:off x="6428232" y="1627632"/>
            <a:ext cx="621792" cy="621792"/>
          </a:xfrm>
          <a:prstGeom prst="ellipse">
            <a:avLst/>
          </a:prstGeom>
          <a:solidFill>
            <a:srgbClr val="0E7C7B"/>
          </a:solidFill>
        </p:spPr>
        <p:txBody>
          <a:bodyPr/>
          <a:lstStyle/>
          <a:p>
            <a:endParaRPr lang="ar-EG"/>
          </a:p>
        </p:txBody>
      </p:sp>
      <p:pic>
        <p:nvPicPr>
          <p:cNvPr id="14" name="Image 1" descr="/home/claude/deck/icons/ban_amber.png"/>
          <p:cNvPicPr>
            <a:picLocks noChangeAspect="1"/>
          </p:cNvPicPr>
          <p:nvPr/>
        </p:nvPicPr>
        <p:blipFill>
          <a:blip r:embed="rId4"/>
          <a:stretch>
            <a:fillRect/>
          </a:stretch>
        </p:blipFill>
        <p:spPr>
          <a:xfrm>
            <a:off x="6568135" y="1767535"/>
            <a:ext cx="341986" cy="341986"/>
          </a:xfrm>
          <a:prstGeom prst="rect">
            <a:avLst/>
          </a:prstGeom>
        </p:spPr>
      </p:pic>
      <p:sp>
        <p:nvSpPr>
          <p:cNvPr id="15" name="Text 11"/>
          <p:cNvSpPr/>
          <p:nvPr/>
        </p:nvSpPr>
        <p:spPr>
          <a:xfrm>
            <a:off x="7178040" y="1591056"/>
            <a:ext cx="4434840" cy="320040"/>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Rate Limiting / Throttling</a:t>
            </a:r>
            <a:endParaRPr lang="en-US" sz="1300" dirty="0"/>
          </a:p>
        </p:txBody>
      </p:sp>
      <p:sp>
        <p:nvSpPr>
          <p:cNvPr id="16" name="Text 12"/>
          <p:cNvSpPr/>
          <p:nvPr/>
        </p:nvSpPr>
        <p:spPr>
          <a:xfrm>
            <a:off x="7178040" y="1920240"/>
            <a:ext cx="4434840" cy="960120"/>
          </a:xfrm>
          <a:prstGeom prst="rect">
            <a:avLst/>
          </a:prstGeom>
          <a:noFill/>
        </p:spPr>
        <p:txBody>
          <a:bodyPr wrap="square" rtlCol="0" anchor="t"/>
          <a:lstStyle/>
          <a:p>
            <a:pPr marL="0" indent="0">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Lock out or delay accounts after a small number of consecutive MFA denials or push requests</a:t>
            </a:r>
            <a:endParaRPr lang="en-US" sz="1030" dirty="0"/>
          </a:p>
        </p:txBody>
      </p:sp>
      <p:sp>
        <p:nvSpPr>
          <p:cNvPr id="17" name="Shape 13"/>
          <p:cNvSpPr/>
          <p:nvPr/>
        </p:nvSpPr>
        <p:spPr>
          <a:xfrm>
            <a:off x="502920" y="3145536"/>
            <a:ext cx="5486400" cy="1481328"/>
          </a:xfrm>
          <a:prstGeom prst="roundRect">
            <a:avLst>
              <a:gd name="adj" fmla="val 4321"/>
            </a:avLst>
          </a:prstGeom>
          <a:solidFill>
            <a:srgbClr val="FFFFFF"/>
          </a:solidFill>
          <a:ln w="12700">
            <a:solidFill>
              <a:srgbClr val="DCE1E2"/>
            </a:solidFill>
            <a:prstDash val="solid"/>
          </a:ln>
        </p:spPr>
        <p:txBody>
          <a:bodyPr/>
          <a:lstStyle/>
          <a:p>
            <a:endParaRPr lang="ar-EG"/>
          </a:p>
        </p:txBody>
      </p:sp>
      <p:sp>
        <p:nvSpPr>
          <p:cNvPr id="18" name="Shape 14"/>
          <p:cNvSpPr/>
          <p:nvPr/>
        </p:nvSpPr>
        <p:spPr>
          <a:xfrm>
            <a:off x="667512" y="3310128"/>
            <a:ext cx="621792" cy="621792"/>
          </a:xfrm>
          <a:prstGeom prst="ellipse">
            <a:avLst/>
          </a:prstGeom>
          <a:solidFill>
            <a:srgbClr val="0E7C7B"/>
          </a:solidFill>
        </p:spPr>
        <p:txBody>
          <a:bodyPr/>
          <a:lstStyle/>
          <a:p>
            <a:endParaRPr lang="ar-EG"/>
          </a:p>
        </p:txBody>
      </p:sp>
      <p:pic>
        <p:nvPicPr>
          <p:cNvPr id="19" name="Image 2" descr="/home/claude/deck/icons/fingerprint_teal.png"/>
          <p:cNvPicPr>
            <a:picLocks noChangeAspect="1"/>
          </p:cNvPicPr>
          <p:nvPr/>
        </p:nvPicPr>
        <p:blipFill>
          <a:blip r:embed="rId5"/>
          <a:stretch>
            <a:fillRect/>
          </a:stretch>
        </p:blipFill>
        <p:spPr>
          <a:xfrm>
            <a:off x="807415" y="3450031"/>
            <a:ext cx="341986" cy="341986"/>
          </a:xfrm>
          <a:prstGeom prst="rect">
            <a:avLst/>
          </a:prstGeom>
        </p:spPr>
      </p:pic>
      <p:sp>
        <p:nvSpPr>
          <p:cNvPr id="20" name="Text 15"/>
          <p:cNvSpPr/>
          <p:nvPr/>
        </p:nvSpPr>
        <p:spPr>
          <a:xfrm>
            <a:off x="1417320" y="3273552"/>
            <a:ext cx="4434840" cy="320040"/>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Phishing-Resistant MFA</a:t>
            </a:r>
            <a:endParaRPr lang="en-US" sz="1300" dirty="0"/>
          </a:p>
        </p:txBody>
      </p:sp>
      <p:sp>
        <p:nvSpPr>
          <p:cNvPr id="21" name="Text 16"/>
          <p:cNvSpPr/>
          <p:nvPr/>
        </p:nvSpPr>
        <p:spPr>
          <a:xfrm>
            <a:off x="1417320" y="3602736"/>
            <a:ext cx="4434840" cy="960120"/>
          </a:xfrm>
          <a:prstGeom prst="rect">
            <a:avLst/>
          </a:prstGeom>
          <a:noFill/>
        </p:spPr>
        <p:txBody>
          <a:bodyPr wrap="square" rtlCol="0" anchor="t"/>
          <a:lstStyle/>
          <a:p>
            <a:pPr marL="0" indent="0">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Move high-risk users to FIDO2/WebAuthn hardware keys — no push prompt exists to fatigue</a:t>
            </a:r>
            <a:endParaRPr lang="en-US" sz="1030" dirty="0"/>
          </a:p>
        </p:txBody>
      </p:sp>
      <p:sp>
        <p:nvSpPr>
          <p:cNvPr id="22" name="Shape 17"/>
          <p:cNvSpPr/>
          <p:nvPr/>
        </p:nvSpPr>
        <p:spPr>
          <a:xfrm>
            <a:off x="6263640" y="3145536"/>
            <a:ext cx="5486400" cy="1481328"/>
          </a:xfrm>
          <a:prstGeom prst="roundRect">
            <a:avLst>
              <a:gd name="adj" fmla="val 4321"/>
            </a:avLst>
          </a:prstGeom>
          <a:solidFill>
            <a:srgbClr val="FFFFFF"/>
          </a:solidFill>
          <a:ln w="12700">
            <a:solidFill>
              <a:srgbClr val="DCE1E2"/>
            </a:solidFill>
            <a:prstDash val="solid"/>
          </a:ln>
        </p:spPr>
        <p:txBody>
          <a:bodyPr/>
          <a:lstStyle/>
          <a:p>
            <a:endParaRPr lang="ar-EG"/>
          </a:p>
        </p:txBody>
      </p:sp>
      <p:sp>
        <p:nvSpPr>
          <p:cNvPr id="23" name="Shape 18"/>
          <p:cNvSpPr/>
          <p:nvPr/>
        </p:nvSpPr>
        <p:spPr>
          <a:xfrm>
            <a:off x="6428232" y="3310128"/>
            <a:ext cx="621792" cy="621792"/>
          </a:xfrm>
          <a:prstGeom prst="ellipse">
            <a:avLst/>
          </a:prstGeom>
          <a:solidFill>
            <a:srgbClr val="0E7C7B"/>
          </a:solidFill>
        </p:spPr>
        <p:txBody>
          <a:bodyPr/>
          <a:lstStyle/>
          <a:p>
            <a:endParaRPr lang="ar-EG"/>
          </a:p>
        </p:txBody>
      </p:sp>
      <p:pic>
        <p:nvPicPr>
          <p:cNvPr id="24" name="Image 3" descr="/home/claude/deck/icons/eye_teal.png"/>
          <p:cNvPicPr>
            <a:picLocks noChangeAspect="1"/>
          </p:cNvPicPr>
          <p:nvPr/>
        </p:nvPicPr>
        <p:blipFill>
          <a:blip r:embed="rId6"/>
          <a:stretch>
            <a:fillRect/>
          </a:stretch>
        </p:blipFill>
        <p:spPr>
          <a:xfrm>
            <a:off x="6568135" y="3450031"/>
            <a:ext cx="341986" cy="341986"/>
          </a:xfrm>
          <a:prstGeom prst="rect">
            <a:avLst/>
          </a:prstGeom>
        </p:spPr>
      </p:pic>
      <p:sp>
        <p:nvSpPr>
          <p:cNvPr id="25" name="Text 19"/>
          <p:cNvSpPr/>
          <p:nvPr/>
        </p:nvSpPr>
        <p:spPr>
          <a:xfrm>
            <a:off x="7178040" y="3273552"/>
            <a:ext cx="4434840" cy="320040"/>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Risk-Based / Adaptive Auth</a:t>
            </a:r>
            <a:endParaRPr lang="en-US" sz="1300" dirty="0"/>
          </a:p>
        </p:txBody>
      </p:sp>
      <p:sp>
        <p:nvSpPr>
          <p:cNvPr id="26" name="Text 20"/>
          <p:cNvSpPr/>
          <p:nvPr/>
        </p:nvSpPr>
        <p:spPr>
          <a:xfrm>
            <a:off x="7178040" y="3602736"/>
            <a:ext cx="4434840" cy="960120"/>
          </a:xfrm>
          <a:prstGeom prst="rect">
            <a:avLst/>
          </a:prstGeom>
          <a:noFill/>
        </p:spPr>
        <p:txBody>
          <a:bodyPr wrap="square" rtlCol="0" anchor="t"/>
          <a:lstStyle/>
          <a:p>
            <a:pPr marL="0" indent="0">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Step up verification only on anomalous sign-ins (new device, impossible travel, unmanaged device)</a:t>
            </a:r>
            <a:endParaRPr lang="en-US" sz="1030" dirty="0"/>
          </a:p>
        </p:txBody>
      </p:sp>
      <p:sp>
        <p:nvSpPr>
          <p:cNvPr id="27" name="Shape 21"/>
          <p:cNvSpPr/>
          <p:nvPr/>
        </p:nvSpPr>
        <p:spPr>
          <a:xfrm>
            <a:off x="502920" y="4828032"/>
            <a:ext cx="5486400" cy="1481328"/>
          </a:xfrm>
          <a:prstGeom prst="roundRect">
            <a:avLst>
              <a:gd name="adj" fmla="val 4321"/>
            </a:avLst>
          </a:prstGeom>
          <a:solidFill>
            <a:srgbClr val="FFFFFF"/>
          </a:solidFill>
          <a:ln w="12700">
            <a:solidFill>
              <a:srgbClr val="DCE1E2"/>
            </a:solidFill>
            <a:prstDash val="solid"/>
          </a:ln>
        </p:spPr>
        <p:txBody>
          <a:bodyPr/>
          <a:lstStyle/>
          <a:p>
            <a:endParaRPr lang="ar-EG"/>
          </a:p>
        </p:txBody>
      </p:sp>
      <p:sp>
        <p:nvSpPr>
          <p:cNvPr id="28" name="Shape 22"/>
          <p:cNvSpPr/>
          <p:nvPr/>
        </p:nvSpPr>
        <p:spPr>
          <a:xfrm>
            <a:off x="667512" y="4992624"/>
            <a:ext cx="621792" cy="621792"/>
          </a:xfrm>
          <a:prstGeom prst="ellipse">
            <a:avLst/>
          </a:prstGeom>
          <a:solidFill>
            <a:srgbClr val="0E7C7B"/>
          </a:solidFill>
        </p:spPr>
        <p:txBody>
          <a:bodyPr/>
          <a:lstStyle/>
          <a:p>
            <a:endParaRPr lang="ar-EG"/>
          </a:p>
        </p:txBody>
      </p:sp>
      <p:pic>
        <p:nvPicPr>
          <p:cNvPr id="29" name="Image 4" descr="/home/claude/deck/icons/user_shield_teal.png"/>
          <p:cNvPicPr>
            <a:picLocks noChangeAspect="1"/>
          </p:cNvPicPr>
          <p:nvPr/>
        </p:nvPicPr>
        <p:blipFill>
          <a:blip r:embed="rId7"/>
          <a:stretch>
            <a:fillRect/>
          </a:stretch>
        </p:blipFill>
        <p:spPr>
          <a:xfrm>
            <a:off x="807415" y="5132527"/>
            <a:ext cx="341986" cy="341986"/>
          </a:xfrm>
          <a:prstGeom prst="rect">
            <a:avLst/>
          </a:prstGeom>
        </p:spPr>
      </p:pic>
      <p:sp>
        <p:nvSpPr>
          <p:cNvPr id="30" name="Text 23"/>
          <p:cNvSpPr/>
          <p:nvPr/>
        </p:nvSpPr>
        <p:spPr>
          <a:xfrm>
            <a:off x="1417320" y="4956048"/>
            <a:ext cx="4434840" cy="320040"/>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Security Awareness Training</a:t>
            </a:r>
            <a:endParaRPr lang="en-US" sz="1300" dirty="0"/>
          </a:p>
        </p:txBody>
      </p:sp>
      <p:sp>
        <p:nvSpPr>
          <p:cNvPr id="31" name="Text 24"/>
          <p:cNvSpPr/>
          <p:nvPr/>
        </p:nvSpPr>
        <p:spPr>
          <a:xfrm>
            <a:off x="1417320" y="5285232"/>
            <a:ext cx="4434840" cy="960120"/>
          </a:xfrm>
          <a:prstGeom prst="rect">
            <a:avLst/>
          </a:prstGeom>
          <a:noFill/>
        </p:spPr>
        <p:txBody>
          <a:bodyPr wrap="square" rtlCol="0" anchor="t"/>
          <a:lstStyle/>
          <a:p>
            <a:pPr marL="0" indent="0">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Teach users to report — not approve — unexpected prompts, and that IT will never ask them to approve</a:t>
            </a:r>
            <a:endParaRPr lang="en-US" sz="1030" dirty="0"/>
          </a:p>
        </p:txBody>
      </p:sp>
      <p:sp>
        <p:nvSpPr>
          <p:cNvPr id="32" name="Shape 25"/>
          <p:cNvSpPr/>
          <p:nvPr/>
        </p:nvSpPr>
        <p:spPr>
          <a:xfrm>
            <a:off x="6263640" y="4828032"/>
            <a:ext cx="5486400" cy="1481328"/>
          </a:xfrm>
          <a:prstGeom prst="roundRect">
            <a:avLst>
              <a:gd name="adj" fmla="val 4321"/>
            </a:avLst>
          </a:prstGeom>
          <a:solidFill>
            <a:srgbClr val="FFFFFF"/>
          </a:solidFill>
          <a:ln w="12700">
            <a:solidFill>
              <a:srgbClr val="DCE1E2"/>
            </a:solidFill>
            <a:prstDash val="solid"/>
          </a:ln>
        </p:spPr>
        <p:txBody>
          <a:bodyPr/>
          <a:lstStyle/>
          <a:p>
            <a:endParaRPr lang="ar-EG"/>
          </a:p>
        </p:txBody>
      </p:sp>
      <p:sp>
        <p:nvSpPr>
          <p:cNvPr id="33" name="Shape 26"/>
          <p:cNvSpPr/>
          <p:nvPr/>
        </p:nvSpPr>
        <p:spPr>
          <a:xfrm>
            <a:off x="6428232" y="4992624"/>
            <a:ext cx="621792" cy="621792"/>
          </a:xfrm>
          <a:prstGeom prst="ellipse">
            <a:avLst/>
          </a:prstGeom>
          <a:solidFill>
            <a:srgbClr val="0E7C7B"/>
          </a:solidFill>
        </p:spPr>
        <p:txBody>
          <a:bodyPr/>
          <a:lstStyle/>
          <a:p>
            <a:endParaRPr lang="ar-EG"/>
          </a:p>
        </p:txBody>
      </p:sp>
      <p:pic>
        <p:nvPicPr>
          <p:cNvPr id="34" name="Image 5" descr="/home/claude/deck/icons/network_teal.png"/>
          <p:cNvPicPr>
            <a:picLocks noChangeAspect="1"/>
          </p:cNvPicPr>
          <p:nvPr/>
        </p:nvPicPr>
        <p:blipFill>
          <a:blip r:embed="rId8"/>
          <a:stretch>
            <a:fillRect/>
          </a:stretch>
        </p:blipFill>
        <p:spPr>
          <a:xfrm>
            <a:off x="6568135" y="5132527"/>
            <a:ext cx="341986" cy="341986"/>
          </a:xfrm>
          <a:prstGeom prst="rect">
            <a:avLst/>
          </a:prstGeom>
        </p:spPr>
      </p:pic>
      <p:sp>
        <p:nvSpPr>
          <p:cNvPr id="35" name="Text 27"/>
          <p:cNvSpPr/>
          <p:nvPr/>
        </p:nvSpPr>
        <p:spPr>
          <a:xfrm>
            <a:off x="7178040" y="4956048"/>
            <a:ext cx="4434840" cy="320040"/>
          </a:xfrm>
          <a:prstGeom prst="rect">
            <a:avLst/>
          </a:prstGeom>
          <a:noFill/>
        </p:spPr>
        <p:txBody>
          <a:bodyPr wrap="square" rtlCol="0" anchor="ctr"/>
          <a:lstStyle/>
          <a:p>
            <a:pPr marL="0" indent="0">
              <a:buNone/>
            </a:pPr>
            <a:r>
              <a:rPr lang="en-US" sz="1300" b="1" dirty="0">
                <a:solidFill>
                  <a:srgbClr val="2B2D2F"/>
                </a:solidFill>
                <a:latin typeface="Calibri" panose="020F0502020204030204" pitchFamily="34" charset="0"/>
                <a:ea typeface="Calibri" panose="020F0502020204030204" pitchFamily="34" charset="-122"/>
                <a:cs typeface="Calibri" panose="020F0502020204030204" pitchFamily="34" charset="-120"/>
              </a:rPr>
              <a:t>Anomaly Detection &amp; Alerting</a:t>
            </a:r>
            <a:endParaRPr lang="en-US" sz="1300" dirty="0"/>
          </a:p>
        </p:txBody>
      </p:sp>
      <p:sp>
        <p:nvSpPr>
          <p:cNvPr id="36" name="Text 28"/>
          <p:cNvSpPr/>
          <p:nvPr/>
        </p:nvSpPr>
        <p:spPr>
          <a:xfrm>
            <a:off x="7178040" y="5285232"/>
            <a:ext cx="4434840" cy="960120"/>
          </a:xfrm>
          <a:prstGeom prst="rect">
            <a:avLst/>
          </a:prstGeom>
          <a:noFill/>
        </p:spPr>
        <p:txBody>
          <a:bodyPr wrap="square" rtlCol="0" anchor="t"/>
          <a:lstStyle/>
          <a:p>
            <a:pPr marL="0" indent="0">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SOC/SIEM alerts on repeated MFA denials from a single user as a high-fidelity attack indicator</a:t>
            </a:r>
            <a:endParaRPr lang="en-US" sz="10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9418320" y="-2377440"/>
            <a:ext cx="5943600" cy="5943600"/>
          </a:xfrm>
          <a:prstGeom prst="ellipse">
            <a:avLst/>
          </a:prstGeom>
          <a:solidFill>
            <a:srgbClr val="0E7C7B">
              <a:alpha val="15000"/>
            </a:srgbClr>
          </a:solidFill>
        </p:spPr>
        <p:txBody>
          <a:bodyPr/>
          <a:lstStyle/>
          <a:p>
            <a:endParaRPr lang="ar-EG"/>
          </a:p>
        </p:txBody>
      </p:sp>
      <p:sp>
        <p:nvSpPr>
          <p:cNvPr id="3" name="Shape 1"/>
          <p:cNvSpPr/>
          <p:nvPr/>
        </p:nvSpPr>
        <p:spPr>
          <a:xfrm>
            <a:off x="-1645920" y="4206240"/>
            <a:ext cx="4206240" cy="4206240"/>
          </a:xfrm>
          <a:prstGeom prst="ellipse">
            <a:avLst/>
          </a:prstGeom>
          <a:solidFill>
            <a:srgbClr val="E8871E">
              <a:alpha val="12000"/>
            </a:srgbClr>
          </a:solidFill>
        </p:spPr>
        <p:txBody>
          <a:bodyPr/>
          <a:lstStyle/>
          <a:p>
            <a:endParaRPr lang="ar-EG"/>
          </a:p>
        </p:txBody>
      </p:sp>
      <p:sp>
        <p:nvSpPr>
          <p:cNvPr id="4" name="Text 2"/>
          <p:cNvSpPr/>
          <p:nvPr/>
        </p:nvSpPr>
        <p:spPr>
          <a:xfrm>
            <a:off x="822960" y="2331720"/>
            <a:ext cx="5486400" cy="320040"/>
          </a:xfrm>
          <a:prstGeom prst="rect">
            <a:avLst/>
          </a:prstGeom>
          <a:noFill/>
        </p:spPr>
        <p:txBody>
          <a:bodyPr wrap="square" rtlCol="0" anchor="ctr"/>
          <a:lstStyle/>
          <a:p>
            <a:pPr marL="0" indent="0">
              <a:buNone/>
            </a:pPr>
            <a:r>
              <a:rPr lang="en-US" sz="1300" b="1" kern="0" spc="20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4 / 5</a:t>
            </a:r>
            <a:endParaRPr lang="en-US" sz="1300" dirty="0"/>
          </a:p>
        </p:txBody>
      </p:sp>
      <p:sp>
        <p:nvSpPr>
          <p:cNvPr id="5" name="Shape 3"/>
          <p:cNvSpPr/>
          <p:nvPr/>
        </p:nvSpPr>
        <p:spPr>
          <a:xfrm>
            <a:off x="8869680" y="2103120"/>
            <a:ext cx="1920240" cy="1920240"/>
          </a:xfrm>
          <a:prstGeom prst="ellipse">
            <a:avLst/>
          </a:prstGeom>
          <a:solidFill>
            <a:srgbClr val="34383A"/>
          </a:solidFill>
        </p:spPr>
        <p:txBody>
          <a:bodyPr/>
          <a:lstStyle/>
          <a:p>
            <a:endParaRPr lang="ar-EG"/>
          </a:p>
        </p:txBody>
      </p:sp>
      <p:pic>
        <p:nvPicPr>
          <p:cNvPr id="6" name="Image 0" descr="/home/claude/deck/icons/user_clock_teal.png"/>
          <p:cNvPicPr>
            <a:picLocks noChangeAspect="1"/>
          </p:cNvPicPr>
          <p:nvPr/>
        </p:nvPicPr>
        <p:blipFill>
          <a:blip r:embed="rId3"/>
          <a:stretch>
            <a:fillRect/>
          </a:stretch>
        </p:blipFill>
        <p:spPr>
          <a:xfrm>
            <a:off x="9330538" y="2563978"/>
            <a:ext cx="998525" cy="998525"/>
          </a:xfrm>
          <a:prstGeom prst="rect">
            <a:avLst/>
          </a:prstGeom>
        </p:spPr>
      </p:pic>
      <p:sp>
        <p:nvSpPr>
          <p:cNvPr id="7" name="Text 4"/>
          <p:cNvSpPr/>
          <p:nvPr/>
        </p:nvSpPr>
        <p:spPr>
          <a:xfrm>
            <a:off x="804672" y="2697480"/>
            <a:ext cx="7680960" cy="1280160"/>
          </a:xfrm>
          <a:prstGeom prst="rect">
            <a:avLst/>
          </a:prstGeom>
          <a:noFill/>
        </p:spPr>
        <p:txBody>
          <a:bodyPr wrap="square" rtlCol="0" anchor="ctr"/>
          <a:lstStyle/>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Privileged Access</a:t>
            </a:r>
            <a:endParaRPr lang="en-US" sz="4000" dirty="0"/>
          </a:p>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Management</a:t>
            </a:r>
            <a:endParaRPr lang="en-US" sz="4000" dirty="0"/>
          </a:p>
        </p:txBody>
      </p:sp>
      <p:sp>
        <p:nvSpPr>
          <p:cNvPr id="8" name="Text 5"/>
          <p:cNvSpPr/>
          <p:nvPr/>
        </p:nvSpPr>
        <p:spPr>
          <a:xfrm>
            <a:off x="822960" y="3886200"/>
            <a:ext cx="7498080" cy="731520"/>
          </a:xfrm>
          <a:prstGeom prst="rect">
            <a:avLst/>
          </a:prstGeom>
          <a:noFill/>
        </p:spPr>
        <p:txBody>
          <a:bodyPr wrap="square" rtlCol="0" anchor="ctr"/>
          <a:lstStyle/>
          <a:p>
            <a:pPr marL="0" indent="0">
              <a:lnSpc>
                <a:spcPts val="1900"/>
              </a:lnSpc>
              <a:buNone/>
            </a:pPr>
            <a:r>
              <a:rPr lang="en-US" sz="1450" i="1" dirty="0">
                <a:solidFill>
                  <a:srgbClr val="C9CFD1"/>
                </a:solidFill>
                <a:latin typeface="Calibri" panose="020F0502020204030204" pitchFamily="34" charset="0"/>
                <a:ea typeface="Calibri" panose="020F0502020204030204" pitchFamily="34" charset="-122"/>
                <a:cs typeface="Calibri" panose="020F0502020204030204" pitchFamily="34" charset="-120"/>
              </a:rPr>
              <a:t>Controlling, vaulting, and monitoring the accounts that can do the most damage if compromised.</a:t>
            </a:r>
            <a:endParaRPr lang="en-US" sz="1450" dirty="0"/>
          </a:p>
        </p:txBody>
      </p:sp>
      <p:sp>
        <p:nvSpPr>
          <p:cNvPr id="10" name="Text 7"/>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PRIVILEGED ACCESS MANAGEMENT</a:t>
            </a:r>
            <a:endParaRPr lang="en-US" sz="900" dirty="0"/>
          </a:p>
        </p:txBody>
      </p:sp>
      <p:sp>
        <p:nvSpPr>
          <p:cNvPr id="11" name="Text 8"/>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PRIVILEGED ACCESS MANAGEMENT</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20</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4 · PAM</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What Is PAM &amp; Why Privileged Accounts Are High-Risk</a:t>
            </a:r>
            <a:endParaRPr lang="en-US" sz="3000" dirty="0"/>
          </a:p>
        </p:txBody>
      </p:sp>
      <p:sp>
        <p:nvSpPr>
          <p:cNvPr id="7" name="Shape 5"/>
          <p:cNvSpPr/>
          <p:nvPr/>
        </p:nvSpPr>
        <p:spPr>
          <a:xfrm>
            <a:off x="502920" y="1417320"/>
            <a:ext cx="5532120" cy="2011680"/>
          </a:xfrm>
          <a:prstGeom prst="roundRect">
            <a:avLst>
              <a:gd name="adj" fmla="val 3182"/>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731520" y="1572768"/>
            <a:ext cx="5029200" cy="274320"/>
          </a:xfrm>
          <a:prstGeom prst="rect">
            <a:avLst/>
          </a:prstGeom>
          <a:noFill/>
        </p:spPr>
        <p:txBody>
          <a:bodyPr wrap="square" rtlCol="0" anchor="ctr"/>
          <a:lstStyle/>
          <a:p>
            <a:pPr marL="0" indent="0">
              <a:buNone/>
            </a:pPr>
            <a:r>
              <a:rPr lang="en-US" sz="1150" b="1" kern="0" spc="100" dirty="0">
                <a:solidFill>
                  <a:srgbClr val="0E7C7B"/>
                </a:solidFill>
                <a:latin typeface="Calibri" panose="020F0502020204030204" pitchFamily="34" charset="0"/>
                <a:ea typeface="Calibri" panose="020F0502020204030204" pitchFamily="34" charset="-122"/>
                <a:cs typeface="Calibri" panose="020F0502020204030204" pitchFamily="34" charset="-120"/>
              </a:rPr>
              <a:t>DEFINITION</a:t>
            </a:r>
            <a:endParaRPr lang="en-US" sz="1150" dirty="0"/>
          </a:p>
        </p:txBody>
      </p:sp>
      <p:sp>
        <p:nvSpPr>
          <p:cNvPr id="9" name="Text 7"/>
          <p:cNvSpPr/>
          <p:nvPr/>
        </p:nvSpPr>
        <p:spPr>
          <a:xfrm>
            <a:off x="731520" y="1874520"/>
            <a:ext cx="5074920" cy="1463040"/>
          </a:xfrm>
          <a:prstGeom prst="rect">
            <a:avLst/>
          </a:prstGeom>
          <a:noFill/>
        </p:spPr>
        <p:txBody>
          <a:bodyPr wrap="square" rtlCol="0" anchor="t"/>
          <a:lstStyle/>
          <a:p>
            <a:pPr marL="0" indent="0">
              <a:lnSpc>
                <a:spcPts val="1700"/>
              </a:lnSpc>
              <a:buNone/>
            </a:pPr>
            <a:r>
              <a:rPr lang="en-US" sz="1250" dirty="0">
                <a:solidFill>
                  <a:srgbClr val="2B2D2F"/>
                </a:solidFill>
                <a:latin typeface="Calibri" panose="020F0502020204030204" pitchFamily="34" charset="0"/>
                <a:ea typeface="Calibri" panose="020F0502020204030204" pitchFamily="34" charset="-122"/>
                <a:cs typeface="Calibri" panose="020F0502020204030204" pitchFamily="34" charset="-120"/>
              </a:rPr>
              <a:t>Privileged Access Management (PAM) secures, controls, and monitors accounts with elevated permissions — domain admins, root, service accounts, and break-glass credentials — that can access, modify, or destroy critical systems.</a:t>
            </a:r>
            <a:endParaRPr lang="en-US" sz="1250" dirty="0"/>
          </a:p>
        </p:txBody>
      </p:sp>
      <p:sp>
        <p:nvSpPr>
          <p:cNvPr id="10" name="Shape 8"/>
          <p:cNvSpPr/>
          <p:nvPr/>
        </p:nvSpPr>
        <p:spPr>
          <a:xfrm>
            <a:off x="6263640" y="1417320"/>
            <a:ext cx="5422392" cy="2011680"/>
          </a:xfrm>
          <a:prstGeom prst="roundRect">
            <a:avLst>
              <a:gd name="adj" fmla="val 3182"/>
            </a:avLst>
          </a:prstGeom>
          <a:solidFill>
            <a:srgbClr val="FCEDDC"/>
          </a:solidFill>
          <a:ln w="12700">
            <a:solidFill>
              <a:srgbClr val="E8871E"/>
            </a:solidFill>
            <a:prstDash val="solid"/>
          </a:ln>
          <a:effectLst>
            <a:outerShdw blurRad="76200" dist="25400" dir="5400000" algn="bl" rotWithShape="0">
              <a:srgbClr val="8B939A">
                <a:alpha val="18000"/>
              </a:srgbClr>
            </a:outerShdw>
          </a:effectLst>
        </p:spPr>
        <p:txBody>
          <a:bodyPr/>
          <a:lstStyle/>
          <a:p>
            <a:endParaRPr lang="ar-EG"/>
          </a:p>
        </p:txBody>
      </p:sp>
      <p:sp>
        <p:nvSpPr>
          <p:cNvPr id="11" name="Text 9"/>
          <p:cNvSpPr/>
          <p:nvPr/>
        </p:nvSpPr>
        <p:spPr>
          <a:xfrm>
            <a:off x="6492240" y="1572768"/>
            <a:ext cx="4937760" cy="274320"/>
          </a:xfrm>
          <a:prstGeom prst="rect">
            <a:avLst/>
          </a:prstGeom>
          <a:noFill/>
        </p:spPr>
        <p:txBody>
          <a:bodyPr wrap="square" rtlCol="0" anchor="ctr"/>
          <a:lstStyle/>
          <a:p>
            <a:pPr marL="0" indent="0">
              <a:buNone/>
            </a:pPr>
            <a:r>
              <a:rPr lang="en-US" sz="1150" b="1" kern="0" spc="100" dirty="0">
                <a:solidFill>
                  <a:srgbClr val="8A4A0F"/>
                </a:solidFill>
                <a:latin typeface="Calibri" panose="020F0502020204030204" pitchFamily="34" charset="0"/>
                <a:ea typeface="Calibri" panose="020F0502020204030204" pitchFamily="34" charset="-122"/>
                <a:cs typeface="Calibri" panose="020F0502020204030204" pitchFamily="34" charset="-120"/>
              </a:rPr>
              <a:t>THE RISK</a:t>
            </a:r>
            <a:endParaRPr lang="en-US" sz="1150" dirty="0"/>
          </a:p>
        </p:txBody>
      </p:sp>
      <p:sp>
        <p:nvSpPr>
          <p:cNvPr id="12" name="Text 10"/>
          <p:cNvSpPr/>
          <p:nvPr/>
        </p:nvSpPr>
        <p:spPr>
          <a:xfrm>
            <a:off x="6492240" y="1874520"/>
            <a:ext cx="4937760" cy="1463040"/>
          </a:xfrm>
          <a:prstGeom prst="rect">
            <a:avLst/>
          </a:prstGeom>
          <a:noFill/>
        </p:spPr>
        <p:txBody>
          <a:bodyPr wrap="square" rtlCol="0" anchor="t"/>
          <a:lstStyle/>
          <a:p>
            <a:pPr marL="0" indent="0">
              <a:lnSpc>
                <a:spcPts val="1700"/>
              </a:lnSpc>
              <a:buNone/>
            </a:pPr>
            <a:r>
              <a:rPr lang="en-US" sz="1250" dirty="0">
                <a:solidFill>
                  <a:srgbClr val="2B2D2F"/>
                </a:solidFill>
                <a:latin typeface="Calibri" panose="020F0502020204030204" pitchFamily="34" charset="0"/>
                <a:ea typeface="Calibri" panose="020F0502020204030204" pitchFamily="34" charset="-122"/>
                <a:cs typeface="Calibri" panose="020F0502020204030204" pitchFamily="34" charset="-120"/>
              </a:rPr>
              <a:t>The vast majority of major breaches involve privileged credential abuse — attackers specifically hunt for admin accounts because one compromised privileged credential can unlock an entire environment.</a:t>
            </a:r>
            <a:endParaRPr lang="en-US" sz="1250" dirty="0"/>
          </a:p>
        </p:txBody>
      </p:sp>
      <p:sp>
        <p:nvSpPr>
          <p:cNvPr id="13" name="Shape 11"/>
          <p:cNvSpPr/>
          <p:nvPr/>
        </p:nvSpPr>
        <p:spPr>
          <a:xfrm>
            <a:off x="502920" y="3657600"/>
            <a:ext cx="2743200" cy="2514600"/>
          </a:xfrm>
          <a:prstGeom prst="roundRect">
            <a:avLst>
              <a:gd name="adj" fmla="val 2545"/>
            </a:avLst>
          </a:prstGeom>
          <a:solidFill>
            <a:srgbClr val="FFFFFF"/>
          </a:solidFill>
          <a:ln w="12700">
            <a:solidFill>
              <a:srgbClr val="DCE1E2"/>
            </a:solidFill>
            <a:prstDash val="solid"/>
          </a:ln>
        </p:spPr>
        <p:txBody>
          <a:bodyPr/>
          <a:lstStyle/>
          <a:p>
            <a:endParaRPr lang="ar-EG"/>
          </a:p>
        </p:txBody>
      </p:sp>
      <p:sp>
        <p:nvSpPr>
          <p:cNvPr id="14" name="Shape 12"/>
          <p:cNvSpPr/>
          <p:nvPr/>
        </p:nvSpPr>
        <p:spPr>
          <a:xfrm>
            <a:off x="1554480" y="3858768"/>
            <a:ext cx="640080" cy="640080"/>
          </a:xfrm>
          <a:prstGeom prst="ellipse">
            <a:avLst/>
          </a:prstGeom>
          <a:solidFill>
            <a:srgbClr val="2B2D2F"/>
          </a:solidFill>
        </p:spPr>
        <p:txBody>
          <a:bodyPr/>
          <a:lstStyle/>
          <a:p>
            <a:endParaRPr lang="ar-EG"/>
          </a:p>
        </p:txBody>
      </p:sp>
      <p:pic>
        <p:nvPicPr>
          <p:cNvPr id="15" name="Image 0" descr="/home/claude/deck/icons/clock_teal.png"/>
          <p:cNvPicPr>
            <a:picLocks noChangeAspect="1"/>
          </p:cNvPicPr>
          <p:nvPr/>
        </p:nvPicPr>
        <p:blipFill>
          <a:blip r:embed="rId3"/>
          <a:stretch>
            <a:fillRect/>
          </a:stretch>
        </p:blipFill>
        <p:spPr>
          <a:xfrm>
            <a:off x="1698498" y="4002786"/>
            <a:ext cx="352044" cy="352044"/>
          </a:xfrm>
          <a:prstGeom prst="rect">
            <a:avLst/>
          </a:prstGeom>
        </p:spPr>
      </p:pic>
      <p:sp>
        <p:nvSpPr>
          <p:cNvPr id="16" name="Text 13"/>
          <p:cNvSpPr/>
          <p:nvPr/>
        </p:nvSpPr>
        <p:spPr>
          <a:xfrm>
            <a:off x="640080" y="4590288"/>
            <a:ext cx="2468880" cy="50292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Standing Privileges</a:t>
            </a:r>
            <a:endParaRPr lang="en-US" sz="1200" dirty="0"/>
          </a:p>
        </p:txBody>
      </p:sp>
      <p:sp>
        <p:nvSpPr>
          <p:cNvPr id="17" name="Text 14"/>
          <p:cNvSpPr/>
          <p:nvPr/>
        </p:nvSpPr>
        <p:spPr>
          <a:xfrm>
            <a:off x="685800" y="5102352"/>
            <a:ext cx="2377440" cy="1005840"/>
          </a:xfrm>
          <a:prstGeom prst="rect">
            <a:avLst/>
          </a:prstGeom>
          <a:noFill/>
        </p:spPr>
        <p:txBody>
          <a:bodyPr wrap="square" rtlCol="0" anchor="t"/>
          <a:lstStyle/>
          <a:p>
            <a:pPr marL="0" indent="0" algn="ctr">
              <a:lnSpc>
                <a:spcPts val="130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Admin rights are always-on, expanding the attack window indefinitely</a:t>
            </a:r>
            <a:endParaRPr lang="en-US" sz="1000" dirty="0"/>
          </a:p>
        </p:txBody>
      </p:sp>
      <p:sp>
        <p:nvSpPr>
          <p:cNvPr id="18" name="Shape 15"/>
          <p:cNvSpPr/>
          <p:nvPr/>
        </p:nvSpPr>
        <p:spPr>
          <a:xfrm>
            <a:off x="3410712" y="3657600"/>
            <a:ext cx="2743200" cy="2514600"/>
          </a:xfrm>
          <a:prstGeom prst="roundRect">
            <a:avLst>
              <a:gd name="adj" fmla="val 2545"/>
            </a:avLst>
          </a:prstGeom>
          <a:solidFill>
            <a:srgbClr val="FFFFFF"/>
          </a:solidFill>
          <a:ln w="12700">
            <a:solidFill>
              <a:srgbClr val="DCE1E2"/>
            </a:solidFill>
            <a:prstDash val="solid"/>
          </a:ln>
        </p:spPr>
        <p:txBody>
          <a:bodyPr/>
          <a:lstStyle/>
          <a:p>
            <a:endParaRPr lang="ar-EG"/>
          </a:p>
        </p:txBody>
      </p:sp>
      <p:sp>
        <p:nvSpPr>
          <p:cNvPr id="19" name="Shape 16"/>
          <p:cNvSpPr/>
          <p:nvPr/>
        </p:nvSpPr>
        <p:spPr>
          <a:xfrm>
            <a:off x="4462272" y="3858768"/>
            <a:ext cx="640080" cy="640080"/>
          </a:xfrm>
          <a:prstGeom prst="ellipse">
            <a:avLst/>
          </a:prstGeom>
          <a:solidFill>
            <a:srgbClr val="2B2D2F"/>
          </a:solidFill>
        </p:spPr>
        <p:txBody>
          <a:bodyPr/>
          <a:lstStyle/>
          <a:p>
            <a:endParaRPr lang="ar-EG"/>
          </a:p>
        </p:txBody>
      </p:sp>
      <p:pic>
        <p:nvPicPr>
          <p:cNvPr id="20" name="Image 1" descr="/home/claude/deck/icons/users_teal.png"/>
          <p:cNvPicPr>
            <a:picLocks noChangeAspect="1"/>
          </p:cNvPicPr>
          <p:nvPr/>
        </p:nvPicPr>
        <p:blipFill>
          <a:blip r:embed="rId4"/>
          <a:stretch>
            <a:fillRect/>
          </a:stretch>
        </p:blipFill>
        <p:spPr>
          <a:xfrm>
            <a:off x="4606290" y="4002786"/>
            <a:ext cx="352044" cy="352044"/>
          </a:xfrm>
          <a:prstGeom prst="rect">
            <a:avLst/>
          </a:prstGeom>
        </p:spPr>
      </p:pic>
      <p:sp>
        <p:nvSpPr>
          <p:cNvPr id="21" name="Text 17"/>
          <p:cNvSpPr/>
          <p:nvPr/>
        </p:nvSpPr>
        <p:spPr>
          <a:xfrm>
            <a:off x="3547872" y="4590288"/>
            <a:ext cx="2468880" cy="50292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Shared Admin Accounts</a:t>
            </a:r>
            <a:endParaRPr lang="en-US" sz="1200" dirty="0"/>
          </a:p>
        </p:txBody>
      </p:sp>
      <p:sp>
        <p:nvSpPr>
          <p:cNvPr id="22" name="Text 18"/>
          <p:cNvSpPr/>
          <p:nvPr/>
        </p:nvSpPr>
        <p:spPr>
          <a:xfrm>
            <a:off x="3593592" y="5102352"/>
            <a:ext cx="2377440" cy="1005840"/>
          </a:xfrm>
          <a:prstGeom prst="rect">
            <a:avLst/>
          </a:prstGeom>
          <a:noFill/>
        </p:spPr>
        <p:txBody>
          <a:bodyPr wrap="square" rtlCol="0" anchor="t"/>
          <a:lstStyle/>
          <a:p>
            <a:pPr marL="0" indent="0" algn="ctr">
              <a:lnSpc>
                <a:spcPts val="130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No accountability — multiple people use one “administrator” login</a:t>
            </a:r>
            <a:endParaRPr lang="en-US" sz="1000" dirty="0"/>
          </a:p>
        </p:txBody>
      </p:sp>
      <p:sp>
        <p:nvSpPr>
          <p:cNvPr id="23" name="Shape 19"/>
          <p:cNvSpPr/>
          <p:nvPr/>
        </p:nvSpPr>
        <p:spPr>
          <a:xfrm>
            <a:off x="6318504" y="3657600"/>
            <a:ext cx="2743200" cy="2514600"/>
          </a:xfrm>
          <a:prstGeom prst="roundRect">
            <a:avLst>
              <a:gd name="adj" fmla="val 2545"/>
            </a:avLst>
          </a:prstGeom>
          <a:solidFill>
            <a:srgbClr val="FFFFFF"/>
          </a:solidFill>
          <a:ln w="12700">
            <a:solidFill>
              <a:srgbClr val="DCE1E2"/>
            </a:solidFill>
            <a:prstDash val="solid"/>
          </a:ln>
        </p:spPr>
        <p:txBody>
          <a:bodyPr/>
          <a:lstStyle/>
          <a:p>
            <a:endParaRPr lang="ar-EG"/>
          </a:p>
        </p:txBody>
      </p:sp>
      <p:sp>
        <p:nvSpPr>
          <p:cNvPr id="24" name="Shape 20"/>
          <p:cNvSpPr/>
          <p:nvPr/>
        </p:nvSpPr>
        <p:spPr>
          <a:xfrm>
            <a:off x="7370064" y="3858768"/>
            <a:ext cx="640080" cy="640080"/>
          </a:xfrm>
          <a:prstGeom prst="ellipse">
            <a:avLst/>
          </a:prstGeom>
          <a:solidFill>
            <a:srgbClr val="2B2D2F"/>
          </a:solidFill>
        </p:spPr>
        <p:txBody>
          <a:bodyPr/>
          <a:lstStyle/>
          <a:p>
            <a:endParaRPr lang="ar-EG"/>
          </a:p>
        </p:txBody>
      </p:sp>
      <p:pic>
        <p:nvPicPr>
          <p:cNvPr id="25" name="Image 2" descr="/home/claude/deck/icons/database_teal.png"/>
          <p:cNvPicPr>
            <a:picLocks noChangeAspect="1"/>
          </p:cNvPicPr>
          <p:nvPr/>
        </p:nvPicPr>
        <p:blipFill>
          <a:blip r:embed="rId5"/>
          <a:stretch>
            <a:fillRect/>
          </a:stretch>
        </p:blipFill>
        <p:spPr>
          <a:xfrm>
            <a:off x="7514082" y="4002786"/>
            <a:ext cx="352044" cy="352044"/>
          </a:xfrm>
          <a:prstGeom prst="rect">
            <a:avLst/>
          </a:prstGeom>
        </p:spPr>
      </p:pic>
      <p:sp>
        <p:nvSpPr>
          <p:cNvPr id="26" name="Text 21"/>
          <p:cNvSpPr/>
          <p:nvPr/>
        </p:nvSpPr>
        <p:spPr>
          <a:xfrm>
            <a:off x="6455664" y="4590288"/>
            <a:ext cx="2468880" cy="50292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Credential Sprawl</a:t>
            </a:r>
            <a:endParaRPr lang="en-US" sz="1200" dirty="0"/>
          </a:p>
        </p:txBody>
      </p:sp>
      <p:sp>
        <p:nvSpPr>
          <p:cNvPr id="27" name="Text 22"/>
          <p:cNvSpPr/>
          <p:nvPr/>
        </p:nvSpPr>
        <p:spPr>
          <a:xfrm>
            <a:off x="6501384" y="5102352"/>
            <a:ext cx="2377440" cy="1005840"/>
          </a:xfrm>
          <a:prstGeom prst="rect">
            <a:avLst/>
          </a:prstGeom>
          <a:noFill/>
        </p:spPr>
        <p:txBody>
          <a:bodyPr wrap="square" rtlCol="0" anchor="t"/>
          <a:lstStyle/>
          <a:p>
            <a:pPr marL="0" indent="0" algn="ctr">
              <a:lnSpc>
                <a:spcPts val="130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Passwords hardcoded in scripts, config files, and network shares</a:t>
            </a:r>
            <a:endParaRPr lang="en-US" sz="1000" dirty="0"/>
          </a:p>
        </p:txBody>
      </p:sp>
      <p:sp>
        <p:nvSpPr>
          <p:cNvPr id="28" name="Shape 23"/>
          <p:cNvSpPr/>
          <p:nvPr/>
        </p:nvSpPr>
        <p:spPr>
          <a:xfrm>
            <a:off x="9226296" y="3657600"/>
            <a:ext cx="2743200" cy="2514600"/>
          </a:xfrm>
          <a:prstGeom prst="roundRect">
            <a:avLst>
              <a:gd name="adj" fmla="val 2545"/>
            </a:avLst>
          </a:prstGeom>
          <a:solidFill>
            <a:srgbClr val="FFFFFF"/>
          </a:solidFill>
          <a:ln w="12700">
            <a:solidFill>
              <a:srgbClr val="DCE1E2"/>
            </a:solidFill>
            <a:prstDash val="solid"/>
          </a:ln>
        </p:spPr>
        <p:txBody>
          <a:bodyPr/>
          <a:lstStyle/>
          <a:p>
            <a:endParaRPr lang="ar-EG"/>
          </a:p>
        </p:txBody>
      </p:sp>
      <p:sp>
        <p:nvSpPr>
          <p:cNvPr id="29" name="Shape 24"/>
          <p:cNvSpPr/>
          <p:nvPr/>
        </p:nvSpPr>
        <p:spPr>
          <a:xfrm>
            <a:off x="10277856" y="3858768"/>
            <a:ext cx="640080" cy="640080"/>
          </a:xfrm>
          <a:prstGeom prst="ellipse">
            <a:avLst/>
          </a:prstGeom>
          <a:solidFill>
            <a:srgbClr val="2B2D2F"/>
          </a:solidFill>
        </p:spPr>
        <p:txBody>
          <a:bodyPr/>
          <a:lstStyle/>
          <a:p>
            <a:endParaRPr lang="ar-EG"/>
          </a:p>
        </p:txBody>
      </p:sp>
      <p:pic>
        <p:nvPicPr>
          <p:cNvPr id="30" name="Image 3" descr="/home/claude/deck/icons/eye_teal.png"/>
          <p:cNvPicPr>
            <a:picLocks noChangeAspect="1"/>
          </p:cNvPicPr>
          <p:nvPr/>
        </p:nvPicPr>
        <p:blipFill>
          <a:blip r:embed="rId6"/>
          <a:stretch>
            <a:fillRect/>
          </a:stretch>
        </p:blipFill>
        <p:spPr>
          <a:xfrm>
            <a:off x="10421874" y="4002786"/>
            <a:ext cx="352044" cy="352044"/>
          </a:xfrm>
          <a:prstGeom prst="rect">
            <a:avLst/>
          </a:prstGeom>
        </p:spPr>
      </p:pic>
      <p:sp>
        <p:nvSpPr>
          <p:cNvPr id="31" name="Text 25"/>
          <p:cNvSpPr/>
          <p:nvPr/>
        </p:nvSpPr>
        <p:spPr>
          <a:xfrm>
            <a:off x="9363456" y="4590288"/>
            <a:ext cx="2468880" cy="502920"/>
          </a:xfrm>
          <a:prstGeom prst="rect">
            <a:avLst/>
          </a:prstGeom>
          <a:noFill/>
        </p:spPr>
        <p:txBody>
          <a:bodyPr wrap="square" rtlCol="0" anchor="ctr"/>
          <a:lstStyle/>
          <a:p>
            <a:pPr marL="0" indent="0" algn="ctr">
              <a:buNone/>
            </a:pPr>
            <a:r>
              <a:rPr lang="en-US" sz="1200" b="1" dirty="0">
                <a:solidFill>
                  <a:srgbClr val="2B2D2F"/>
                </a:solidFill>
                <a:latin typeface="Calibri" panose="020F0502020204030204" pitchFamily="34" charset="0"/>
                <a:ea typeface="Calibri" panose="020F0502020204030204" pitchFamily="34" charset="-122"/>
                <a:cs typeface="Calibri" panose="020F0502020204030204" pitchFamily="34" charset="-120"/>
              </a:rPr>
              <a:t>No Session Visibility</a:t>
            </a:r>
            <a:endParaRPr lang="en-US" sz="1200" dirty="0"/>
          </a:p>
        </p:txBody>
      </p:sp>
      <p:sp>
        <p:nvSpPr>
          <p:cNvPr id="32" name="Text 26"/>
          <p:cNvSpPr/>
          <p:nvPr/>
        </p:nvSpPr>
        <p:spPr>
          <a:xfrm>
            <a:off x="9409176" y="5102352"/>
            <a:ext cx="2377440" cy="1005840"/>
          </a:xfrm>
          <a:prstGeom prst="rect">
            <a:avLst/>
          </a:prstGeom>
          <a:noFill/>
        </p:spPr>
        <p:txBody>
          <a:bodyPr wrap="square" rtlCol="0" anchor="t"/>
          <a:lstStyle/>
          <a:p>
            <a:pPr marL="0" indent="0" algn="ctr">
              <a:lnSpc>
                <a:spcPts val="130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Privileged sessions unmonitored — no record of what admins actually did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PRIVILEGED ACCESS MANAGEMENT</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21</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4 · PAM</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PAM Architecture: Vault, Broker &amp; Monitoring</a:t>
            </a:r>
            <a:endParaRPr lang="en-US" sz="3000" dirty="0"/>
          </a:p>
        </p:txBody>
      </p:sp>
      <p:sp>
        <p:nvSpPr>
          <p:cNvPr id="7" name="Shape 5"/>
          <p:cNvSpPr/>
          <p:nvPr/>
        </p:nvSpPr>
        <p:spPr>
          <a:xfrm>
            <a:off x="502920" y="1828800"/>
            <a:ext cx="2088490" cy="2011680"/>
          </a:xfrm>
          <a:prstGeom prst="roundRect">
            <a:avLst>
              <a:gd name="adj" fmla="val 3182"/>
            </a:avLst>
          </a:prstGeom>
          <a:solidFill>
            <a:srgbClr val="2B2D2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Shape 6"/>
          <p:cNvSpPr/>
          <p:nvPr/>
        </p:nvSpPr>
        <p:spPr>
          <a:xfrm>
            <a:off x="1227125" y="1993392"/>
            <a:ext cx="640080" cy="640080"/>
          </a:xfrm>
          <a:prstGeom prst="ellipse">
            <a:avLst/>
          </a:prstGeom>
          <a:solidFill>
            <a:srgbClr val="0E7C7B"/>
          </a:solidFill>
        </p:spPr>
        <p:txBody>
          <a:bodyPr/>
          <a:lstStyle/>
          <a:p>
            <a:endParaRPr lang="ar-EG"/>
          </a:p>
        </p:txBody>
      </p:sp>
      <p:pic>
        <p:nvPicPr>
          <p:cNvPr id="9" name="Image 0" descr="/home/claude/deck/icons/user_tie.png"/>
          <p:cNvPicPr>
            <a:picLocks noChangeAspect="1"/>
          </p:cNvPicPr>
          <p:nvPr/>
        </p:nvPicPr>
        <p:blipFill>
          <a:blip r:embed="rId3"/>
          <a:stretch>
            <a:fillRect/>
          </a:stretch>
        </p:blipFill>
        <p:spPr>
          <a:xfrm>
            <a:off x="1371143" y="2137410"/>
            <a:ext cx="352044" cy="352044"/>
          </a:xfrm>
          <a:prstGeom prst="rect">
            <a:avLst/>
          </a:prstGeom>
        </p:spPr>
      </p:pic>
      <p:sp>
        <p:nvSpPr>
          <p:cNvPr id="10" name="Text 7"/>
          <p:cNvSpPr/>
          <p:nvPr/>
        </p:nvSpPr>
        <p:spPr>
          <a:xfrm>
            <a:off x="576072" y="2697480"/>
            <a:ext cx="1942186" cy="457200"/>
          </a:xfrm>
          <a:prstGeom prst="rect">
            <a:avLst/>
          </a:prstGeom>
          <a:noFill/>
        </p:spPr>
        <p:txBody>
          <a:bodyPr wrap="square"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Admin User</a:t>
            </a:r>
            <a:endParaRPr lang="en-US" sz="1100" dirty="0"/>
          </a:p>
        </p:txBody>
      </p:sp>
      <p:sp>
        <p:nvSpPr>
          <p:cNvPr id="11" name="Text 8"/>
          <p:cNvSpPr/>
          <p:nvPr/>
        </p:nvSpPr>
        <p:spPr>
          <a:xfrm>
            <a:off x="576072" y="3182112"/>
            <a:ext cx="1942186" cy="594360"/>
          </a:xfrm>
          <a:prstGeom prst="rect">
            <a:avLst/>
          </a:prstGeom>
          <a:noFill/>
        </p:spPr>
        <p:txBody>
          <a:bodyPr wrap="square" rtlCol="0" anchor="t"/>
          <a:lstStyle/>
          <a:p>
            <a:pPr marL="0" indent="0" algn="ctr">
              <a:lnSpc>
                <a:spcPts val="1100"/>
              </a:lnSpc>
              <a:buNone/>
            </a:pPr>
            <a:r>
              <a:rPr lang="en-US" sz="900" dirty="0">
                <a:solidFill>
                  <a:srgbClr val="C9CFD1"/>
                </a:solidFill>
                <a:latin typeface="Calibri" panose="020F0502020204030204" pitchFamily="34" charset="0"/>
                <a:ea typeface="Calibri" panose="020F0502020204030204" pitchFamily="34" charset="-122"/>
                <a:cs typeface="Calibri" panose="020F0502020204030204" pitchFamily="34" charset="-120"/>
              </a:rPr>
              <a:t>Authenticates via SSO + MFA</a:t>
            </a:r>
            <a:endParaRPr lang="en-US" sz="900" dirty="0"/>
          </a:p>
        </p:txBody>
      </p:sp>
      <p:sp>
        <p:nvSpPr>
          <p:cNvPr id="12" name="Shape 9"/>
          <p:cNvSpPr/>
          <p:nvPr/>
        </p:nvSpPr>
        <p:spPr>
          <a:xfrm>
            <a:off x="2600554" y="2432304"/>
            <a:ext cx="182880" cy="164592"/>
          </a:xfrm>
          <a:prstGeom prst="rightArrow">
            <a:avLst/>
          </a:prstGeom>
          <a:solidFill>
            <a:srgbClr val="8B939A"/>
          </a:solidFill>
        </p:spPr>
        <p:txBody>
          <a:bodyPr/>
          <a:lstStyle/>
          <a:p>
            <a:endParaRPr lang="ar-EG"/>
          </a:p>
        </p:txBody>
      </p:sp>
      <p:sp>
        <p:nvSpPr>
          <p:cNvPr id="13" name="Shape 10"/>
          <p:cNvSpPr/>
          <p:nvPr/>
        </p:nvSpPr>
        <p:spPr>
          <a:xfrm>
            <a:off x="2792578" y="1828800"/>
            <a:ext cx="2088490" cy="2011680"/>
          </a:xfrm>
          <a:prstGeom prst="roundRect">
            <a:avLst>
              <a:gd name="adj" fmla="val 318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4" name="Shape 11"/>
          <p:cNvSpPr/>
          <p:nvPr/>
        </p:nvSpPr>
        <p:spPr>
          <a:xfrm>
            <a:off x="3516782" y="1993392"/>
            <a:ext cx="640080" cy="640080"/>
          </a:xfrm>
          <a:prstGeom prst="ellipse">
            <a:avLst/>
          </a:prstGeom>
          <a:solidFill>
            <a:srgbClr val="0E7C7B"/>
          </a:solidFill>
        </p:spPr>
        <p:txBody>
          <a:bodyPr/>
          <a:lstStyle/>
          <a:p>
            <a:endParaRPr lang="ar-EG"/>
          </a:p>
        </p:txBody>
      </p:sp>
      <p:pic>
        <p:nvPicPr>
          <p:cNvPr id="15" name="Image 1" descr="/home/claude/deck/icons/shield_teal.png"/>
          <p:cNvPicPr>
            <a:picLocks noChangeAspect="1"/>
          </p:cNvPicPr>
          <p:nvPr/>
        </p:nvPicPr>
        <p:blipFill>
          <a:blip r:embed="rId4"/>
          <a:stretch>
            <a:fillRect/>
          </a:stretch>
        </p:blipFill>
        <p:spPr>
          <a:xfrm>
            <a:off x="3660800" y="2137410"/>
            <a:ext cx="352044" cy="352044"/>
          </a:xfrm>
          <a:prstGeom prst="rect">
            <a:avLst/>
          </a:prstGeom>
        </p:spPr>
      </p:pic>
      <p:sp>
        <p:nvSpPr>
          <p:cNvPr id="16" name="Text 12"/>
          <p:cNvSpPr/>
          <p:nvPr/>
        </p:nvSpPr>
        <p:spPr>
          <a:xfrm>
            <a:off x="2865730" y="2697480"/>
            <a:ext cx="1942186" cy="457200"/>
          </a:xfrm>
          <a:prstGeom prst="rect">
            <a:avLst/>
          </a:prstGeom>
          <a:noFill/>
        </p:spPr>
        <p:txBody>
          <a:bodyPr wrap="square" rtlCol="0" anchor="t"/>
          <a:lstStyle/>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PAM Portal</a:t>
            </a:r>
            <a:endParaRPr lang="en-US" sz="1100" dirty="0"/>
          </a:p>
        </p:txBody>
      </p:sp>
      <p:sp>
        <p:nvSpPr>
          <p:cNvPr id="17" name="Text 13"/>
          <p:cNvSpPr/>
          <p:nvPr/>
        </p:nvSpPr>
        <p:spPr>
          <a:xfrm>
            <a:off x="2865730" y="3182112"/>
            <a:ext cx="1942186" cy="59436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Requests access, policy check</a:t>
            </a:r>
            <a:endParaRPr lang="en-US" sz="900" dirty="0"/>
          </a:p>
        </p:txBody>
      </p:sp>
      <p:sp>
        <p:nvSpPr>
          <p:cNvPr id="18" name="Shape 14"/>
          <p:cNvSpPr/>
          <p:nvPr/>
        </p:nvSpPr>
        <p:spPr>
          <a:xfrm>
            <a:off x="4890211" y="2432304"/>
            <a:ext cx="182880" cy="164592"/>
          </a:xfrm>
          <a:prstGeom prst="rightArrow">
            <a:avLst/>
          </a:prstGeom>
          <a:solidFill>
            <a:srgbClr val="8B939A"/>
          </a:solidFill>
        </p:spPr>
        <p:txBody>
          <a:bodyPr/>
          <a:lstStyle/>
          <a:p>
            <a:endParaRPr lang="ar-EG"/>
          </a:p>
        </p:txBody>
      </p:sp>
      <p:sp>
        <p:nvSpPr>
          <p:cNvPr id="19" name="Shape 15"/>
          <p:cNvSpPr/>
          <p:nvPr/>
        </p:nvSpPr>
        <p:spPr>
          <a:xfrm>
            <a:off x="5082235" y="1828800"/>
            <a:ext cx="2088490" cy="2011680"/>
          </a:xfrm>
          <a:prstGeom prst="roundRect">
            <a:avLst>
              <a:gd name="adj" fmla="val 318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0" name="Shape 16"/>
          <p:cNvSpPr/>
          <p:nvPr/>
        </p:nvSpPr>
        <p:spPr>
          <a:xfrm>
            <a:off x="5806440" y="1993392"/>
            <a:ext cx="640080" cy="640080"/>
          </a:xfrm>
          <a:prstGeom prst="ellipse">
            <a:avLst/>
          </a:prstGeom>
          <a:solidFill>
            <a:srgbClr val="0E7C7B"/>
          </a:solidFill>
        </p:spPr>
        <p:txBody>
          <a:bodyPr/>
          <a:lstStyle/>
          <a:p>
            <a:endParaRPr lang="ar-EG"/>
          </a:p>
        </p:txBody>
      </p:sp>
      <p:pic>
        <p:nvPicPr>
          <p:cNvPr id="21" name="Image 2" descr="/home/claude/deck/icons/lock_teal.png"/>
          <p:cNvPicPr>
            <a:picLocks noChangeAspect="1"/>
          </p:cNvPicPr>
          <p:nvPr/>
        </p:nvPicPr>
        <p:blipFill>
          <a:blip r:embed="rId5"/>
          <a:stretch>
            <a:fillRect/>
          </a:stretch>
        </p:blipFill>
        <p:spPr>
          <a:xfrm>
            <a:off x="5950458" y="2137410"/>
            <a:ext cx="352044" cy="352044"/>
          </a:xfrm>
          <a:prstGeom prst="rect">
            <a:avLst/>
          </a:prstGeom>
        </p:spPr>
      </p:pic>
      <p:sp>
        <p:nvSpPr>
          <p:cNvPr id="22" name="Text 17"/>
          <p:cNvSpPr/>
          <p:nvPr/>
        </p:nvSpPr>
        <p:spPr>
          <a:xfrm>
            <a:off x="5155387" y="2697480"/>
            <a:ext cx="1942186" cy="457200"/>
          </a:xfrm>
          <a:prstGeom prst="rect">
            <a:avLst/>
          </a:prstGeom>
          <a:noFill/>
        </p:spPr>
        <p:txBody>
          <a:bodyPr wrap="square" rtlCol="0" anchor="t"/>
          <a:lstStyle/>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Credential</a:t>
            </a:r>
            <a:endParaRPr lang="en-US" sz="1100" dirty="0"/>
          </a:p>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Vault</a:t>
            </a:r>
            <a:endParaRPr lang="en-US" sz="1100" dirty="0"/>
          </a:p>
        </p:txBody>
      </p:sp>
      <p:sp>
        <p:nvSpPr>
          <p:cNvPr id="23" name="Text 18"/>
          <p:cNvSpPr/>
          <p:nvPr/>
        </p:nvSpPr>
        <p:spPr>
          <a:xfrm>
            <a:off x="5155387" y="3182112"/>
            <a:ext cx="1942186" cy="59436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Stores &amp; rotates secrets</a:t>
            </a:r>
            <a:endParaRPr lang="en-US" sz="900" dirty="0"/>
          </a:p>
        </p:txBody>
      </p:sp>
      <p:sp>
        <p:nvSpPr>
          <p:cNvPr id="24" name="Shape 19"/>
          <p:cNvSpPr/>
          <p:nvPr/>
        </p:nvSpPr>
        <p:spPr>
          <a:xfrm>
            <a:off x="7179869" y="2432304"/>
            <a:ext cx="182880" cy="164592"/>
          </a:xfrm>
          <a:prstGeom prst="rightArrow">
            <a:avLst/>
          </a:prstGeom>
          <a:solidFill>
            <a:srgbClr val="8B939A"/>
          </a:solidFill>
        </p:spPr>
        <p:txBody>
          <a:bodyPr/>
          <a:lstStyle/>
          <a:p>
            <a:endParaRPr lang="ar-EG"/>
          </a:p>
        </p:txBody>
      </p:sp>
      <p:sp>
        <p:nvSpPr>
          <p:cNvPr id="25" name="Shape 20"/>
          <p:cNvSpPr/>
          <p:nvPr/>
        </p:nvSpPr>
        <p:spPr>
          <a:xfrm>
            <a:off x="7371893" y="1828800"/>
            <a:ext cx="2088490" cy="2011680"/>
          </a:xfrm>
          <a:prstGeom prst="roundRect">
            <a:avLst>
              <a:gd name="adj" fmla="val 318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6" name="Shape 21"/>
          <p:cNvSpPr/>
          <p:nvPr/>
        </p:nvSpPr>
        <p:spPr>
          <a:xfrm>
            <a:off x="8096098" y="1993392"/>
            <a:ext cx="640080" cy="640080"/>
          </a:xfrm>
          <a:prstGeom prst="ellipse">
            <a:avLst/>
          </a:prstGeom>
          <a:solidFill>
            <a:srgbClr val="0E7C7B"/>
          </a:solidFill>
        </p:spPr>
        <p:txBody>
          <a:bodyPr/>
          <a:lstStyle/>
          <a:p>
            <a:endParaRPr lang="ar-EG"/>
          </a:p>
        </p:txBody>
      </p:sp>
      <p:pic>
        <p:nvPicPr>
          <p:cNvPr id="27" name="Image 3" descr="/home/claude/deck/icons/network_teal.png"/>
          <p:cNvPicPr>
            <a:picLocks noChangeAspect="1"/>
          </p:cNvPicPr>
          <p:nvPr/>
        </p:nvPicPr>
        <p:blipFill>
          <a:blip r:embed="rId6"/>
          <a:stretch>
            <a:fillRect/>
          </a:stretch>
        </p:blipFill>
        <p:spPr>
          <a:xfrm>
            <a:off x="8240116" y="2137410"/>
            <a:ext cx="352044" cy="352044"/>
          </a:xfrm>
          <a:prstGeom prst="rect">
            <a:avLst/>
          </a:prstGeom>
        </p:spPr>
      </p:pic>
      <p:sp>
        <p:nvSpPr>
          <p:cNvPr id="28" name="Text 22"/>
          <p:cNvSpPr/>
          <p:nvPr/>
        </p:nvSpPr>
        <p:spPr>
          <a:xfrm>
            <a:off x="7445045" y="2697480"/>
            <a:ext cx="1942186" cy="457200"/>
          </a:xfrm>
          <a:prstGeom prst="rect">
            <a:avLst/>
          </a:prstGeom>
          <a:noFill/>
        </p:spPr>
        <p:txBody>
          <a:bodyPr wrap="square" rtlCol="0" anchor="t"/>
          <a:lstStyle/>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Session Broker</a:t>
            </a:r>
            <a:endParaRPr lang="en-US" sz="1100" dirty="0"/>
          </a:p>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(PSM)</a:t>
            </a:r>
            <a:endParaRPr lang="en-US" sz="1100" dirty="0"/>
          </a:p>
        </p:txBody>
      </p:sp>
      <p:sp>
        <p:nvSpPr>
          <p:cNvPr id="29" name="Text 23"/>
          <p:cNvSpPr/>
          <p:nvPr/>
        </p:nvSpPr>
        <p:spPr>
          <a:xfrm>
            <a:off x="7445045" y="3182112"/>
            <a:ext cx="1942186" cy="59436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Proxies &amp; records session</a:t>
            </a:r>
            <a:endParaRPr lang="en-US" sz="900" dirty="0"/>
          </a:p>
        </p:txBody>
      </p:sp>
      <p:sp>
        <p:nvSpPr>
          <p:cNvPr id="30" name="Shape 24"/>
          <p:cNvSpPr/>
          <p:nvPr/>
        </p:nvSpPr>
        <p:spPr>
          <a:xfrm>
            <a:off x="9469526" y="2432304"/>
            <a:ext cx="182880" cy="164592"/>
          </a:xfrm>
          <a:prstGeom prst="rightArrow">
            <a:avLst/>
          </a:prstGeom>
          <a:solidFill>
            <a:srgbClr val="8B939A"/>
          </a:solidFill>
        </p:spPr>
        <p:txBody>
          <a:bodyPr/>
          <a:lstStyle/>
          <a:p>
            <a:endParaRPr lang="ar-EG"/>
          </a:p>
        </p:txBody>
      </p:sp>
      <p:sp>
        <p:nvSpPr>
          <p:cNvPr id="31" name="Shape 25"/>
          <p:cNvSpPr/>
          <p:nvPr/>
        </p:nvSpPr>
        <p:spPr>
          <a:xfrm>
            <a:off x="9661550" y="1828800"/>
            <a:ext cx="2088490" cy="2011680"/>
          </a:xfrm>
          <a:prstGeom prst="roundRect">
            <a:avLst>
              <a:gd name="adj" fmla="val 3182"/>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32" name="Shape 26"/>
          <p:cNvSpPr/>
          <p:nvPr/>
        </p:nvSpPr>
        <p:spPr>
          <a:xfrm>
            <a:off x="10385755" y="1993392"/>
            <a:ext cx="640080" cy="640080"/>
          </a:xfrm>
          <a:prstGeom prst="ellipse">
            <a:avLst/>
          </a:prstGeom>
          <a:solidFill>
            <a:srgbClr val="0E7C7B"/>
          </a:solidFill>
        </p:spPr>
        <p:txBody>
          <a:bodyPr/>
          <a:lstStyle/>
          <a:p>
            <a:endParaRPr lang="ar-EG"/>
          </a:p>
        </p:txBody>
      </p:sp>
      <p:pic>
        <p:nvPicPr>
          <p:cNvPr id="33" name="Image 4" descr="/home/claude/deck/icons/server_teal.png"/>
          <p:cNvPicPr>
            <a:picLocks noChangeAspect="1"/>
          </p:cNvPicPr>
          <p:nvPr/>
        </p:nvPicPr>
        <p:blipFill>
          <a:blip r:embed="rId7"/>
          <a:stretch>
            <a:fillRect/>
          </a:stretch>
        </p:blipFill>
        <p:spPr>
          <a:xfrm>
            <a:off x="10529773" y="2137410"/>
            <a:ext cx="352044" cy="352044"/>
          </a:xfrm>
          <a:prstGeom prst="rect">
            <a:avLst/>
          </a:prstGeom>
        </p:spPr>
      </p:pic>
      <p:sp>
        <p:nvSpPr>
          <p:cNvPr id="34" name="Text 27"/>
          <p:cNvSpPr/>
          <p:nvPr/>
        </p:nvSpPr>
        <p:spPr>
          <a:xfrm>
            <a:off x="9734702" y="2697480"/>
            <a:ext cx="1942186" cy="457200"/>
          </a:xfrm>
          <a:prstGeom prst="rect">
            <a:avLst/>
          </a:prstGeom>
          <a:noFill/>
        </p:spPr>
        <p:txBody>
          <a:bodyPr wrap="square" rtlCol="0" anchor="t"/>
          <a:lstStyle/>
          <a:p>
            <a:pPr marL="0" indent="0" algn="ctr">
              <a:buNone/>
            </a:pPr>
            <a:r>
              <a:rPr lang="en-US" sz="1100" b="1" dirty="0">
                <a:solidFill>
                  <a:srgbClr val="2B2D2F"/>
                </a:solidFill>
                <a:latin typeface="Calibri" panose="020F0502020204030204" pitchFamily="34" charset="0"/>
                <a:ea typeface="Calibri" panose="020F0502020204030204" pitchFamily="34" charset="-122"/>
                <a:cs typeface="Calibri" panose="020F0502020204030204" pitchFamily="34" charset="-120"/>
              </a:rPr>
              <a:t>Target System</a:t>
            </a:r>
            <a:endParaRPr lang="en-US" sz="1100" dirty="0"/>
          </a:p>
        </p:txBody>
      </p:sp>
      <p:sp>
        <p:nvSpPr>
          <p:cNvPr id="35" name="Text 28"/>
          <p:cNvSpPr/>
          <p:nvPr/>
        </p:nvSpPr>
        <p:spPr>
          <a:xfrm>
            <a:off x="9734702" y="3182112"/>
            <a:ext cx="1942186" cy="59436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Server, database, network device</a:t>
            </a:r>
            <a:endParaRPr lang="en-US" sz="900" dirty="0"/>
          </a:p>
        </p:txBody>
      </p:sp>
      <p:sp>
        <p:nvSpPr>
          <p:cNvPr id="36" name="Text 29"/>
          <p:cNvSpPr/>
          <p:nvPr/>
        </p:nvSpPr>
        <p:spPr>
          <a:xfrm>
            <a:off x="502920" y="4069080"/>
            <a:ext cx="11247120" cy="548640"/>
          </a:xfrm>
          <a:prstGeom prst="rect">
            <a:avLst/>
          </a:prstGeom>
          <a:noFill/>
        </p:spPr>
        <p:txBody>
          <a:bodyPr wrap="square" rtlCol="0" anchor="ctr"/>
          <a:lstStyle/>
          <a:p>
            <a:pPr marL="0" indent="0">
              <a:lnSpc>
                <a:spcPts val="1700"/>
              </a:lnSpc>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Real vendors: </a:t>
            </a:r>
            <a:r>
              <a:rPr lang="en-US" sz="1250" dirty="0">
                <a:solidFill>
                  <a:srgbClr val="5B6670"/>
                </a:solidFill>
                <a:latin typeface="Calibri" panose="020F0502020204030204" pitchFamily="34" charset="0"/>
                <a:ea typeface="Calibri" panose="020F0502020204030204" pitchFamily="34" charset="-122"/>
                <a:cs typeface="Calibri" panose="020F0502020204030204" pitchFamily="34" charset="-120"/>
              </a:rPr>
              <a:t>CyberArk, BeyondTrust, HashiCorp Vault, and Delinea provide credential vaulting, automatic password rotation, and Privileged Session Manager (PSM) recording for compliance and forensic review.</a:t>
            </a:r>
            <a:endParaRPr lang="en-US" sz="1250" dirty="0"/>
          </a:p>
        </p:txBody>
      </p:sp>
      <p:sp>
        <p:nvSpPr>
          <p:cNvPr id="37" name="Shape 30"/>
          <p:cNvSpPr/>
          <p:nvPr/>
        </p:nvSpPr>
        <p:spPr>
          <a:xfrm>
            <a:off x="502920" y="4800600"/>
            <a:ext cx="3657600" cy="1325880"/>
          </a:xfrm>
          <a:prstGeom prst="roundRect">
            <a:avLst>
              <a:gd name="adj" fmla="val 4828"/>
            </a:avLst>
          </a:prstGeom>
          <a:solidFill>
            <a:srgbClr val="F5F6F6"/>
          </a:solidFill>
          <a:ln w="12700">
            <a:solidFill>
              <a:srgbClr val="DCE1E2"/>
            </a:solidFill>
            <a:prstDash val="solid"/>
          </a:ln>
        </p:spPr>
        <p:txBody>
          <a:bodyPr/>
          <a:lstStyle/>
          <a:p>
            <a:endParaRPr lang="ar-EG"/>
          </a:p>
        </p:txBody>
      </p:sp>
      <p:sp>
        <p:nvSpPr>
          <p:cNvPr id="38" name="Text 31"/>
          <p:cNvSpPr/>
          <p:nvPr/>
        </p:nvSpPr>
        <p:spPr>
          <a:xfrm>
            <a:off x="685800" y="4937760"/>
            <a:ext cx="3291840" cy="365760"/>
          </a:xfrm>
          <a:prstGeom prst="rect">
            <a:avLst/>
          </a:prstGeom>
          <a:noFill/>
        </p:spPr>
        <p:txBody>
          <a:bodyPr wrap="square" rtlCol="0" anchor="ctr"/>
          <a:lstStyle/>
          <a:p>
            <a:pPr marL="0" indent="0">
              <a:buNone/>
            </a:pPr>
            <a:r>
              <a:rPr lang="en-US" sz="1250" b="1" dirty="0">
                <a:solidFill>
                  <a:srgbClr val="0A5F5E"/>
                </a:solidFill>
                <a:latin typeface="Calibri" panose="020F0502020204030204" pitchFamily="34" charset="0"/>
                <a:ea typeface="Calibri" panose="020F0502020204030204" pitchFamily="34" charset="-122"/>
                <a:cs typeface="Calibri" panose="020F0502020204030204" pitchFamily="34" charset="-120"/>
              </a:rPr>
              <a:t>No Standing Access</a:t>
            </a:r>
            <a:endParaRPr lang="en-US" sz="1250" dirty="0"/>
          </a:p>
        </p:txBody>
      </p:sp>
      <p:sp>
        <p:nvSpPr>
          <p:cNvPr id="39" name="Text 32"/>
          <p:cNvSpPr/>
          <p:nvPr/>
        </p:nvSpPr>
        <p:spPr>
          <a:xfrm>
            <a:off x="685800" y="5285232"/>
            <a:ext cx="3291840" cy="731520"/>
          </a:xfrm>
          <a:prstGeom prst="rect">
            <a:avLst/>
          </a:prstGeom>
          <a:noFill/>
        </p:spPr>
        <p:txBody>
          <a:bodyPr wrap="square" rtlCol="0" anchor="t"/>
          <a:lstStyle/>
          <a:p>
            <a:pPr marL="0" indent="0">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Credentials checked out only when needed, then rotated</a:t>
            </a:r>
            <a:endParaRPr lang="en-US" sz="1050" dirty="0"/>
          </a:p>
        </p:txBody>
      </p:sp>
      <p:sp>
        <p:nvSpPr>
          <p:cNvPr id="40" name="Shape 33"/>
          <p:cNvSpPr/>
          <p:nvPr/>
        </p:nvSpPr>
        <p:spPr>
          <a:xfrm>
            <a:off x="4293108" y="4800600"/>
            <a:ext cx="3657600" cy="1325880"/>
          </a:xfrm>
          <a:prstGeom prst="roundRect">
            <a:avLst>
              <a:gd name="adj" fmla="val 4828"/>
            </a:avLst>
          </a:prstGeom>
          <a:solidFill>
            <a:srgbClr val="F5F6F6"/>
          </a:solidFill>
          <a:ln w="12700">
            <a:solidFill>
              <a:srgbClr val="DCE1E2"/>
            </a:solidFill>
            <a:prstDash val="solid"/>
          </a:ln>
        </p:spPr>
        <p:txBody>
          <a:bodyPr/>
          <a:lstStyle/>
          <a:p>
            <a:endParaRPr lang="ar-EG"/>
          </a:p>
        </p:txBody>
      </p:sp>
      <p:sp>
        <p:nvSpPr>
          <p:cNvPr id="41" name="Text 34"/>
          <p:cNvSpPr/>
          <p:nvPr/>
        </p:nvSpPr>
        <p:spPr>
          <a:xfrm>
            <a:off x="4475988" y="4937760"/>
            <a:ext cx="3291840" cy="365760"/>
          </a:xfrm>
          <a:prstGeom prst="rect">
            <a:avLst/>
          </a:prstGeom>
          <a:noFill/>
        </p:spPr>
        <p:txBody>
          <a:bodyPr wrap="square" rtlCol="0" anchor="ctr"/>
          <a:lstStyle/>
          <a:p>
            <a:pPr marL="0" indent="0">
              <a:buNone/>
            </a:pPr>
            <a:r>
              <a:rPr lang="en-US" sz="1250" b="1" dirty="0">
                <a:solidFill>
                  <a:srgbClr val="0A5F5E"/>
                </a:solidFill>
                <a:latin typeface="Calibri" panose="020F0502020204030204" pitchFamily="34" charset="0"/>
                <a:ea typeface="Calibri" panose="020F0502020204030204" pitchFamily="34" charset="-122"/>
                <a:cs typeface="Calibri" panose="020F0502020204030204" pitchFamily="34" charset="-120"/>
              </a:rPr>
              <a:t>Full Session Recording</a:t>
            </a:r>
            <a:endParaRPr lang="en-US" sz="1250" dirty="0"/>
          </a:p>
        </p:txBody>
      </p:sp>
      <p:sp>
        <p:nvSpPr>
          <p:cNvPr id="42" name="Text 35"/>
          <p:cNvSpPr/>
          <p:nvPr/>
        </p:nvSpPr>
        <p:spPr>
          <a:xfrm>
            <a:off x="4475988" y="5285232"/>
            <a:ext cx="3291840" cy="731520"/>
          </a:xfrm>
          <a:prstGeom prst="rect">
            <a:avLst/>
          </a:prstGeom>
          <a:noFill/>
        </p:spPr>
        <p:txBody>
          <a:bodyPr wrap="square" rtlCol="0" anchor="t"/>
          <a:lstStyle/>
          <a:p>
            <a:pPr marL="0" indent="0">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Every privileged action logged for audit &amp; forensics</a:t>
            </a:r>
            <a:endParaRPr lang="en-US" sz="1050" dirty="0"/>
          </a:p>
        </p:txBody>
      </p:sp>
      <p:sp>
        <p:nvSpPr>
          <p:cNvPr id="43" name="Shape 36"/>
          <p:cNvSpPr/>
          <p:nvPr/>
        </p:nvSpPr>
        <p:spPr>
          <a:xfrm>
            <a:off x="8083296" y="4800600"/>
            <a:ext cx="3657600" cy="1325880"/>
          </a:xfrm>
          <a:prstGeom prst="roundRect">
            <a:avLst>
              <a:gd name="adj" fmla="val 4828"/>
            </a:avLst>
          </a:prstGeom>
          <a:solidFill>
            <a:srgbClr val="F5F6F6"/>
          </a:solidFill>
          <a:ln w="12700">
            <a:solidFill>
              <a:srgbClr val="DCE1E2"/>
            </a:solidFill>
            <a:prstDash val="solid"/>
          </a:ln>
        </p:spPr>
        <p:txBody>
          <a:bodyPr/>
          <a:lstStyle/>
          <a:p>
            <a:endParaRPr lang="ar-EG"/>
          </a:p>
        </p:txBody>
      </p:sp>
      <p:sp>
        <p:nvSpPr>
          <p:cNvPr id="44" name="Text 37"/>
          <p:cNvSpPr/>
          <p:nvPr/>
        </p:nvSpPr>
        <p:spPr>
          <a:xfrm>
            <a:off x="8266176" y="4937760"/>
            <a:ext cx="3291840" cy="365760"/>
          </a:xfrm>
          <a:prstGeom prst="rect">
            <a:avLst/>
          </a:prstGeom>
          <a:noFill/>
        </p:spPr>
        <p:txBody>
          <a:bodyPr wrap="square" rtlCol="0" anchor="ctr"/>
          <a:lstStyle/>
          <a:p>
            <a:pPr marL="0" indent="0">
              <a:buNone/>
            </a:pPr>
            <a:r>
              <a:rPr lang="en-US" sz="1250" b="1" dirty="0">
                <a:solidFill>
                  <a:srgbClr val="0A5F5E"/>
                </a:solidFill>
                <a:latin typeface="Calibri" panose="020F0502020204030204" pitchFamily="34" charset="0"/>
                <a:ea typeface="Calibri" panose="020F0502020204030204" pitchFamily="34" charset="-122"/>
                <a:cs typeface="Calibri" panose="020F0502020204030204" pitchFamily="34" charset="-120"/>
              </a:rPr>
              <a:t>Least Privilege by Default</a:t>
            </a:r>
            <a:endParaRPr lang="en-US" sz="1250" dirty="0"/>
          </a:p>
        </p:txBody>
      </p:sp>
      <p:sp>
        <p:nvSpPr>
          <p:cNvPr id="45" name="Text 38"/>
          <p:cNvSpPr/>
          <p:nvPr/>
        </p:nvSpPr>
        <p:spPr>
          <a:xfrm>
            <a:off x="8266176" y="5285232"/>
            <a:ext cx="3291840" cy="731520"/>
          </a:xfrm>
          <a:prstGeom prst="rect">
            <a:avLst/>
          </a:prstGeom>
          <a:noFill/>
        </p:spPr>
        <p:txBody>
          <a:bodyPr wrap="square" rtlCol="0" anchor="t"/>
          <a:lstStyle/>
          <a:p>
            <a:pPr marL="0" indent="0">
              <a:buNone/>
            </a:pPr>
            <a:r>
              <a:rPr lang="en-US" sz="1050" dirty="0">
                <a:solidFill>
                  <a:srgbClr val="5B6670"/>
                </a:solidFill>
                <a:latin typeface="Calibri" panose="020F0502020204030204" pitchFamily="34" charset="0"/>
                <a:ea typeface="Calibri" panose="020F0502020204030204" pitchFamily="34" charset="-122"/>
                <a:cs typeface="Calibri" panose="020F0502020204030204" pitchFamily="34" charset="-120"/>
              </a:rPr>
              <a:t>Scoped, time-boxed access instead of always-on admin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PRIVILEGED ACCESS MANAGEMENT</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22</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4 · JUST-IN-TIME ACCESS</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JIT Access Flow vs. Standing Privilege</a:t>
            </a:r>
            <a:endParaRPr lang="en-US" sz="3000" dirty="0"/>
          </a:p>
        </p:txBody>
      </p:sp>
      <p:sp>
        <p:nvSpPr>
          <p:cNvPr id="7" name="Shape 5"/>
          <p:cNvSpPr/>
          <p:nvPr/>
        </p:nvSpPr>
        <p:spPr>
          <a:xfrm>
            <a:off x="502920" y="1554480"/>
            <a:ext cx="2103120" cy="2103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Text 6"/>
          <p:cNvSpPr/>
          <p:nvPr/>
        </p:nvSpPr>
        <p:spPr>
          <a:xfrm>
            <a:off x="612648" y="1645920"/>
            <a:ext cx="548640" cy="411480"/>
          </a:xfrm>
          <a:prstGeom prst="rect">
            <a:avLst/>
          </a:prstGeom>
          <a:noFill/>
        </p:spPr>
        <p:txBody>
          <a:bodyPr wrap="square" rtlCol="0" anchor="ctr"/>
          <a:lstStyle/>
          <a:p>
            <a:pPr marL="0" indent="0">
              <a:buNone/>
            </a:pPr>
            <a:r>
              <a:rPr lang="en-US" sz="2200" b="1" dirty="0">
                <a:solidFill>
                  <a:srgbClr val="C7CFD1"/>
                </a:solidFill>
                <a:latin typeface="Cambria" panose="02040503050406030204" pitchFamily="34" charset="0"/>
                <a:ea typeface="Cambria" panose="02040503050406030204" pitchFamily="34" charset="-122"/>
                <a:cs typeface="Cambria" panose="02040503050406030204" pitchFamily="34" charset="-120"/>
              </a:rPr>
              <a:t>1</a:t>
            </a:r>
            <a:endParaRPr lang="en-US" sz="2200" dirty="0"/>
          </a:p>
        </p:txBody>
      </p:sp>
      <p:sp>
        <p:nvSpPr>
          <p:cNvPr id="9" name="Shape 7"/>
          <p:cNvSpPr/>
          <p:nvPr/>
        </p:nvSpPr>
        <p:spPr>
          <a:xfrm>
            <a:off x="1243584" y="2057400"/>
            <a:ext cx="621792" cy="621792"/>
          </a:xfrm>
          <a:prstGeom prst="ellipse">
            <a:avLst/>
          </a:prstGeom>
          <a:solidFill>
            <a:srgbClr val="0E7C7B"/>
          </a:solidFill>
        </p:spPr>
        <p:txBody>
          <a:bodyPr/>
          <a:lstStyle/>
          <a:p>
            <a:endParaRPr lang="ar-EG"/>
          </a:p>
        </p:txBody>
      </p:sp>
      <p:pic>
        <p:nvPicPr>
          <p:cNvPr id="10" name="Image 0" descr="/home/claude/deck/icons/clipboard_teal.png"/>
          <p:cNvPicPr>
            <a:picLocks noChangeAspect="1"/>
          </p:cNvPicPr>
          <p:nvPr/>
        </p:nvPicPr>
        <p:blipFill>
          <a:blip r:embed="rId3"/>
          <a:stretch>
            <a:fillRect/>
          </a:stretch>
        </p:blipFill>
        <p:spPr>
          <a:xfrm>
            <a:off x="1383487" y="2197303"/>
            <a:ext cx="341986" cy="341986"/>
          </a:xfrm>
          <a:prstGeom prst="rect">
            <a:avLst/>
          </a:prstGeom>
        </p:spPr>
      </p:pic>
      <p:sp>
        <p:nvSpPr>
          <p:cNvPr id="11" name="Text 8"/>
          <p:cNvSpPr/>
          <p:nvPr/>
        </p:nvSpPr>
        <p:spPr>
          <a:xfrm>
            <a:off x="594360" y="2761488"/>
            <a:ext cx="1920240" cy="365760"/>
          </a:xfrm>
          <a:prstGeom prst="rect">
            <a:avLst/>
          </a:prstGeom>
          <a:noFill/>
        </p:spPr>
        <p:txBody>
          <a:bodyPr wrap="square" rtlCol="0" anchor="ctr"/>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Request</a:t>
            </a:r>
            <a:endParaRPr lang="en-US" sz="1150" dirty="0"/>
          </a:p>
        </p:txBody>
      </p:sp>
      <p:sp>
        <p:nvSpPr>
          <p:cNvPr id="12" name="Text 9"/>
          <p:cNvSpPr/>
          <p:nvPr/>
        </p:nvSpPr>
        <p:spPr>
          <a:xfrm>
            <a:off x="612648" y="3127248"/>
            <a:ext cx="1883664" cy="50292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User requests elevated access with a business justification</a:t>
            </a:r>
            <a:endParaRPr lang="en-US" sz="900" dirty="0"/>
          </a:p>
        </p:txBody>
      </p:sp>
      <p:sp>
        <p:nvSpPr>
          <p:cNvPr id="13" name="Shape 10"/>
          <p:cNvSpPr/>
          <p:nvPr/>
        </p:nvSpPr>
        <p:spPr>
          <a:xfrm>
            <a:off x="2615184" y="2203704"/>
            <a:ext cx="164592" cy="164592"/>
          </a:xfrm>
          <a:prstGeom prst="rightArrow">
            <a:avLst/>
          </a:prstGeom>
          <a:solidFill>
            <a:srgbClr val="0E7C7B"/>
          </a:solidFill>
        </p:spPr>
        <p:txBody>
          <a:bodyPr/>
          <a:lstStyle/>
          <a:p>
            <a:endParaRPr lang="ar-EG"/>
          </a:p>
        </p:txBody>
      </p:sp>
      <p:sp>
        <p:nvSpPr>
          <p:cNvPr id="14" name="Shape 11"/>
          <p:cNvSpPr/>
          <p:nvPr/>
        </p:nvSpPr>
        <p:spPr>
          <a:xfrm>
            <a:off x="2788920" y="1554480"/>
            <a:ext cx="2103120" cy="2103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5" name="Text 12"/>
          <p:cNvSpPr/>
          <p:nvPr/>
        </p:nvSpPr>
        <p:spPr>
          <a:xfrm>
            <a:off x="2898648" y="1645920"/>
            <a:ext cx="548640" cy="411480"/>
          </a:xfrm>
          <a:prstGeom prst="rect">
            <a:avLst/>
          </a:prstGeom>
          <a:noFill/>
        </p:spPr>
        <p:txBody>
          <a:bodyPr wrap="square" rtlCol="0" anchor="ctr"/>
          <a:lstStyle/>
          <a:p>
            <a:pPr marL="0" indent="0">
              <a:buNone/>
            </a:pPr>
            <a:r>
              <a:rPr lang="en-US" sz="2200" b="1" dirty="0">
                <a:solidFill>
                  <a:srgbClr val="C7CFD1"/>
                </a:solidFill>
                <a:latin typeface="Cambria" panose="02040503050406030204" pitchFamily="34" charset="0"/>
                <a:ea typeface="Cambria" panose="02040503050406030204" pitchFamily="34" charset="-122"/>
                <a:cs typeface="Cambria" panose="02040503050406030204" pitchFamily="34" charset="-120"/>
              </a:rPr>
              <a:t>2</a:t>
            </a:r>
            <a:endParaRPr lang="en-US" sz="2200" dirty="0"/>
          </a:p>
        </p:txBody>
      </p:sp>
      <p:sp>
        <p:nvSpPr>
          <p:cNvPr id="16" name="Shape 13"/>
          <p:cNvSpPr/>
          <p:nvPr/>
        </p:nvSpPr>
        <p:spPr>
          <a:xfrm>
            <a:off x="3529584" y="2057400"/>
            <a:ext cx="621792" cy="621792"/>
          </a:xfrm>
          <a:prstGeom prst="ellipse">
            <a:avLst/>
          </a:prstGeom>
          <a:solidFill>
            <a:srgbClr val="0E7C7B"/>
          </a:solidFill>
        </p:spPr>
        <p:txBody>
          <a:bodyPr/>
          <a:lstStyle/>
          <a:p>
            <a:endParaRPr lang="ar-EG"/>
          </a:p>
        </p:txBody>
      </p:sp>
      <p:pic>
        <p:nvPicPr>
          <p:cNvPr id="17" name="Image 1" descr="/home/claude/deck/icons/check_teal.png"/>
          <p:cNvPicPr>
            <a:picLocks noChangeAspect="1"/>
          </p:cNvPicPr>
          <p:nvPr/>
        </p:nvPicPr>
        <p:blipFill>
          <a:blip r:embed="rId4"/>
          <a:stretch>
            <a:fillRect/>
          </a:stretch>
        </p:blipFill>
        <p:spPr>
          <a:xfrm>
            <a:off x="3669487" y="2197303"/>
            <a:ext cx="341986" cy="341986"/>
          </a:xfrm>
          <a:prstGeom prst="rect">
            <a:avLst/>
          </a:prstGeom>
        </p:spPr>
      </p:pic>
      <p:sp>
        <p:nvSpPr>
          <p:cNvPr id="18" name="Text 14"/>
          <p:cNvSpPr/>
          <p:nvPr/>
        </p:nvSpPr>
        <p:spPr>
          <a:xfrm>
            <a:off x="2880360" y="2761488"/>
            <a:ext cx="1920240" cy="365760"/>
          </a:xfrm>
          <a:prstGeom prst="rect">
            <a:avLst/>
          </a:prstGeom>
          <a:noFill/>
        </p:spPr>
        <p:txBody>
          <a:bodyPr wrap="square" rtlCol="0" anchor="ctr"/>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Approve</a:t>
            </a:r>
            <a:endParaRPr lang="en-US" sz="1150" dirty="0"/>
          </a:p>
        </p:txBody>
      </p:sp>
      <p:sp>
        <p:nvSpPr>
          <p:cNvPr id="19" name="Text 15"/>
          <p:cNvSpPr/>
          <p:nvPr/>
        </p:nvSpPr>
        <p:spPr>
          <a:xfrm>
            <a:off x="2898648" y="3127248"/>
            <a:ext cx="1883664" cy="50292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Manager or automated policy engine approves/denies the request</a:t>
            </a:r>
            <a:endParaRPr lang="en-US" sz="900" dirty="0"/>
          </a:p>
        </p:txBody>
      </p:sp>
      <p:sp>
        <p:nvSpPr>
          <p:cNvPr id="20" name="Shape 16"/>
          <p:cNvSpPr/>
          <p:nvPr/>
        </p:nvSpPr>
        <p:spPr>
          <a:xfrm>
            <a:off x="4901184" y="2203704"/>
            <a:ext cx="164592" cy="164592"/>
          </a:xfrm>
          <a:prstGeom prst="rightArrow">
            <a:avLst/>
          </a:prstGeom>
          <a:solidFill>
            <a:srgbClr val="0E7C7B"/>
          </a:solidFill>
        </p:spPr>
        <p:txBody>
          <a:bodyPr/>
          <a:lstStyle/>
          <a:p>
            <a:endParaRPr lang="ar-EG"/>
          </a:p>
        </p:txBody>
      </p:sp>
      <p:sp>
        <p:nvSpPr>
          <p:cNvPr id="21" name="Shape 17"/>
          <p:cNvSpPr/>
          <p:nvPr/>
        </p:nvSpPr>
        <p:spPr>
          <a:xfrm>
            <a:off x="5074920" y="1554480"/>
            <a:ext cx="2103120" cy="2103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2" name="Text 18"/>
          <p:cNvSpPr/>
          <p:nvPr/>
        </p:nvSpPr>
        <p:spPr>
          <a:xfrm>
            <a:off x="5184648" y="1645920"/>
            <a:ext cx="548640" cy="411480"/>
          </a:xfrm>
          <a:prstGeom prst="rect">
            <a:avLst/>
          </a:prstGeom>
          <a:noFill/>
        </p:spPr>
        <p:txBody>
          <a:bodyPr wrap="square" rtlCol="0" anchor="ctr"/>
          <a:lstStyle/>
          <a:p>
            <a:pPr marL="0" indent="0">
              <a:buNone/>
            </a:pPr>
            <a:r>
              <a:rPr lang="en-US" sz="2200" b="1" dirty="0">
                <a:solidFill>
                  <a:srgbClr val="C7CFD1"/>
                </a:solidFill>
                <a:latin typeface="Cambria" panose="02040503050406030204" pitchFamily="34" charset="0"/>
                <a:ea typeface="Cambria" panose="02040503050406030204" pitchFamily="34" charset="-122"/>
                <a:cs typeface="Cambria" panose="02040503050406030204" pitchFamily="34" charset="-120"/>
              </a:rPr>
              <a:t>3</a:t>
            </a:r>
            <a:endParaRPr lang="en-US" sz="2200" dirty="0"/>
          </a:p>
        </p:txBody>
      </p:sp>
      <p:sp>
        <p:nvSpPr>
          <p:cNvPr id="23" name="Shape 19"/>
          <p:cNvSpPr/>
          <p:nvPr/>
        </p:nvSpPr>
        <p:spPr>
          <a:xfrm>
            <a:off x="5815584" y="2057400"/>
            <a:ext cx="621792" cy="621792"/>
          </a:xfrm>
          <a:prstGeom prst="ellipse">
            <a:avLst/>
          </a:prstGeom>
          <a:solidFill>
            <a:srgbClr val="0E7C7B"/>
          </a:solidFill>
        </p:spPr>
        <p:txBody>
          <a:bodyPr/>
          <a:lstStyle/>
          <a:p>
            <a:endParaRPr lang="ar-EG"/>
          </a:p>
        </p:txBody>
      </p:sp>
      <p:pic>
        <p:nvPicPr>
          <p:cNvPr id="24" name="Image 2" descr="/home/claude/deck/icons/user_clock_teal.png"/>
          <p:cNvPicPr>
            <a:picLocks noChangeAspect="1"/>
          </p:cNvPicPr>
          <p:nvPr/>
        </p:nvPicPr>
        <p:blipFill>
          <a:blip r:embed="rId5"/>
          <a:stretch>
            <a:fillRect/>
          </a:stretch>
        </p:blipFill>
        <p:spPr>
          <a:xfrm>
            <a:off x="5955487" y="2197303"/>
            <a:ext cx="341986" cy="341986"/>
          </a:xfrm>
          <a:prstGeom prst="rect">
            <a:avLst/>
          </a:prstGeom>
        </p:spPr>
      </p:pic>
      <p:sp>
        <p:nvSpPr>
          <p:cNvPr id="25" name="Text 20"/>
          <p:cNvSpPr/>
          <p:nvPr/>
        </p:nvSpPr>
        <p:spPr>
          <a:xfrm>
            <a:off x="5166360" y="2761488"/>
            <a:ext cx="1920240" cy="365760"/>
          </a:xfrm>
          <a:prstGeom prst="rect">
            <a:avLst/>
          </a:prstGeom>
          <a:noFill/>
        </p:spPr>
        <p:txBody>
          <a:bodyPr wrap="square" rtlCol="0" anchor="ctr"/>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Grant (Time-Boxed)</a:t>
            </a:r>
            <a:endParaRPr lang="en-US" sz="1150" dirty="0"/>
          </a:p>
        </p:txBody>
      </p:sp>
      <p:sp>
        <p:nvSpPr>
          <p:cNvPr id="26" name="Text 21"/>
          <p:cNvSpPr/>
          <p:nvPr/>
        </p:nvSpPr>
        <p:spPr>
          <a:xfrm>
            <a:off x="5184648" y="3127248"/>
            <a:ext cx="1883664" cy="50292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Temporary privilege granted — e.g., 60 minutes, auto-expiring</a:t>
            </a:r>
            <a:endParaRPr lang="en-US" sz="900" dirty="0"/>
          </a:p>
        </p:txBody>
      </p:sp>
      <p:sp>
        <p:nvSpPr>
          <p:cNvPr id="27" name="Shape 22"/>
          <p:cNvSpPr/>
          <p:nvPr/>
        </p:nvSpPr>
        <p:spPr>
          <a:xfrm>
            <a:off x="7187184" y="2203704"/>
            <a:ext cx="164592" cy="164592"/>
          </a:xfrm>
          <a:prstGeom prst="rightArrow">
            <a:avLst/>
          </a:prstGeom>
          <a:solidFill>
            <a:srgbClr val="0E7C7B"/>
          </a:solidFill>
        </p:spPr>
        <p:txBody>
          <a:bodyPr/>
          <a:lstStyle/>
          <a:p>
            <a:endParaRPr lang="ar-EG"/>
          </a:p>
        </p:txBody>
      </p:sp>
      <p:sp>
        <p:nvSpPr>
          <p:cNvPr id="28" name="Shape 23"/>
          <p:cNvSpPr/>
          <p:nvPr/>
        </p:nvSpPr>
        <p:spPr>
          <a:xfrm>
            <a:off x="7360920" y="1554480"/>
            <a:ext cx="2103120" cy="2103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9" name="Text 24"/>
          <p:cNvSpPr/>
          <p:nvPr/>
        </p:nvSpPr>
        <p:spPr>
          <a:xfrm>
            <a:off x="7470648" y="1645920"/>
            <a:ext cx="548640" cy="411480"/>
          </a:xfrm>
          <a:prstGeom prst="rect">
            <a:avLst/>
          </a:prstGeom>
          <a:noFill/>
        </p:spPr>
        <p:txBody>
          <a:bodyPr wrap="square" rtlCol="0" anchor="ctr"/>
          <a:lstStyle/>
          <a:p>
            <a:pPr marL="0" indent="0">
              <a:buNone/>
            </a:pPr>
            <a:r>
              <a:rPr lang="en-US" sz="2200" b="1" dirty="0">
                <a:solidFill>
                  <a:srgbClr val="C7CFD1"/>
                </a:solidFill>
                <a:latin typeface="Cambria" panose="02040503050406030204" pitchFamily="34" charset="0"/>
                <a:ea typeface="Cambria" panose="02040503050406030204" pitchFamily="34" charset="-122"/>
                <a:cs typeface="Cambria" panose="02040503050406030204" pitchFamily="34" charset="-120"/>
              </a:rPr>
              <a:t>4</a:t>
            </a:r>
            <a:endParaRPr lang="en-US" sz="2200" dirty="0"/>
          </a:p>
        </p:txBody>
      </p:sp>
      <p:sp>
        <p:nvSpPr>
          <p:cNvPr id="30" name="Shape 25"/>
          <p:cNvSpPr/>
          <p:nvPr/>
        </p:nvSpPr>
        <p:spPr>
          <a:xfrm>
            <a:off x="8101584" y="2057400"/>
            <a:ext cx="621792" cy="621792"/>
          </a:xfrm>
          <a:prstGeom prst="ellipse">
            <a:avLst/>
          </a:prstGeom>
          <a:solidFill>
            <a:srgbClr val="0E7C7B"/>
          </a:solidFill>
        </p:spPr>
        <p:txBody>
          <a:bodyPr/>
          <a:lstStyle/>
          <a:p>
            <a:endParaRPr lang="ar-EG"/>
          </a:p>
        </p:txBody>
      </p:sp>
      <p:pic>
        <p:nvPicPr>
          <p:cNvPr id="31" name="Image 3" descr="/home/claude/deck/icons/lock_teal.png"/>
          <p:cNvPicPr>
            <a:picLocks noChangeAspect="1"/>
          </p:cNvPicPr>
          <p:nvPr/>
        </p:nvPicPr>
        <p:blipFill>
          <a:blip r:embed="rId6"/>
          <a:stretch>
            <a:fillRect/>
          </a:stretch>
        </p:blipFill>
        <p:spPr>
          <a:xfrm>
            <a:off x="8241487" y="2197303"/>
            <a:ext cx="341986" cy="341986"/>
          </a:xfrm>
          <a:prstGeom prst="rect">
            <a:avLst/>
          </a:prstGeom>
        </p:spPr>
      </p:pic>
      <p:sp>
        <p:nvSpPr>
          <p:cNvPr id="32" name="Text 26"/>
          <p:cNvSpPr/>
          <p:nvPr/>
        </p:nvSpPr>
        <p:spPr>
          <a:xfrm>
            <a:off x="7452360" y="2761488"/>
            <a:ext cx="1920240" cy="365760"/>
          </a:xfrm>
          <a:prstGeom prst="rect">
            <a:avLst/>
          </a:prstGeom>
          <a:noFill/>
        </p:spPr>
        <p:txBody>
          <a:bodyPr wrap="square" rtlCol="0" anchor="ctr"/>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Auto-Revoke</a:t>
            </a:r>
            <a:endParaRPr lang="en-US" sz="1150" dirty="0"/>
          </a:p>
        </p:txBody>
      </p:sp>
      <p:sp>
        <p:nvSpPr>
          <p:cNvPr id="33" name="Text 27"/>
          <p:cNvSpPr/>
          <p:nvPr/>
        </p:nvSpPr>
        <p:spPr>
          <a:xfrm>
            <a:off x="7470648" y="3127248"/>
            <a:ext cx="1883664" cy="50292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Access automatically removed when the window expires</a:t>
            </a:r>
            <a:endParaRPr lang="en-US" sz="900" dirty="0"/>
          </a:p>
        </p:txBody>
      </p:sp>
      <p:sp>
        <p:nvSpPr>
          <p:cNvPr id="34" name="Shape 28"/>
          <p:cNvSpPr/>
          <p:nvPr/>
        </p:nvSpPr>
        <p:spPr>
          <a:xfrm>
            <a:off x="9473184" y="2203704"/>
            <a:ext cx="164592" cy="164592"/>
          </a:xfrm>
          <a:prstGeom prst="rightArrow">
            <a:avLst/>
          </a:prstGeom>
          <a:solidFill>
            <a:srgbClr val="0E7C7B"/>
          </a:solidFill>
        </p:spPr>
        <p:txBody>
          <a:bodyPr/>
          <a:lstStyle/>
          <a:p>
            <a:endParaRPr lang="ar-EG"/>
          </a:p>
        </p:txBody>
      </p:sp>
      <p:sp>
        <p:nvSpPr>
          <p:cNvPr id="35" name="Shape 29"/>
          <p:cNvSpPr/>
          <p:nvPr/>
        </p:nvSpPr>
        <p:spPr>
          <a:xfrm>
            <a:off x="9646920" y="1554480"/>
            <a:ext cx="2103120" cy="21031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36" name="Text 30"/>
          <p:cNvSpPr/>
          <p:nvPr/>
        </p:nvSpPr>
        <p:spPr>
          <a:xfrm>
            <a:off x="9756648" y="1645920"/>
            <a:ext cx="548640" cy="411480"/>
          </a:xfrm>
          <a:prstGeom prst="rect">
            <a:avLst/>
          </a:prstGeom>
          <a:noFill/>
        </p:spPr>
        <p:txBody>
          <a:bodyPr wrap="square" rtlCol="0" anchor="ctr"/>
          <a:lstStyle/>
          <a:p>
            <a:pPr marL="0" indent="0">
              <a:buNone/>
            </a:pPr>
            <a:r>
              <a:rPr lang="en-US" sz="2200" b="1" dirty="0">
                <a:solidFill>
                  <a:srgbClr val="C7CFD1"/>
                </a:solidFill>
                <a:latin typeface="Cambria" panose="02040503050406030204" pitchFamily="34" charset="0"/>
                <a:ea typeface="Cambria" panose="02040503050406030204" pitchFamily="34" charset="-122"/>
                <a:cs typeface="Cambria" panose="02040503050406030204" pitchFamily="34" charset="-120"/>
              </a:rPr>
              <a:t>5</a:t>
            </a:r>
            <a:endParaRPr lang="en-US" sz="2200" dirty="0"/>
          </a:p>
        </p:txBody>
      </p:sp>
      <p:sp>
        <p:nvSpPr>
          <p:cNvPr id="37" name="Shape 31"/>
          <p:cNvSpPr/>
          <p:nvPr/>
        </p:nvSpPr>
        <p:spPr>
          <a:xfrm>
            <a:off x="10387584" y="2057400"/>
            <a:ext cx="621792" cy="621792"/>
          </a:xfrm>
          <a:prstGeom prst="ellipse">
            <a:avLst/>
          </a:prstGeom>
          <a:solidFill>
            <a:srgbClr val="0E7C7B"/>
          </a:solidFill>
        </p:spPr>
        <p:txBody>
          <a:bodyPr/>
          <a:lstStyle/>
          <a:p>
            <a:endParaRPr lang="ar-EG"/>
          </a:p>
        </p:txBody>
      </p:sp>
      <p:pic>
        <p:nvPicPr>
          <p:cNvPr id="38" name="Image 4" descr="/home/claude/deck/icons/clipboard_check_teal.png"/>
          <p:cNvPicPr>
            <a:picLocks noChangeAspect="1"/>
          </p:cNvPicPr>
          <p:nvPr/>
        </p:nvPicPr>
        <p:blipFill>
          <a:blip r:embed="rId7"/>
          <a:stretch>
            <a:fillRect/>
          </a:stretch>
        </p:blipFill>
        <p:spPr>
          <a:xfrm>
            <a:off x="10527487" y="2197303"/>
            <a:ext cx="341986" cy="341986"/>
          </a:xfrm>
          <a:prstGeom prst="rect">
            <a:avLst/>
          </a:prstGeom>
        </p:spPr>
      </p:pic>
      <p:sp>
        <p:nvSpPr>
          <p:cNvPr id="39" name="Text 32"/>
          <p:cNvSpPr/>
          <p:nvPr/>
        </p:nvSpPr>
        <p:spPr>
          <a:xfrm>
            <a:off x="9738360" y="2761488"/>
            <a:ext cx="1920240" cy="365760"/>
          </a:xfrm>
          <a:prstGeom prst="rect">
            <a:avLst/>
          </a:prstGeom>
          <a:noFill/>
        </p:spPr>
        <p:txBody>
          <a:bodyPr wrap="square" rtlCol="0" anchor="ctr"/>
          <a:lstStyle/>
          <a:p>
            <a:pPr marL="0" indent="0" algn="ctr">
              <a:buNone/>
            </a:pPr>
            <a:r>
              <a:rPr lang="en-US" sz="1150" b="1" dirty="0">
                <a:solidFill>
                  <a:srgbClr val="2B2D2F"/>
                </a:solidFill>
                <a:latin typeface="Calibri" panose="020F0502020204030204" pitchFamily="34" charset="0"/>
                <a:ea typeface="Calibri" panose="020F0502020204030204" pitchFamily="34" charset="-122"/>
                <a:cs typeface="Calibri" panose="020F0502020204030204" pitchFamily="34" charset="-120"/>
              </a:rPr>
              <a:t>Audit</a:t>
            </a:r>
            <a:endParaRPr lang="en-US" sz="1150" dirty="0"/>
          </a:p>
        </p:txBody>
      </p:sp>
      <p:sp>
        <p:nvSpPr>
          <p:cNvPr id="40" name="Text 33"/>
          <p:cNvSpPr/>
          <p:nvPr/>
        </p:nvSpPr>
        <p:spPr>
          <a:xfrm>
            <a:off x="9756648" y="3127248"/>
            <a:ext cx="1883664" cy="502920"/>
          </a:xfrm>
          <a:prstGeom prst="rect">
            <a:avLst/>
          </a:prstGeom>
          <a:noFill/>
        </p:spPr>
        <p:txBody>
          <a:bodyPr wrap="square" rtlCol="0" anchor="t"/>
          <a:lstStyle/>
          <a:p>
            <a:pPr marL="0" indent="0" algn="ctr">
              <a:lnSpc>
                <a:spcPts val="1100"/>
              </a:lnSpc>
              <a:buNone/>
            </a:pPr>
            <a:r>
              <a:rPr lang="en-US" sz="900" dirty="0">
                <a:solidFill>
                  <a:srgbClr val="5B6670"/>
                </a:solidFill>
                <a:latin typeface="Calibri" panose="020F0502020204030204" pitchFamily="34" charset="0"/>
                <a:ea typeface="Calibri" panose="020F0502020204030204" pitchFamily="34" charset="-122"/>
                <a:cs typeface="Calibri" panose="020F0502020204030204" pitchFamily="34" charset="-120"/>
              </a:rPr>
              <a:t>Full session log recorded for compliance &amp; review</a:t>
            </a:r>
            <a:endParaRPr lang="en-US" sz="900" dirty="0"/>
          </a:p>
        </p:txBody>
      </p:sp>
      <p:sp>
        <p:nvSpPr>
          <p:cNvPr id="41" name="Shape 34"/>
          <p:cNvSpPr/>
          <p:nvPr/>
        </p:nvSpPr>
        <p:spPr>
          <a:xfrm>
            <a:off x="502920" y="3977640"/>
            <a:ext cx="5468112" cy="1691640"/>
          </a:xfrm>
          <a:prstGeom prst="roundRect">
            <a:avLst>
              <a:gd name="adj" fmla="val 3784"/>
            </a:avLst>
          </a:prstGeom>
          <a:solidFill>
            <a:srgbClr val="FCEDDC"/>
          </a:solidFill>
          <a:ln w="12700">
            <a:solidFill>
              <a:srgbClr val="E8871E"/>
            </a:solidFill>
            <a:prstDash val="solid"/>
          </a:ln>
          <a:effectLst>
            <a:outerShdw blurRad="76200" dist="25400" dir="5400000" algn="bl" rotWithShape="0">
              <a:srgbClr val="8B939A">
                <a:alpha val="18000"/>
              </a:srgbClr>
            </a:outerShdw>
          </a:effectLst>
        </p:spPr>
        <p:txBody>
          <a:bodyPr/>
          <a:lstStyle/>
          <a:p>
            <a:endParaRPr lang="ar-EG"/>
          </a:p>
        </p:txBody>
      </p:sp>
      <p:sp>
        <p:nvSpPr>
          <p:cNvPr id="42" name="Text 35"/>
          <p:cNvSpPr/>
          <p:nvPr/>
        </p:nvSpPr>
        <p:spPr>
          <a:xfrm>
            <a:off x="731520" y="4114800"/>
            <a:ext cx="4937760" cy="274320"/>
          </a:xfrm>
          <a:prstGeom prst="rect">
            <a:avLst/>
          </a:prstGeom>
          <a:noFill/>
        </p:spPr>
        <p:txBody>
          <a:bodyPr wrap="square" rtlCol="0" anchor="ctr"/>
          <a:lstStyle/>
          <a:p>
            <a:pPr marL="0" indent="0">
              <a:buNone/>
            </a:pPr>
            <a:r>
              <a:rPr lang="en-US" sz="1150" b="1" kern="0" spc="100" dirty="0">
                <a:solidFill>
                  <a:srgbClr val="8A4A0F"/>
                </a:solidFill>
                <a:latin typeface="Calibri" panose="020F0502020204030204" pitchFamily="34" charset="0"/>
                <a:ea typeface="Calibri" panose="020F0502020204030204" pitchFamily="34" charset="-122"/>
                <a:cs typeface="Calibri" panose="020F0502020204030204" pitchFamily="34" charset="-120"/>
              </a:rPr>
              <a:t>STANDING ACCESS (HIGH RISK)</a:t>
            </a:r>
            <a:endParaRPr lang="en-US" sz="1150" dirty="0"/>
          </a:p>
        </p:txBody>
      </p:sp>
      <p:sp>
        <p:nvSpPr>
          <p:cNvPr id="43" name="Text 36"/>
          <p:cNvSpPr/>
          <p:nvPr/>
        </p:nvSpPr>
        <p:spPr>
          <a:xfrm>
            <a:off x="731520" y="4434840"/>
            <a:ext cx="4937760" cy="1143000"/>
          </a:xfrm>
          <a:prstGeom prst="rect">
            <a:avLst/>
          </a:prstGeom>
          <a:noFill/>
        </p:spPr>
        <p:txBody>
          <a:bodyPr wrap="square" rtlCol="0" anchor="t"/>
          <a:lstStyle/>
          <a:p>
            <a:pPr marL="0" indent="0">
              <a:lnSpc>
                <a:spcPts val="1600"/>
              </a:lnSpc>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Admin rights are always active. A compromised credential is immediately and indefinitely usable by an attacker — maximum blast radius, minimum audit trail.</a:t>
            </a:r>
            <a:endParaRPr lang="en-US" sz="1200" dirty="0"/>
          </a:p>
        </p:txBody>
      </p:sp>
      <p:sp>
        <p:nvSpPr>
          <p:cNvPr id="44" name="Shape 37"/>
          <p:cNvSpPr/>
          <p:nvPr/>
        </p:nvSpPr>
        <p:spPr>
          <a:xfrm>
            <a:off x="6217920" y="3977640"/>
            <a:ext cx="5468112" cy="1691640"/>
          </a:xfrm>
          <a:prstGeom prst="roundRect">
            <a:avLst>
              <a:gd name="adj" fmla="val 3784"/>
            </a:avLst>
          </a:prstGeom>
          <a:solidFill>
            <a:srgbClr val="E3F2F1"/>
          </a:solidFill>
          <a:ln w="12700">
            <a:solidFill>
              <a:srgbClr val="0E7C7B"/>
            </a:solidFill>
            <a:prstDash val="solid"/>
          </a:ln>
          <a:effectLst>
            <a:outerShdw blurRad="76200" dist="25400" dir="5400000" algn="bl" rotWithShape="0">
              <a:srgbClr val="8B939A">
                <a:alpha val="18000"/>
              </a:srgbClr>
            </a:outerShdw>
          </a:effectLst>
        </p:spPr>
        <p:txBody>
          <a:bodyPr/>
          <a:lstStyle/>
          <a:p>
            <a:endParaRPr lang="ar-EG"/>
          </a:p>
        </p:txBody>
      </p:sp>
      <p:sp>
        <p:nvSpPr>
          <p:cNvPr id="45" name="Text 38"/>
          <p:cNvSpPr/>
          <p:nvPr/>
        </p:nvSpPr>
        <p:spPr>
          <a:xfrm>
            <a:off x="6446520" y="4114800"/>
            <a:ext cx="4937760" cy="274320"/>
          </a:xfrm>
          <a:prstGeom prst="rect">
            <a:avLst/>
          </a:prstGeom>
          <a:noFill/>
        </p:spPr>
        <p:txBody>
          <a:bodyPr wrap="square" rtlCol="0" anchor="ctr"/>
          <a:lstStyle/>
          <a:p>
            <a:pPr marL="0" indent="0">
              <a:buNone/>
            </a:pPr>
            <a:r>
              <a:rPr lang="en-US" sz="1150" b="1" kern="0" spc="100" dirty="0">
                <a:solidFill>
                  <a:srgbClr val="0A5F5E"/>
                </a:solidFill>
                <a:latin typeface="Calibri" panose="020F0502020204030204" pitchFamily="34" charset="0"/>
                <a:ea typeface="Calibri" panose="020F0502020204030204" pitchFamily="34" charset="-122"/>
                <a:cs typeface="Calibri" panose="020F0502020204030204" pitchFamily="34" charset="-120"/>
              </a:rPr>
              <a:t>JUST-IN-TIME ACCESS (LOW RISK)</a:t>
            </a:r>
            <a:endParaRPr lang="en-US" sz="1150" dirty="0"/>
          </a:p>
        </p:txBody>
      </p:sp>
      <p:sp>
        <p:nvSpPr>
          <p:cNvPr id="46" name="Text 39"/>
          <p:cNvSpPr/>
          <p:nvPr/>
        </p:nvSpPr>
        <p:spPr>
          <a:xfrm>
            <a:off x="6446520" y="4434840"/>
            <a:ext cx="4937760" cy="1143000"/>
          </a:xfrm>
          <a:prstGeom prst="rect">
            <a:avLst/>
          </a:prstGeom>
          <a:noFill/>
        </p:spPr>
        <p:txBody>
          <a:bodyPr wrap="square" rtlCol="0" anchor="t"/>
          <a:lstStyle/>
          <a:p>
            <a:pPr marL="0" indent="0">
              <a:lnSpc>
                <a:spcPts val="1600"/>
              </a:lnSpc>
              <a:buNone/>
            </a:pPr>
            <a:r>
              <a:rPr lang="en-US" sz="1200" dirty="0">
                <a:solidFill>
                  <a:srgbClr val="2B2D2F"/>
                </a:solidFill>
                <a:latin typeface="Calibri" panose="020F0502020204030204" pitchFamily="34" charset="0"/>
                <a:ea typeface="Calibri" panose="020F0502020204030204" pitchFamily="34" charset="-122"/>
                <a:cs typeface="Calibri" panose="020F0502020204030204" pitchFamily="34" charset="-120"/>
              </a:rPr>
              <a:t>Privilege exists only for the approved task and time window. A compromised credential outside that window grants the attacker nothing.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PRIVILEGED ACCESS MANAGEMENT</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23</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4 · ENTERPRISE EXAMPLE</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Credential Vaulting Workflow — Database Patch Scenario</a:t>
            </a:r>
            <a:endParaRPr lang="en-US" sz="3000" dirty="0"/>
          </a:p>
        </p:txBody>
      </p:sp>
      <p:sp>
        <p:nvSpPr>
          <p:cNvPr id="7" name="Text 5"/>
          <p:cNvSpPr/>
          <p:nvPr/>
        </p:nvSpPr>
        <p:spPr>
          <a:xfrm>
            <a:off x="502920" y="1417320"/>
            <a:ext cx="11247120" cy="365760"/>
          </a:xfrm>
          <a:prstGeom prst="rect">
            <a:avLst/>
          </a:prstGeom>
          <a:noFill/>
        </p:spPr>
        <p:txBody>
          <a:bodyPr wrap="square" rtlCol="0" anchor="ctr"/>
          <a:lstStyle/>
          <a:p>
            <a:pPr marL="0" indent="0">
              <a:buNone/>
            </a:pPr>
            <a:r>
              <a:rPr lang="en-US" sz="1300" i="1" dirty="0">
                <a:solidFill>
                  <a:srgbClr val="5B6670"/>
                </a:solidFill>
                <a:latin typeface="Calibri" panose="020F0502020204030204" pitchFamily="34" charset="0"/>
                <a:ea typeface="Calibri" panose="020F0502020204030204" pitchFamily="34" charset="-122"/>
                <a:cs typeface="Calibri" panose="020F0502020204030204" pitchFamily="34" charset="-120"/>
              </a:rPr>
              <a:t>Scenario: a DBA needs to patch a production database server using a vaulted admin credential (CyberArk-style workflow).</a:t>
            </a:r>
            <a:endParaRPr lang="en-US" sz="1300" dirty="0"/>
          </a:p>
        </p:txBody>
      </p:sp>
      <p:sp>
        <p:nvSpPr>
          <p:cNvPr id="8" name="Shape 6"/>
          <p:cNvSpPr/>
          <p:nvPr/>
        </p:nvSpPr>
        <p:spPr>
          <a:xfrm>
            <a:off x="502920" y="1965960"/>
            <a:ext cx="2103120" cy="39319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9" name="Text 7"/>
          <p:cNvSpPr/>
          <p:nvPr/>
        </p:nvSpPr>
        <p:spPr>
          <a:xfrm>
            <a:off x="640080" y="2103120"/>
            <a:ext cx="548640" cy="457200"/>
          </a:xfrm>
          <a:prstGeom prst="rect">
            <a:avLst/>
          </a:prstGeom>
          <a:noFill/>
        </p:spPr>
        <p:txBody>
          <a:bodyPr wrap="square" rtlCol="0" anchor="ctr"/>
          <a:lstStyle/>
          <a:p>
            <a:pPr marL="0" indent="0">
              <a:buNone/>
            </a:pPr>
            <a:r>
              <a:rPr lang="en-US" sz="2200" b="1" dirty="0">
                <a:solidFill>
                  <a:srgbClr val="0E7C7B"/>
                </a:solidFill>
                <a:latin typeface="Cambria" panose="02040503050406030204" pitchFamily="34" charset="0"/>
                <a:ea typeface="Cambria" panose="02040503050406030204" pitchFamily="34" charset="-122"/>
                <a:cs typeface="Cambria" panose="02040503050406030204" pitchFamily="34" charset="-120"/>
              </a:rPr>
              <a:t>1</a:t>
            </a:r>
            <a:endParaRPr lang="en-US" sz="2200" dirty="0"/>
          </a:p>
        </p:txBody>
      </p:sp>
      <p:sp>
        <p:nvSpPr>
          <p:cNvPr id="10" name="Shape 8"/>
          <p:cNvSpPr/>
          <p:nvPr/>
        </p:nvSpPr>
        <p:spPr>
          <a:xfrm>
            <a:off x="1188720" y="2651760"/>
            <a:ext cx="731520" cy="731520"/>
          </a:xfrm>
          <a:prstGeom prst="ellipse">
            <a:avLst/>
          </a:prstGeom>
          <a:solidFill>
            <a:srgbClr val="0E7C7B"/>
          </a:solidFill>
        </p:spPr>
        <p:txBody>
          <a:bodyPr/>
          <a:lstStyle/>
          <a:p>
            <a:endParaRPr lang="ar-EG"/>
          </a:p>
        </p:txBody>
      </p:sp>
      <p:pic>
        <p:nvPicPr>
          <p:cNvPr id="11" name="Image 0" descr="/home/claude/deck/icons/key_teal.png"/>
          <p:cNvPicPr>
            <a:picLocks noChangeAspect="1"/>
          </p:cNvPicPr>
          <p:nvPr/>
        </p:nvPicPr>
        <p:blipFill>
          <a:blip r:embed="rId3"/>
          <a:stretch>
            <a:fillRect/>
          </a:stretch>
        </p:blipFill>
        <p:spPr>
          <a:xfrm>
            <a:off x="1353312" y="2816352"/>
            <a:ext cx="402336" cy="402336"/>
          </a:xfrm>
          <a:prstGeom prst="rect">
            <a:avLst/>
          </a:prstGeom>
        </p:spPr>
      </p:pic>
      <p:sp>
        <p:nvSpPr>
          <p:cNvPr id="12" name="Text 9"/>
          <p:cNvSpPr/>
          <p:nvPr/>
        </p:nvSpPr>
        <p:spPr>
          <a:xfrm>
            <a:off x="640080" y="3566160"/>
            <a:ext cx="1828800" cy="502920"/>
          </a:xfrm>
          <a:prstGeom prst="rect">
            <a:avLst/>
          </a:prstGeom>
          <a:noFill/>
        </p:spPr>
        <p:txBody>
          <a:bodyPr wrap="square" rtlCol="0" anchor="ctr"/>
          <a:lstStyle/>
          <a:p>
            <a:pPr marL="0" indent="0" algn="ctr">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Authenticate</a:t>
            </a:r>
            <a:endParaRPr lang="en-US" sz="1250" dirty="0"/>
          </a:p>
        </p:txBody>
      </p:sp>
      <p:sp>
        <p:nvSpPr>
          <p:cNvPr id="13" name="Text 10"/>
          <p:cNvSpPr/>
          <p:nvPr/>
        </p:nvSpPr>
        <p:spPr>
          <a:xfrm>
            <a:off x="667512" y="4114800"/>
            <a:ext cx="1773936" cy="1691640"/>
          </a:xfrm>
          <a:prstGeom prst="rect">
            <a:avLst/>
          </a:prstGeom>
          <a:noFill/>
        </p:spPr>
        <p:txBody>
          <a:bodyPr wrap="square" rtlCol="0" anchor="t"/>
          <a:lstStyle/>
          <a:p>
            <a:pPr marL="0" indent="0" algn="ctr">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DBA logs into the PAM portal via corporate SSO, enforced with FIDO2/MFA</a:t>
            </a:r>
            <a:endParaRPr lang="en-US" sz="1030" dirty="0"/>
          </a:p>
        </p:txBody>
      </p:sp>
      <p:sp>
        <p:nvSpPr>
          <p:cNvPr id="14" name="Shape 11"/>
          <p:cNvSpPr/>
          <p:nvPr/>
        </p:nvSpPr>
        <p:spPr>
          <a:xfrm>
            <a:off x="2615184" y="2706624"/>
            <a:ext cx="164592" cy="164592"/>
          </a:xfrm>
          <a:prstGeom prst="rightArrow">
            <a:avLst/>
          </a:prstGeom>
          <a:solidFill>
            <a:srgbClr val="0E7C7B"/>
          </a:solidFill>
        </p:spPr>
        <p:txBody>
          <a:bodyPr/>
          <a:lstStyle/>
          <a:p>
            <a:endParaRPr lang="ar-EG"/>
          </a:p>
        </p:txBody>
      </p:sp>
      <p:sp>
        <p:nvSpPr>
          <p:cNvPr id="15" name="Shape 12"/>
          <p:cNvSpPr/>
          <p:nvPr/>
        </p:nvSpPr>
        <p:spPr>
          <a:xfrm>
            <a:off x="2788920" y="1965960"/>
            <a:ext cx="2103120" cy="3931920"/>
          </a:xfrm>
          <a:prstGeom prst="roundRect">
            <a:avLst>
              <a:gd name="adj" fmla="val 3043"/>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6" name="Text 13"/>
          <p:cNvSpPr/>
          <p:nvPr/>
        </p:nvSpPr>
        <p:spPr>
          <a:xfrm>
            <a:off x="2926080" y="2103120"/>
            <a:ext cx="548640" cy="457200"/>
          </a:xfrm>
          <a:prstGeom prst="rect">
            <a:avLst/>
          </a:prstGeom>
          <a:noFill/>
        </p:spPr>
        <p:txBody>
          <a:bodyPr wrap="square" rtlCol="0" anchor="ctr"/>
          <a:lstStyle/>
          <a:p>
            <a:pPr marL="0" indent="0">
              <a:buNone/>
            </a:pPr>
            <a:r>
              <a:rPr lang="en-US" sz="2200" b="1" dirty="0">
                <a:solidFill>
                  <a:srgbClr val="0E7C7B"/>
                </a:solidFill>
                <a:latin typeface="Cambria" panose="02040503050406030204" pitchFamily="34" charset="0"/>
                <a:ea typeface="Cambria" panose="02040503050406030204" pitchFamily="34" charset="-122"/>
                <a:cs typeface="Cambria" panose="02040503050406030204" pitchFamily="34" charset="-120"/>
              </a:rPr>
              <a:t>2</a:t>
            </a:r>
            <a:endParaRPr lang="en-US" sz="2200" dirty="0"/>
          </a:p>
        </p:txBody>
      </p:sp>
      <p:sp>
        <p:nvSpPr>
          <p:cNvPr id="17" name="Shape 14"/>
          <p:cNvSpPr/>
          <p:nvPr/>
        </p:nvSpPr>
        <p:spPr>
          <a:xfrm>
            <a:off x="3474720" y="2651760"/>
            <a:ext cx="731520" cy="731520"/>
          </a:xfrm>
          <a:prstGeom prst="ellipse">
            <a:avLst/>
          </a:prstGeom>
          <a:solidFill>
            <a:srgbClr val="0E7C7B"/>
          </a:solidFill>
        </p:spPr>
        <p:txBody>
          <a:bodyPr/>
          <a:lstStyle/>
          <a:p>
            <a:endParaRPr lang="ar-EG"/>
          </a:p>
        </p:txBody>
      </p:sp>
      <p:pic>
        <p:nvPicPr>
          <p:cNvPr id="18" name="Image 1" descr="/home/claude/deck/icons/clipboard_teal.png"/>
          <p:cNvPicPr>
            <a:picLocks noChangeAspect="1"/>
          </p:cNvPicPr>
          <p:nvPr/>
        </p:nvPicPr>
        <p:blipFill>
          <a:blip r:embed="rId4"/>
          <a:stretch>
            <a:fillRect/>
          </a:stretch>
        </p:blipFill>
        <p:spPr>
          <a:xfrm>
            <a:off x="3639312" y="2816352"/>
            <a:ext cx="402336" cy="402336"/>
          </a:xfrm>
          <a:prstGeom prst="rect">
            <a:avLst/>
          </a:prstGeom>
        </p:spPr>
      </p:pic>
      <p:sp>
        <p:nvSpPr>
          <p:cNvPr id="19" name="Text 15"/>
          <p:cNvSpPr/>
          <p:nvPr/>
        </p:nvSpPr>
        <p:spPr>
          <a:xfrm>
            <a:off x="2926080" y="3566160"/>
            <a:ext cx="1828800" cy="502920"/>
          </a:xfrm>
          <a:prstGeom prst="rect">
            <a:avLst/>
          </a:prstGeom>
          <a:noFill/>
        </p:spPr>
        <p:txBody>
          <a:bodyPr wrap="square" rtlCol="0" anchor="ctr"/>
          <a:lstStyle/>
          <a:p>
            <a:pPr marL="0" indent="0" algn="ctr">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Request Checkout</a:t>
            </a:r>
            <a:endParaRPr lang="en-US" sz="1250" dirty="0"/>
          </a:p>
        </p:txBody>
      </p:sp>
      <p:sp>
        <p:nvSpPr>
          <p:cNvPr id="20" name="Text 16"/>
          <p:cNvSpPr/>
          <p:nvPr/>
        </p:nvSpPr>
        <p:spPr>
          <a:xfrm>
            <a:off x="2953512" y="4114800"/>
            <a:ext cx="1773936" cy="1691640"/>
          </a:xfrm>
          <a:prstGeom prst="rect">
            <a:avLst/>
          </a:prstGeom>
          <a:noFill/>
        </p:spPr>
        <p:txBody>
          <a:bodyPr wrap="square" rtlCol="0" anchor="t"/>
          <a:lstStyle/>
          <a:p>
            <a:pPr marL="0" indent="0" algn="ctr">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DBA requests checkout of the “ProdDB-Admin” credential with a ticket reference</a:t>
            </a:r>
            <a:endParaRPr lang="en-US" sz="1030" dirty="0"/>
          </a:p>
        </p:txBody>
      </p:sp>
      <p:sp>
        <p:nvSpPr>
          <p:cNvPr id="21" name="Shape 17"/>
          <p:cNvSpPr/>
          <p:nvPr/>
        </p:nvSpPr>
        <p:spPr>
          <a:xfrm>
            <a:off x="4901184" y="2706624"/>
            <a:ext cx="164592" cy="164592"/>
          </a:xfrm>
          <a:prstGeom prst="rightArrow">
            <a:avLst/>
          </a:prstGeom>
          <a:solidFill>
            <a:srgbClr val="0E7C7B"/>
          </a:solidFill>
        </p:spPr>
        <p:txBody>
          <a:bodyPr/>
          <a:lstStyle/>
          <a:p>
            <a:endParaRPr lang="ar-EG"/>
          </a:p>
        </p:txBody>
      </p:sp>
      <p:sp>
        <p:nvSpPr>
          <p:cNvPr id="22" name="Shape 18"/>
          <p:cNvSpPr/>
          <p:nvPr/>
        </p:nvSpPr>
        <p:spPr>
          <a:xfrm>
            <a:off x="5074920" y="1965960"/>
            <a:ext cx="2103120" cy="39319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3" name="Text 19"/>
          <p:cNvSpPr/>
          <p:nvPr/>
        </p:nvSpPr>
        <p:spPr>
          <a:xfrm>
            <a:off x="5212080" y="2103120"/>
            <a:ext cx="548640" cy="457200"/>
          </a:xfrm>
          <a:prstGeom prst="rect">
            <a:avLst/>
          </a:prstGeom>
          <a:noFill/>
        </p:spPr>
        <p:txBody>
          <a:bodyPr wrap="square" rtlCol="0" anchor="ctr"/>
          <a:lstStyle/>
          <a:p>
            <a:pPr marL="0" indent="0">
              <a:buNone/>
            </a:pPr>
            <a:r>
              <a:rPr lang="en-US" sz="2200" b="1" dirty="0">
                <a:solidFill>
                  <a:srgbClr val="0E7C7B"/>
                </a:solidFill>
                <a:latin typeface="Cambria" panose="02040503050406030204" pitchFamily="34" charset="0"/>
                <a:ea typeface="Cambria" panose="02040503050406030204" pitchFamily="34" charset="-122"/>
                <a:cs typeface="Cambria" panose="02040503050406030204" pitchFamily="34" charset="-120"/>
              </a:rPr>
              <a:t>3</a:t>
            </a:r>
            <a:endParaRPr lang="en-US" sz="2200" dirty="0"/>
          </a:p>
        </p:txBody>
      </p:sp>
      <p:sp>
        <p:nvSpPr>
          <p:cNvPr id="24" name="Shape 20"/>
          <p:cNvSpPr/>
          <p:nvPr/>
        </p:nvSpPr>
        <p:spPr>
          <a:xfrm>
            <a:off x="5760720" y="2651760"/>
            <a:ext cx="731520" cy="731520"/>
          </a:xfrm>
          <a:prstGeom prst="ellipse">
            <a:avLst/>
          </a:prstGeom>
          <a:solidFill>
            <a:srgbClr val="0E7C7B"/>
          </a:solidFill>
        </p:spPr>
        <p:txBody>
          <a:bodyPr/>
          <a:lstStyle/>
          <a:p>
            <a:endParaRPr lang="ar-EG"/>
          </a:p>
        </p:txBody>
      </p:sp>
      <p:pic>
        <p:nvPicPr>
          <p:cNvPr id="25" name="Image 2" descr="/home/claude/deck/icons/lock_teal.png"/>
          <p:cNvPicPr>
            <a:picLocks noChangeAspect="1"/>
          </p:cNvPicPr>
          <p:nvPr/>
        </p:nvPicPr>
        <p:blipFill>
          <a:blip r:embed="rId5"/>
          <a:stretch>
            <a:fillRect/>
          </a:stretch>
        </p:blipFill>
        <p:spPr>
          <a:xfrm>
            <a:off x="5925312" y="2816352"/>
            <a:ext cx="402336" cy="402336"/>
          </a:xfrm>
          <a:prstGeom prst="rect">
            <a:avLst/>
          </a:prstGeom>
        </p:spPr>
      </p:pic>
      <p:sp>
        <p:nvSpPr>
          <p:cNvPr id="26" name="Text 21"/>
          <p:cNvSpPr/>
          <p:nvPr/>
        </p:nvSpPr>
        <p:spPr>
          <a:xfrm>
            <a:off x="5212080" y="3566160"/>
            <a:ext cx="1828800" cy="502920"/>
          </a:xfrm>
          <a:prstGeom prst="rect">
            <a:avLst/>
          </a:prstGeom>
          <a:noFill/>
        </p:spPr>
        <p:txBody>
          <a:bodyPr wrap="square" rtlCol="0" anchor="ctr"/>
          <a:lstStyle/>
          <a:p>
            <a:pPr marL="0" indent="0" algn="ctr">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Vault Issues Secret</a:t>
            </a:r>
            <a:endParaRPr lang="en-US" sz="1250" dirty="0"/>
          </a:p>
        </p:txBody>
      </p:sp>
      <p:sp>
        <p:nvSpPr>
          <p:cNvPr id="27" name="Text 22"/>
          <p:cNvSpPr/>
          <p:nvPr/>
        </p:nvSpPr>
        <p:spPr>
          <a:xfrm>
            <a:off x="5239512" y="4114800"/>
            <a:ext cx="1773936" cy="1691640"/>
          </a:xfrm>
          <a:prstGeom prst="rect">
            <a:avLst/>
          </a:prstGeom>
          <a:noFill/>
        </p:spPr>
        <p:txBody>
          <a:bodyPr wrap="square" rtlCol="0" anchor="t"/>
          <a:lstStyle/>
          <a:p>
            <a:pPr marL="0" indent="0" algn="ctr">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Vault releases a one-time, rotated password — DBA never sees or memorizes it</a:t>
            </a:r>
            <a:endParaRPr lang="en-US" sz="1030" dirty="0"/>
          </a:p>
        </p:txBody>
      </p:sp>
      <p:sp>
        <p:nvSpPr>
          <p:cNvPr id="28" name="Shape 23"/>
          <p:cNvSpPr/>
          <p:nvPr/>
        </p:nvSpPr>
        <p:spPr>
          <a:xfrm>
            <a:off x="7187184" y="2706624"/>
            <a:ext cx="164592" cy="164592"/>
          </a:xfrm>
          <a:prstGeom prst="rightArrow">
            <a:avLst/>
          </a:prstGeom>
          <a:solidFill>
            <a:srgbClr val="0E7C7B"/>
          </a:solidFill>
        </p:spPr>
        <p:txBody>
          <a:bodyPr/>
          <a:lstStyle/>
          <a:p>
            <a:endParaRPr lang="ar-EG"/>
          </a:p>
        </p:txBody>
      </p:sp>
      <p:sp>
        <p:nvSpPr>
          <p:cNvPr id="29" name="Shape 24"/>
          <p:cNvSpPr/>
          <p:nvPr/>
        </p:nvSpPr>
        <p:spPr>
          <a:xfrm>
            <a:off x="7360920" y="1965960"/>
            <a:ext cx="2103120" cy="3931920"/>
          </a:xfrm>
          <a:prstGeom prst="roundRect">
            <a:avLst>
              <a:gd name="adj" fmla="val 3043"/>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30" name="Text 25"/>
          <p:cNvSpPr/>
          <p:nvPr/>
        </p:nvSpPr>
        <p:spPr>
          <a:xfrm>
            <a:off x="7498080" y="2103120"/>
            <a:ext cx="548640" cy="457200"/>
          </a:xfrm>
          <a:prstGeom prst="rect">
            <a:avLst/>
          </a:prstGeom>
          <a:noFill/>
        </p:spPr>
        <p:txBody>
          <a:bodyPr wrap="square" rtlCol="0" anchor="ctr"/>
          <a:lstStyle/>
          <a:p>
            <a:pPr marL="0" indent="0">
              <a:buNone/>
            </a:pPr>
            <a:r>
              <a:rPr lang="en-US" sz="2200" b="1" dirty="0">
                <a:solidFill>
                  <a:srgbClr val="0E7C7B"/>
                </a:solidFill>
                <a:latin typeface="Cambria" panose="02040503050406030204" pitchFamily="34" charset="0"/>
                <a:ea typeface="Cambria" panose="02040503050406030204" pitchFamily="34" charset="-122"/>
                <a:cs typeface="Cambria" panose="02040503050406030204" pitchFamily="34" charset="-120"/>
              </a:rPr>
              <a:t>4</a:t>
            </a:r>
            <a:endParaRPr lang="en-US" sz="2200" dirty="0"/>
          </a:p>
        </p:txBody>
      </p:sp>
      <p:sp>
        <p:nvSpPr>
          <p:cNvPr id="31" name="Shape 26"/>
          <p:cNvSpPr/>
          <p:nvPr/>
        </p:nvSpPr>
        <p:spPr>
          <a:xfrm>
            <a:off x="8046720" y="2651760"/>
            <a:ext cx="731520" cy="731520"/>
          </a:xfrm>
          <a:prstGeom prst="ellipse">
            <a:avLst/>
          </a:prstGeom>
          <a:solidFill>
            <a:srgbClr val="0E7C7B"/>
          </a:solidFill>
        </p:spPr>
        <p:txBody>
          <a:bodyPr/>
          <a:lstStyle/>
          <a:p>
            <a:endParaRPr lang="ar-EG"/>
          </a:p>
        </p:txBody>
      </p:sp>
      <p:pic>
        <p:nvPicPr>
          <p:cNvPr id="32" name="Image 3" descr="/home/claude/deck/icons/eye_teal.png"/>
          <p:cNvPicPr>
            <a:picLocks noChangeAspect="1"/>
          </p:cNvPicPr>
          <p:nvPr/>
        </p:nvPicPr>
        <p:blipFill>
          <a:blip r:embed="rId6"/>
          <a:stretch>
            <a:fillRect/>
          </a:stretch>
        </p:blipFill>
        <p:spPr>
          <a:xfrm>
            <a:off x="8211312" y="2816352"/>
            <a:ext cx="402336" cy="402336"/>
          </a:xfrm>
          <a:prstGeom prst="rect">
            <a:avLst/>
          </a:prstGeom>
        </p:spPr>
      </p:pic>
      <p:sp>
        <p:nvSpPr>
          <p:cNvPr id="33" name="Text 27"/>
          <p:cNvSpPr/>
          <p:nvPr/>
        </p:nvSpPr>
        <p:spPr>
          <a:xfrm>
            <a:off x="7498080" y="3566160"/>
            <a:ext cx="1828800" cy="502920"/>
          </a:xfrm>
          <a:prstGeom prst="rect">
            <a:avLst/>
          </a:prstGeom>
          <a:noFill/>
        </p:spPr>
        <p:txBody>
          <a:bodyPr wrap="square" rtlCol="0" anchor="ctr"/>
          <a:lstStyle/>
          <a:p>
            <a:pPr marL="0" indent="0" algn="ctr">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Session Recorded</a:t>
            </a:r>
            <a:endParaRPr lang="en-US" sz="1250" dirty="0"/>
          </a:p>
        </p:txBody>
      </p:sp>
      <p:sp>
        <p:nvSpPr>
          <p:cNvPr id="34" name="Text 28"/>
          <p:cNvSpPr/>
          <p:nvPr/>
        </p:nvSpPr>
        <p:spPr>
          <a:xfrm>
            <a:off x="7525512" y="4114800"/>
            <a:ext cx="1773936" cy="1691640"/>
          </a:xfrm>
          <a:prstGeom prst="rect">
            <a:avLst/>
          </a:prstGeom>
          <a:noFill/>
        </p:spPr>
        <p:txBody>
          <a:bodyPr wrap="square" rtlCol="0" anchor="t"/>
          <a:lstStyle/>
          <a:p>
            <a:pPr marL="0" indent="0" algn="ctr">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Connection is proxied through the Privileged Session Manager; every action is video/keystroke logged</a:t>
            </a:r>
            <a:endParaRPr lang="en-US" sz="1030" dirty="0"/>
          </a:p>
        </p:txBody>
      </p:sp>
      <p:sp>
        <p:nvSpPr>
          <p:cNvPr id="35" name="Shape 29"/>
          <p:cNvSpPr/>
          <p:nvPr/>
        </p:nvSpPr>
        <p:spPr>
          <a:xfrm>
            <a:off x="9473184" y="2706624"/>
            <a:ext cx="164592" cy="164592"/>
          </a:xfrm>
          <a:prstGeom prst="rightArrow">
            <a:avLst/>
          </a:prstGeom>
          <a:solidFill>
            <a:srgbClr val="0E7C7B"/>
          </a:solidFill>
        </p:spPr>
        <p:txBody>
          <a:bodyPr/>
          <a:lstStyle/>
          <a:p>
            <a:endParaRPr lang="ar-EG"/>
          </a:p>
        </p:txBody>
      </p:sp>
      <p:sp>
        <p:nvSpPr>
          <p:cNvPr id="36" name="Shape 30"/>
          <p:cNvSpPr/>
          <p:nvPr/>
        </p:nvSpPr>
        <p:spPr>
          <a:xfrm>
            <a:off x="9646920" y="1965960"/>
            <a:ext cx="2103120" cy="3931920"/>
          </a:xfrm>
          <a:prstGeom prst="roundRect">
            <a:avLst>
              <a:gd name="adj" fmla="val 3043"/>
            </a:avLst>
          </a:prstGeom>
          <a:solidFill>
            <a:srgbClr val="F5F6F6"/>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37" name="Text 31"/>
          <p:cNvSpPr/>
          <p:nvPr/>
        </p:nvSpPr>
        <p:spPr>
          <a:xfrm>
            <a:off x="9784080" y="2103120"/>
            <a:ext cx="548640" cy="457200"/>
          </a:xfrm>
          <a:prstGeom prst="rect">
            <a:avLst/>
          </a:prstGeom>
          <a:noFill/>
        </p:spPr>
        <p:txBody>
          <a:bodyPr wrap="square" rtlCol="0" anchor="ctr"/>
          <a:lstStyle/>
          <a:p>
            <a:pPr marL="0" indent="0">
              <a:buNone/>
            </a:pPr>
            <a:r>
              <a:rPr lang="en-US" sz="2200" b="1" dirty="0">
                <a:solidFill>
                  <a:srgbClr val="0E7C7B"/>
                </a:solidFill>
                <a:latin typeface="Cambria" panose="02040503050406030204" pitchFamily="34" charset="0"/>
                <a:ea typeface="Cambria" panose="02040503050406030204" pitchFamily="34" charset="-122"/>
                <a:cs typeface="Cambria" panose="02040503050406030204" pitchFamily="34" charset="-120"/>
              </a:rPr>
              <a:t>5</a:t>
            </a:r>
            <a:endParaRPr lang="en-US" sz="2200" dirty="0"/>
          </a:p>
        </p:txBody>
      </p:sp>
      <p:sp>
        <p:nvSpPr>
          <p:cNvPr id="38" name="Shape 32"/>
          <p:cNvSpPr/>
          <p:nvPr/>
        </p:nvSpPr>
        <p:spPr>
          <a:xfrm>
            <a:off x="10332720" y="2651760"/>
            <a:ext cx="731520" cy="731520"/>
          </a:xfrm>
          <a:prstGeom prst="ellipse">
            <a:avLst/>
          </a:prstGeom>
          <a:solidFill>
            <a:srgbClr val="0E7C7B"/>
          </a:solidFill>
        </p:spPr>
        <p:txBody>
          <a:bodyPr/>
          <a:lstStyle/>
          <a:p>
            <a:endParaRPr lang="ar-EG"/>
          </a:p>
        </p:txBody>
      </p:sp>
      <p:pic>
        <p:nvPicPr>
          <p:cNvPr id="39" name="Image 4" descr="/home/claude/deck/icons/sync_teal.png"/>
          <p:cNvPicPr>
            <a:picLocks noChangeAspect="1"/>
          </p:cNvPicPr>
          <p:nvPr/>
        </p:nvPicPr>
        <p:blipFill>
          <a:blip r:embed="rId7"/>
          <a:stretch>
            <a:fillRect/>
          </a:stretch>
        </p:blipFill>
        <p:spPr>
          <a:xfrm>
            <a:off x="10497312" y="2816352"/>
            <a:ext cx="402336" cy="402336"/>
          </a:xfrm>
          <a:prstGeom prst="rect">
            <a:avLst/>
          </a:prstGeom>
        </p:spPr>
      </p:pic>
      <p:sp>
        <p:nvSpPr>
          <p:cNvPr id="40" name="Text 33"/>
          <p:cNvSpPr/>
          <p:nvPr/>
        </p:nvSpPr>
        <p:spPr>
          <a:xfrm>
            <a:off x="9784080" y="3566160"/>
            <a:ext cx="1828800" cy="502920"/>
          </a:xfrm>
          <a:prstGeom prst="rect">
            <a:avLst/>
          </a:prstGeom>
          <a:noFill/>
        </p:spPr>
        <p:txBody>
          <a:bodyPr wrap="square" rtlCol="0" anchor="ctr"/>
          <a:lstStyle/>
          <a:p>
            <a:pPr marL="0" indent="0" algn="ctr">
              <a:buNone/>
            </a:pPr>
            <a:r>
              <a:rPr lang="en-US" sz="1250" b="1" dirty="0">
                <a:solidFill>
                  <a:srgbClr val="2B2D2F"/>
                </a:solidFill>
                <a:latin typeface="Calibri" panose="020F0502020204030204" pitchFamily="34" charset="0"/>
                <a:ea typeface="Calibri" panose="020F0502020204030204" pitchFamily="34" charset="-122"/>
                <a:cs typeface="Calibri" panose="020F0502020204030204" pitchFamily="34" charset="-120"/>
              </a:rPr>
              <a:t>Auto Check-In &amp; Rotate</a:t>
            </a:r>
            <a:endParaRPr lang="en-US" sz="1250" dirty="0"/>
          </a:p>
        </p:txBody>
      </p:sp>
      <p:sp>
        <p:nvSpPr>
          <p:cNvPr id="41" name="Text 34"/>
          <p:cNvSpPr/>
          <p:nvPr/>
        </p:nvSpPr>
        <p:spPr>
          <a:xfrm>
            <a:off x="9811512" y="4114800"/>
            <a:ext cx="1773936" cy="1691640"/>
          </a:xfrm>
          <a:prstGeom prst="rect">
            <a:avLst/>
          </a:prstGeom>
          <a:noFill/>
        </p:spPr>
        <p:txBody>
          <a:bodyPr wrap="square" rtlCol="0" anchor="t"/>
          <a:lstStyle/>
          <a:p>
            <a:pPr marL="0" indent="0" algn="ctr">
              <a:lnSpc>
                <a:spcPts val="1300"/>
              </a:lnSpc>
              <a:buNone/>
            </a:pPr>
            <a:r>
              <a:rPr lang="en-US" sz="1030" dirty="0">
                <a:solidFill>
                  <a:srgbClr val="5B6670"/>
                </a:solidFill>
                <a:latin typeface="Calibri" panose="020F0502020204030204" pitchFamily="34" charset="0"/>
                <a:ea typeface="Calibri" panose="020F0502020204030204" pitchFamily="34" charset="-122"/>
                <a:cs typeface="Calibri" panose="020F0502020204030204" pitchFamily="34" charset="-120"/>
              </a:rPr>
              <a:t>On session end, the credential is automatically rotated — the used password is invalidated</a:t>
            </a:r>
            <a:endParaRPr lang="en-US" sz="10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9418320" y="-2377440"/>
            <a:ext cx="5943600" cy="5943600"/>
          </a:xfrm>
          <a:prstGeom prst="ellipse">
            <a:avLst/>
          </a:prstGeom>
          <a:solidFill>
            <a:srgbClr val="0E7C7B">
              <a:alpha val="15000"/>
            </a:srgbClr>
          </a:solidFill>
        </p:spPr>
        <p:txBody>
          <a:bodyPr/>
          <a:lstStyle/>
          <a:p>
            <a:endParaRPr lang="ar-EG"/>
          </a:p>
        </p:txBody>
      </p:sp>
      <p:sp>
        <p:nvSpPr>
          <p:cNvPr id="3" name="Shape 1"/>
          <p:cNvSpPr/>
          <p:nvPr/>
        </p:nvSpPr>
        <p:spPr>
          <a:xfrm>
            <a:off x="-1645920" y="4206240"/>
            <a:ext cx="4206240" cy="4206240"/>
          </a:xfrm>
          <a:prstGeom prst="ellipse">
            <a:avLst/>
          </a:prstGeom>
          <a:solidFill>
            <a:srgbClr val="E8871E">
              <a:alpha val="12000"/>
            </a:srgbClr>
          </a:solidFill>
        </p:spPr>
        <p:txBody>
          <a:bodyPr/>
          <a:lstStyle/>
          <a:p>
            <a:endParaRPr lang="ar-EG"/>
          </a:p>
        </p:txBody>
      </p:sp>
      <p:sp>
        <p:nvSpPr>
          <p:cNvPr id="4" name="Text 2"/>
          <p:cNvSpPr/>
          <p:nvPr/>
        </p:nvSpPr>
        <p:spPr>
          <a:xfrm>
            <a:off x="822960" y="2331720"/>
            <a:ext cx="5486400" cy="320040"/>
          </a:xfrm>
          <a:prstGeom prst="rect">
            <a:avLst/>
          </a:prstGeom>
          <a:noFill/>
        </p:spPr>
        <p:txBody>
          <a:bodyPr wrap="square" rtlCol="0" anchor="ctr"/>
          <a:lstStyle/>
          <a:p>
            <a:pPr marL="0" indent="0">
              <a:buNone/>
            </a:pPr>
            <a:r>
              <a:rPr lang="en-US" sz="1300" b="1" kern="0" spc="20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5 / 5</a:t>
            </a:r>
            <a:endParaRPr lang="en-US" sz="1300" dirty="0"/>
          </a:p>
        </p:txBody>
      </p:sp>
      <p:sp>
        <p:nvSpPr>
          <p:cNvPr id="5" name="Shape 3"/>
          <p:cNvSpPr/>
          <p:nvPr/>
        </p:nvSpPr>
        <p:spPr>
          <a:xfrm>
            <a:off x="8869680" y="2103120"/>
            <a:ext cx="1920240" cy="1920240"/>
          </a:xfrm>
          <a:prstGeom prst="ellipse">
            <a:avLst/>
          </a:prstGeom>
          <a:solidFill>
            <a:srgbClr val="34383A"/>
          </a:solidFill>
        </p:spPr>
        <p:txBody>
          <a:bodyPr/>
          <a:lstStyle/>
          <a:p>
            <a:endParaRPr lang="ar-EG"/>
          </a:p>
        </p:txBody>
      </p:sp>
      <p:pic>
        <p:nvPicPr>
          <p:cNvPr id="6" name="Image 0" descr="/home/claude/deck/icons/network_teal.png"/>
          <p:cNvPicPr>
            <a:picLocks noChangeAspect="1"/>
          </p:cNvPicPr>
          <p:nvPr/>
        </p:nvPicPr>
        <p:blipFill>
          <a:blip r:embed="rId3"/>
          <a:stretch>
            <a:fillRect/>
          </a:stretch>
        </p:blipFill>
        <p:spPr>
          <a:xfrm>
            <a:off x="9330538" y="2563978"/>
            <a:ext cx="998525" cy="998525"/>
          </a:xfrm>
          <a:prstGeom prst="rect">
            <a:avLst/>
          </a:prstGeom>
        </p:spPr>
      </p:pic>
      <p:sp>
        <p:nvSpPr>
          <p:cNvPr id="7" name="Text 4"/>
          <p:cNvSpPr/>
          <p:nvPr/>
        </p:nvSpPr>
        <p:spPr>
          <a:xfrm>
            <a:off x="804672" y="2697480"/>
            <a:ext cx="7680960" cy="1280160"/>
          </a:xfrm>
          <a:prstGeom prst="rect">
            <a:avLst/>
          </a:prstGeom>
          <a:noFill/>
        </p:spPr>
        <p:txBody>
          <a:bodyPr wrap="square" rtlCol="0" anchor="ctr"/>
          <a:lstStyle/>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Integration &amp;</a:t>
            </a:r>
            <a:endParaRPr lang="en-US" sz="4000" dirty="0"/>
          </a:p>
          <a:p>
            <a:pPr marL="0" indent="0">
              <a:lnSpc>
                <a:spcPts val="44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Real Attack Scenario</a:t>
            </a:r>
            <a:endParaRPr lang="en-US" sz="4000" dirty="0"/>
          </a:p>
        </p:txBody>
      </p:sp>
      <p:sp>
        <p:nvSpPr>
          <p:cNvPr id="8" name="Text 5"/>
          <p:cNvSpPr/>
          <p:nvPr/>
        </p:nvSpPr>
        <p:spPr>
          <a:xfrm>
            <a:off x="822960" y="3886200"/>
            <a:ext cx="7498080" cy="731520"/>
          </a:xfrm>
          <a:prstGeom prst="rect">
            <a:avLst/>
          </a:prstGeom>
          <a:noFill/>
        </p:spPr>
        <p:txBody>
          <a:bodyPr wrap="square" rtlCol="0" anchor="ctr"/>
          <a:lstStyle/>
          <a:p>
            <a:pPr marL="0" indent="0">
              <a:lnSpc>
                <a:spcPts val="1900"/>
              </a:lnSpc>
              <a:buNone/>
            </a:pPr>
            <a:r>
              <a:rPr lang="en-US" sz="1450" i="1" dirty="0">
                <a:solidFill>
                  <a:srgbClr val="C9CFD1"/>
                </a:solidFill>
                <a:latin typeface="Calibri" panose="020F0502020204030204" pitchFamily="34" charset="0"/>
                <a:ea typeface="Calibri" panose="020F0502020204030204" pitchFamily="34" charset="-122"/>
                <a:cs typeface="Calibri" panose="020F0502020204030204" pitchFamily="34" charset="-120"/>
              </a:rPr>
              <a:t>Bringing IAM, MFA, and PAM together into one Zero Trust architecture — then stress-testing it against a real breach.</a:t>
            </a:r>
            <a:endParaRPr lang="en-US" sz="1450" dirty="0"/>
          </a:p>
        </p:txBody>
      </p:sp>
      <p:sp>
        <p:nvSpPr>
          <p:cNvPr id="10" name="Text 7"/>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INTEGRATION &amp; REAL ATTACK</a:t>
            </a:r>
            <a:endParaRPr lang="en-US" sz="900" dirty="0"/>
          </a:p>
        </p:txBody>
      </p:sp>
      <p:sp>
        <p:nvSpPr>
          <p:cNvPr id="11" name="Text 8"/>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INTEGRATION &amp; REAL ATTACK</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25</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5 · INTEGRATION</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Integrated Zero Trust Architecture — IAM + MFA + PAM</a:t>
            </a:r>
            <a:endParaRPr lang="en-US" sz="3000" dirty="0"/>
          </a:p>
        </p:txBody>
      </p:sp>
      <p:sp>
        <p:nvSpPr>
          <p:cNvPr id="7" name="Shape 5"/>
          <p:cNvSpPr/>
          <p:nvPr/>
        </p:nvSpPr>
        <p:spPr>
          <a:xfrm>
            <a:off x="502920" y="1920240"/>
            <a:ext cx="1752600" cy="1691640"/>
          </a:xfrm>
          <a:prstGeom prst="roundRect">
            <a:avLst>
              <a:gd name="adj" fmla="val 3784"/>
            </a:avLst>
          </a:prstGeom>
          <a:solidFill>
            <a:srgbClr val="2B2D2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8" name="Shape 6"/>
          <p:cNvSpPr/>
          <p:nvPr/>
        </p:nvSpPr>
        <p:spPr>
          <a:xfrm>
            <a:off x="1086612" y="2066544"/>
            <a:ext cx="585216" cy="585216"/>
          </a:xfrm>
          <a:prstGeom prst="ellipse">
            <a:avLst/>
          </a:prstGeom>
          <a:solidFill>
            <a:srgbClr val="0E7C7B"/>
          </a:solidFill>
        </p:spPr>
        <p:txBody>
          <a:bodyPr/>
          <a:lstStyle/>
          <a:p>
            <a:endParaRPr lang="ar-EG"/>
          </a:p>
        </p:txBody>
      </p:sp>
      <p:pic>
        <p:nvPicPr>
          <p:cNvPr id="9" name="Image 0" descr="/home/claude/deck/icons/user_tie.png"/>
          <p:cNvPicPr>
            <a:picLocks noChangeAspect="1"/>
          </p:cNvPicPr>
          <p:nvPr/>
        </p:nvPicPr>
        <p:blipFill>
          <a:blip r:embed="rId3"/>
          <a:stretch>
            <a:fillRect/>
          </a:stretch>
        </p:blipFill>
        <p:spPr>
          <a:xfrm>
            <a:off x="1218286" y="2198218"/>
            <a:ext cx="321869" cy="321869"/>
          </a:xfrm>
          <a:prstGeom prst="rect">
            <a:avLst/>
          </a:prstGeom>
        </p:spPr>
      </p:pic>
      <p:sp>
        <p:nvSpPr>
          <p:cNvPr id="10" name="Text 7"/>
          <p:cNvSpPr/>
          <p:nvPr/>
        </p:nvSpPr>
        <p:spPr>
          <a:xfrm>
            <a:off x="557784" y="2706624"/>
            <a:ext cx="1642872" cy="457200"/>
          </a:xfrm>
          <a:prstGeom prst="rect">
            <a:avLst/>
          </a:prstGeom>
          <a:noFill/>
        </p:spPr>
        <p:txBody>
          <a:bodyPr wrap="square" rtlCol="0" anchor="t"/>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 / Device</a:t>
            </a:r>
            <a:endParaRPr lang="en-US" sz="1000" dirty="0"/>
          </a:p>
        </p:txBody>
      </p:sp>
      <p:sp>
        <p:nvSpPr>
          <p:cNvPr id="11" name="Text 8"/>
          <p:cNvSpPr/>
          <p:nvPr/>
        </p:nvSpPr>
        <p:spPr>
          <a:xfrm>
            <a:off x="557784" y="3154680"/>
            <a:ext cx="1642872" cy="411480"/>
          </a:xfrm>
          <a:prstGeom prst="rect">
            <a:avLst/>
          </a:prstGeom>
          <a:noFill/>
        </p:spPr>
        <p:txBody>
          <a:bodyPr wrap="square" rtlCol="0" anchor="t"/>
          <a:lstStyle/>
          <a:p>
            <a:pPr marL="0" indent="0" algn="ctr">
              <a:lnSpc>
                <a:spcPts val="950"/>
              </a:lnSpc>
              <a:buNone/>
            </a:pPr>
            <a:r>
              <a:rPr lang="en-US" sz="800" dirty="0">
                <a:solidFill>
                  <a:srgbClr val="C9CFD1"/>
                </a:solidFill>
                <a:latin typeface="Calibri" panose="020F0502020204030204" pitchFamily="34" charset="0"/>
                <a:ea typeface="Calibri" panose="020F0502020204030204" pitchFamily="34" charset="-122"/>
                <a:cs typeface="Calibri" panose="020F0502020204030204" pitchFamily="34" charset="-120"/>
              </a:rPr>
              <a:t>Requests access</a:t>
            </a:r>
            <a:endParaRPr lang="en-US" sz="800" dirty="0"/>
          </a:p>
        </p:txBody>
      </p:sp>
      <p:sp>
        <p:nvSpPr>
          <p:cNvPr id="12" name="Shape 9"/>
          <p:cNvSpPr/>
          <p:nvPr/>
        </p:nvSpPr>
        <p:spPr>
          <a:xfrm>
            <a:off x="2255520" y="2409444"/>
            <a:ext cx="146304" cy="164592"/>
          </a:xfrm>
          <a:prstGeom prst="rightArrow">
            <a:avLst/>
          </a:prstGeom>
          <a:solidFill>
            <a:srgbClr val="8B939A"/>
          </a:solidFill>
        </p:spPr>
        <p:txBody>
          <a:bodyPr/>
          <a:lstStyle/>
          <a:p>
            <a:endParaRPr lang="ar-EG"/>
          </a:p>
        </p:txBody>
      </p:sp>
      <p:sp>
        <p:nvSpPr>
          <p:cNvPr id="13" name="Shape 10"/>
          <p:cNvSpPr/>
          <p:nvPr/>
        </p:nvSpPr>
        <p:spPr>
          <a:xfrm>
            <a:off x="2401824" y="1920240"/>
            <a:ext cx="1752600" cy="1691640"/>
          </a:xfrm>
          <a:prstGeom prst="roundRect">
            <a:avLst>
              <a:gd name="adj" fmla="val 3784"/>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14" name="Shape 11"/>
          <p:cNvSpPr/>
          <p:nvPr/>
        </p:nvSpPr>
        <p:spPr>
          <a:xfrm>
            <a:off x="2985516" y="2066544"/>
            <a:ext cx="585216" cy="585216"/>
          </a:xfrm>
          <a:prstGeom prst="ellipse">
            <a:avLst/>
          </a:prstGeom>
          <a:solidFill>
            <a:srgbClr val="0E7C7B"/>
          </a:solidFill>
        </p:spPr>
        <p:txBody>
          <a:bodyPr/>
          <a:lstStyle/>
          <a:p>
            <a:endParaRPr lang="ar-EG"/>
          </a:p>
        </p:txBody>
      </p:sp>
      <p:pic>
        <p:nvPicPr>
          <p:cNvPr id="15" name="Image 1" descr="/home/claude/deck/icons/key_teal.png"/>
          <p:cNvPicPr>
            <a:picLocks noChangeAspect="1"/>
          </p:cNvPicPr>
          <p:nvPr/>
        </p:nvPicPr>
        <p:blipFill>
          <a:blip r:embed="rId4"/>
          <a:stretch>
            <a:fillRect/>
          </a:stretch>
        </p:blipFill>
        <p:spPr>
          <a:xfrm>
            <a:off x="3117190" y="2198218"/>
            <a:ext cx="321869" cy="321869"/>
          </a:xfrm>
          <a:prstGeom prst="rect">
            <a:avLst/>
          </a:prstGeom>
        </p:spPr>
      </p:pic>
      <p:sp>
        <p:nvSpPr>
          <p:cNvPr id="16" name="Text 12"/>
          <p:cNvSpPr/>
          <p:nvPr/>
        </p:nvSpPr>
        <p:spPr>
          <a:xfrm>
            <a:off x="2456688" y="2706624"/>
            <a:ext cx="1642872" cy="457200"/>
          </a:xfrm>
          <a:prstGeom prst="rect">
            <a:avLst/>
          </a:prstGeom>
          <a:noFill/>
        </p:spPr>
        <p:txBody>
          <a:bodyPr wrap="square" rtlCol="0" anchor="t"/>
          <a:lstStyle/>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IAM</a:t>
            </a:r>
            <a:endParaRPr lang="en-US" sz="1000" dirty="0"/>
          </a:p>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(IdP + SSO)</a:t>
            </a:r>
            <a:endParaRPr lang="en-US" sz="1000" dirty="0"/>
          </a:p>
        </p:txBody>
      </p:sp>
      <p:sp>
        <p:nvSpPr>
          <p:cNvPr id="17" name="Text 13"/>
          <p:cNvSpPr/>
          <p:nvPr/>
        </p:nvSpPr>
        <p:spPr>
          <a:xfrm>
            <a:off x="2456688" y="3154680"/>
            <a:ext cx="1642872" cy="411480"/>
          </a:xfrm>
          <a:prstGeom prst="rect">
            <a:avLst/>
          </a:prstGeom>
          <a:noFill/>
        </p:spPr>
        <p:txBody>
          <a:bodyPr wrap="square" rtlCol="0" anchor="t"/>
          <a:lstStyle/>
          <a:p>
            <a:pPr marL="0" indent="0" algn="ctr">
              <a:lnSpc>
                <a:spcPts val="950"/>
              </a:lnSpc>
              <a:buNone/>
            </a:pPr>
            <a:r>
              <a:rPr lang="en-US" sz="800" dirty="0">
                <a:solidFill>
                  <a:srgbClr val="5B6670"/>
                </a:solidFill>
                <a:latin typeface="Calibri" panose="020F0502020204030204" pitchFamily="34" charset="0"/>
                <a:ea typeface="Calibri" panose="020F0502020204030204" pitchFamily="34" charset="-122"/>
                <a:cs typeface="Calibri" panose="020F0502020204030204" pitchFamily="34" charset="-120"/>
              </a:rPr>
              <a:t>Authenticates identity</a:t>
            </a:r>
            <a:endParaRPr lang="en-US" sz="800" dirty="0"/>
          </a:p>
        </p:txBody>
      </p:sp>
      <p:sp>
        <p:nvSpPr>
          <p:cNvPr id="18" name="Shape 14"/>
          <p:cNvSpPr/>
          <p:nvPr/>
        </p:nvSpPr>
        <p:spPr>
          <a:xfrm>
            <a:off x="4154424" y="2409444"/>
            <a:ext cx="146304" cy="164592"/>
          </a:xfrm>
          <a:prstGeom prst="rightArrow">
            <a:avLst/>
          </a:prstGeom>
          <a:solidFill>
            <a:srgbClr val="8B939A"/>
          </a:solidFill>
        </p:spPr>
        <p:txBody>
          <a:bodyPr/>
          <a:lstStyle/>
          <a:p>
            <a:endParaRPr lang="ar-EG"/>
          </a:p>
        </p:txBody>
      </p:sp>
      <p:sp>
        <p:nvSpPr>
          <p:cNvPr id="19" name="Shape 15"/>
          <p:cNvSpPr/>
          <p:nvPr/>
        </p:nvSpPr>
        <p:spPr>
          <a:xfrm>
            <a:off x="4300728" y="1920240"/>
            <a:ext cx="1752600" cy="1691640"/>
          </a:xfrm>
          <a:prstGeom prst="roundRect">
            <a:avLst>
              <a:gd name="adj" fmla="val 3784"/>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0" name="Shape 16"/>
          <p:cNvSpPr/>
          <p:nvPr/>
        </p:nvSpPr>
        <p:spPr>
          <a:xfrm>
            <a:off x="4884420" y="2066544"/>
            <a:ext cx="585216" cy="585216"/>
          </a:xfrm>
          <a:prstGeom prst="ellipse">
            <a:avLst/>
          </a:prstGeom>
          <a:solidFill>
            <a:srgbClr val="0E7C7B"/>
          </a:solidFill>
        </p:spPr>
        <p:txBody>
          <a:bodyPr/>
          <a:lstStyle/>
          <a:p>
            <a:endParaRPr lang="ar-EG"/>
          </a:p>
        </p:txBody>
      </p:sp>
      <p:pic>
        <p:nvPicPr>
          <p:cNvPr id="21" name="Image 2" descr="/home/claude/deck/icons/fingerprint_teal.png"/>
          <p:cNvPicPr>
            <a:picLocks noChangeAspect="1"/>
          </p:cNvPicPr>
          <p:nvPr/>
        </p:nvPicPr>
        <p:blipFill>
          <a:blip r:embed="rId5"/>
          <a:stretch>
            <a:fillRect/>
          </a:stretch>
        </p:blipFill>
        <p:spPr>
          <a:xfrm>
            <a:off x="5016094" y="2198218"/>
            <a:ext cx="321869" cy="321869"/>
          </a:xfrm>
          <a:prstGeom prst="rect">
            <a:avLst/>
          </a:prstGeom>
        </p:spPr>
      </p:pic>
      <p:sp>
        <p:nvSpPr>
          <p:cNvPr id="22" name="Text 17"/>
          <p:cNvSpPr/>
          <p:nvPr/>
        </p:nvSpPr>
        <p:spPr>
          <a:xfrm>
            <a:off x="4355592" y="2706624"/>
            <a:ext cx="1642872" cy="457200"/>
          </a:xfrm>
          <a:prstGeom prst="rect">
            <a:avLst/>
          </a:prstGeom>
          <a:noFill/>
        </p:spPr>
        <p:txBody>
          <a:bodyPr wrap="square" rtlCol="0" anchor="t"/>
          <a:lstStyle/>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MFA</a:t>
            </a:r>
            <a:endParaRPr lang="en-US" sz="1000" dirty="0"/>
          </a:p>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(Phishing-Resistant)</a:t>
            </a:r>
            <a:endParaRPr lang="en-US" sz="1000" dirty="0"/>
          </a:p>
        </p:txBody>
      </p:sp>
      <p:sp>
        <p:nvSpPr>
          <p:cNvPr id="23" name="Text 18"/>
          <p:cNvSpPr/>
          <p:nvPr/>
        </p:nvSpPr>
        <p:spPr>
          <a:xfrm>
            <a:off x="4355592" y="3154680"/>
            <a:ext cx="1642872" cy="411480"/>
          </a:xfrm>
          <a:prstGeom prst="rect">
            <a:avLst/>
          </a:prstGeom>
          <a:noFill/>
        </p:spPr>
        <p:txBody>
          <a:bodyPr wrap="square" rtlCol="0" anchor="t"/>
          <a:lstStyle/>
          <a:p>
            <a:pPr marL="0" indent="0" algn="ctr">
              <a:lnSpc>
                <a:spcPts val="950"/>
              </a:lnSpc>
              <a:buNone/>
            </a:pPr>
            <a:r>
              <a:rPr lang="en-US" sz="800" dirty="0">
                <a:solidFill>
                  <a:srgbClr val="5B6670"/>
                </a:solidFill>
                <a:latin typeface="Calibri" panose="020F0502020204030204" pitchFamily="34" charset="0"/>
                <a:ea typeface="Calibri" panose="020F0502020204030204" pitchFamily="34" charset="-122"/>
                <a:cs typeface="Calibri" panose="020F0502020204030204" pitchFamily="34" charset="-120"/>
              </a:rPr>
              <a:t>Verifies possession/inherence</a:t>
            </a:r>
            <a:endParaRPr lang="en-US" sz="800" dirty="0"/>
          </a:p>
        </p:txBody>
      </p:sp>
      <p:sp>
        <p:nvSpPr>
          <p:cNvPr id="24" name="Shape 19"/>
          <p:cNvSpPr/>
          <p:nvPr/>
        </p:nvSpPr>
        <p:spPr>
          <a:xfrm>
            <a:off x="6053328" y="2409444"/>
            <a:ext cx="146304" cy="164592"/>
          </a:xfrm>
          <a:prstGeom prst="rightArrow">
            <a:avLst/>
          </a:prstGeom>
          <a:solidFill>
            <a:srgbClr val="8B939A"/>
          </a:solidFill>
        </p:spPr>
        <p:txBody>
          <a:bodyPr/>
          <a:lstStyle/>
          <a:p>
            <a:endParaRPr lang="ar-EG"/>
          </a:p>
        </p:txBody>
      </p:sp>
      <p:sp>
        <p:nvSpPr>
          <p:cNvPr id="25" name="Shape 20"/>
          <p:cNvSpPr/>
          <p:nvPr/>
        </p:nvSpPr>
        <p:spPr>
          <a:xfrm>
            <a:off x="6199632" y="1920240"/>
            <a:ext cx="1752600" cy="1691640"/>
          </a:xfrm>
          <a:prstGeom prst="roundRect">
            <a:avLst>
              <a:gd name="adj" fmla="val 3784"/>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26" name="Shape 21"/>
          <p:cNvSpPr/>
          <p:nvPr/>
        </p:nvSpPr>
        <p:spPr>
          <a:xfrm>
            <a:off x="6783324" y="2066544"/>
            <a:ext cx="585216" cy="585216"/>
          </a:xfrm>
          <a:prstGeom prst="ellipse">
            <a:avLst/>
          </a:prstGeom>
          <a:solidFill>
            <a:srgbClr val="0E7C7B"/>
          </a:solidFill>
        </p:spPr>
        <p:txBody>
          <a:bodyPr/>
          <a:lstStyle/>
          <a:p>
            <a:endParaRPr lang="ar-EG"/>
          </a:p>
        </p:txBody>
      </p:sp>
      <p:pic>
        <p:nvPicPr>
          <p:cNvPr id="27" name="Image 3" descr="/home/claude/deck/icons/cog_teal.png"/>
          <p:cNvPicPr>
            <a:picLocks noChangeAspect="1"/>
          </p:cNvPicPr>
          <p:nvPr/>
        </p:nvPicPr>
        <p:blipFill>
          <a:blip r:embed="rId6"/>
          <a:stretch>
            <a:fillRect/>
          </a:stretch>
        </p:blipFill>
        <p:spPr>
          <a:xfrm>
            <a:off x="6914998" y="2198218"/>
            <a:ext cx="321869" cy="321869"/>
          </a:xfrm>
          <a:prstGeom prst="rect">
            <a:avLst/>
          </a:prstGeom>
        </p:spPr>
      </p:pic>
      <p:sp>
        <p:nvSpPr>
          <p:cNvPr id="28" name="Text 22"/>
          <p:cNvSpPr/>
          <p:nvPr/>
        </p:nvSpPr>
        <p:spPr>
          <a:xfrm>
            <a:off x="6254496" y="2706624"/>
            <a:ext cx="1642872" cy="457200"/>
          </a:xfrm>
          <a:prstGeom prst="rect">
            <a:avLst/>
          </a:prstGeom>
          <a:noFill/>
        </p:spPr>
        <p:txBody>
          <a:bodyPr wrap="square" rtlCol="0" anchor="t"/>
          <a:lstStyle/>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Policy Engine</a:t>
            </a:r>
            <a:endParaRPr lang="en-US" sz="1000" dirty="0"/>
          </a:p>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(Zero Trust)</a:t>
            </a:r>
            <a:endParaRPr lang="en-US" sz="1000" dirty="0"/>
          </a:p>
        </p:txBody>
      </p:sp>
      <p:sp>
        <p:nvSpPr>
          <p:cNvPr id="29" name="Text 23"/>
          <p:cNvSpPr/>
          <p:nvPr/>
        </p:nvSpPr>
        <p:spPr>
          <a:xfrm>
            <a:off x="6254496" y="3154680"/>
            <a:ext cx="1642872" cy="411480"/>
          </a:xfrm>
          <a:prstGeom prst="rect">
            <a:avLst/>
          </a:prstGeom>
          <a:noFill/>
        </p:spPr>
        <p:txBody>
          <a:bodyPr wrap="square" rtlCol="0" anchor="t"/>
          <a:lstStyle/>
          <a:p>
            <a:pPr marL="0" indent="0" algn="ctr">
              <a:lnSpc>
                <a:spcPts val="950"/>
              </a:lnSpc>
              <a:buNone/>
            </a:pPr>
            <a:r>
              <a:rPr lang="en-US" sz="800" dirty="0">
                <a:solidFill>
                  <a:srgbClr val="5B6670"/>
                </a:solidFill>
                <a:latin typeface="Calibri" panose="020F0502020204030204" pitchFamily="34" charset="0"/>
                <a:ea typeface="Calibri" panose="020F0502020204030204" pitchFamily="34" charset="-122"/>
                <a:cs typeface="Calibri" panose="020F0502020204030204" pitchFamily="34" charset="-120"/>
              </a:rPr>
              <a:t>Evaluates risk &amp; context</a:t>
            </a:r>
            <a:endParaRPr lang="en-US" sz="800" dirty="0"/>
          </a:p>
        </p:txBody>
      </p:sp>
      <p:sp>
        <p:nvSpPr>
          <p:cNvPr id="30" name="Shape 24"/>
          <p:cNvSpPr/>
          <p:nvPr/>
        </p:nvSpPr>
        <p:spPr>
          <a:xfrm>
            <a:off x="7952232" y="2409444"/>
            <a:ext cx="146304" cy="164592"/>
          </a:xfrm>
          <a:prstGeom prst="rightArrow">
            <a:avLst/>
          </a:prstGeom>
          <a:solidFill>
            <a:srgbClr val="8B939A"/>
          </a:solidFill>
        </p:spPr>
        <p:txBody>
          <a:bodyPr/>
          <a:lstStyle/>
          <a:p>
            <a:endParaRPr lang="ar-EG"/>
          </a:p>
        </p:txBody>
      </p:sp>
      <p:sp>
        <p:nvSpPr>
          <p:cNvPr id="31" name="Shape 25"/>
          <p:cNvSpPr/>
          <p:nvPr/>
        </p:nvSpPr>
        <p:spPr>
          <a:xfrm>
            <a:off x="8098536" y="1920240"/>
            <a:ext cx="1752600" cy="1691640"/>
          </a:xfrm>
          <a:prstGeom prst="roundRect">
            <a:avLst>
              <a:gd name="adj" fmla="val 3784"/>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32" name="Shape 26"/>
          <p:cNvSpPr/>
          <p:nvPr/>
        </p:nvSpPr>
        <p:spPr>
          <a:xfrm>
            <a:off x="8682228" y="2066544"/>
            <a:ext cx="585216" cy="585216"/>
          </a:xfrm>
          <a:prstGeom prst="ellipse">
            <a:avLst/>
          </a:prstGeom>
          <a:solidFill>
            <a:srgbClr val="0E7C7B"/>
          </a:solidFill>
        </p:spPr>
        <p:txBody>
          <a:bodyPr/>
          <a:lstStyle/>
          <a:p>
            <a:endParaRPr lang="ar-EG"/>
          </a:p>
        </p:txBody>
      </p:sp>
      <p:pic>
        <p:nvPicPr>
          <p:cNvPr id="33" name="Image 4" descr="/home/claude/deck/icons/user_clock_teal.png"/>
          <p:cNvPicPr>
            <a:picLocks noChangeAspect="1"/>
          </p:cNvPicPr>
          <p:nvPr/>
        </p:nvPicPr>
        <p:blipFill>
          <a:blip r:embed="rId7"/>
          <a:stretch>
            <a:fillRect/>
          </a:stretch>
        </p:blipFill>
        <p:spPr>
          <a:xfrm>
            <a:off x="8813902" y="2198218"/>
            <a:ext cx="321869" cy="321869"/>
          </a:xfrm>
          <a:prstGeom prst="rect">
            <a:avLst/>
          </a:prstGeom>
        </p:spPr>
      </p:pic>
      <p:sp>
        <p:nvSpPr>
          <p:cNvPr id="34" name="Text 27"/>
          <p:cNvSpPr/>
          <p:nvPr/>
        </p:nvSpPr>
        <p:spPr>
          <a:xfrm>
            <a:off x="8153400" y="2706624"/>
            <a:ext cx="1642872" cy="457200"/>
          </a:xfrm>
          <a:prstGeom prst="rect">
            <a:avLst/>
          </a:prstGeom>
          <a:noFill/>
        </p:spPr>
        <p:txBody>
          <a:bodyPr wrap="square" rtlCol="0" anchor="t"/>
          <a:lstStyle/>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PAM</a:t>
            </a:r>
            <a:endParaRPr lang="en-US" sz="1000" dirty="0"/>
          </a:p>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(JIT + Vault)</a:t>
            </a:r>
            <a:endParaRPr lang="en-US" sz="1000" dirty="0"/>
          </a:p>
        </p:txBody>
      </p:sp>
      <p:sp>
        <p:nvSpPr>
          <p:cNvPr id="35" name="Text 28"/>
          <p:cNvSpPr/>
          <p:nvPr/>
        </p:nvSpPr>
        <p:spPr>
          <a:xfrm>
            <a:off x="8153400" y="3154680"/>
            <a:ext cx="1642872" cy="411480"/>
          </a:xfrm>
          <a:prstGeom prst="rect">
            <a:avLst/>
          </a:prstGeom>
          <a:noFill/>
        </p:spPr>
        <p:txBody>
          <a:bodyPr wrap="square" rtlCol="0" anchor="t"/>
          <a:lstStyle/>
          <a:p>
            <a:pPr marL="0" indent="0" algn="ctr">
              <a:lnSpc>
                <a:spcPts val="950"/>
              </a:lnSpc>
              <a:buNone/>
            </a:pPr>
            <a:r>
              <a:rPr lang="en-US" sz="800" dirty="0">
                <a:solidFill>
                  <a:srgbClr val="5B6670"/>
                </a:solidFill>
                <a:latin typeface="Calibri" panose="020F0502020204030204" pitchFamily="34" charset="0"/>
                <a:ea typeface="Calibri" panose="020F0502020204030204" pitchFamily="34" charset="-122"/>
                <a:cs typeface="Calibri" panose="020F0502020204030204" pitchFamily="34" charset="-120"/>
              </a:rPr>
              <a:t>Elevates privilege if needed</a:t>
            </a:r>
            <a:endParaRPr lang="en-US" sz="800" dirty="0"/>
          </a:p>
        </p:txBody>
      </p:sp>
      <p:sp>
        <p:nvSpPr>
          <p:cNvPr id="36" name="Shape 29"/>
          <p:cNvSpPr/>
          <p:nvPr/>
        </p:nvSpPr>
        <p:spPr>
          <a:xfrm>
            <a:off x="9851136" y="2409444"/>
            <a:ext cx="146304" cy="164592"/>
          </a:xfrm>
          <a:prstGeom prst="rightArrow">
            <a:avLst/>
          </a:prstGeom>
          <a:solidFill>
            <a:srgbClr val="8B939A"/>
          </a:solidFill>
        </p:spPr>
        <p:txBody>
          <a:bodyPr/>
          <a:lstStyle/>
          <a:p>
            <a:endParaRPr lang="ar-EG"/>
          </a:p>
        </p:txBody>
      </p:sp>
      <p:sp>
        <p:nvSpPr>
          <p:cNvPr id="37" name="Shape 30"/>
          <p:cNvSpPr/>
          <p:nvPr/>
        </p:nvSpPr>
        <p:spPr>
          <a:xfrm>
            <a:off x="9997440" y="1920240"/>
            <a:ext cx="1752600" cy="1691640"/>
          </a:xfrm>
          <a:prstGeom prst="roundRect">
            <a:avLst>
              <a:gd name="adj" fmla="val 3784"/>
            </a:avLst>
          </a:prstGeom>
          <a:solidFill>
            <a:srgbClr val="FFFFFF"/>
          </a:solidFill>
          <a:ln w="12700">
            <a:solidFill>
              <a:srgbClr val="DCE1E2"/>
            </a:solidFill>
            <a:prstDash val="solid"/>
          </a:ln>
          <a:effectLst>
            <a:outerShdw blurRad="76200" dist="25400" dir="5400000" algn="bl" rotWithShape="0">
              <a:srgbClr val="8B939A">
                <a:alpha val="18000"/>
              </a:srgbClr>
            </a:outerShdw>
          </a:effectLst>
        </p:spPr>
        <p:txBody>
          <a:bodyPr/>
          <a:lstStyle/>
          <a:p>
            <a:endParaRPr lang="ar-EG"/>
          </a:p>
        </p:txBody>
      </p:sp>
      <p:sp>
        <p:nvSpPr>
          <p:cNvPr id="38" name="Shape 31"/>
          <p:cNvSpPr/>
          <p:nvPr/>
        </p:nvSpPr>
        <p:spPr>
          <a:xfrm>
            <a:off x="10581132" y="2066544"/>
            <a:ext cx="585216" cy="585216"/>
          </a:xfrm>
          <a:prstGeom prst="ellipse">
            <a:avLst/>
          </a:prstGeom>
          <a:solidFill>
            <a:srgbClr val="0E7C7B"/>
          </a:solidFill>
        </p:spPr>
        <p:txBody>
          <a:bodyPr/>
          <a:lstStyle/>
          <a:p>
            <a:endParaRPr lang="ar-EG"/>
          </a:p>
        </p:txBody>
      </p:sp>
      <p:pic>
        <p:nvPicPr>
          <p:cNvPr id="39" name="Image 5" descr="/home/claude/deck/icons/cloud_teal.png"/>
          <p:cNvPicPr>
            <a:picLocks noChangeAspect="1"/>
          </p:cNvPicPr>
          <p:nvPr/>
        </p:nvPicPr>
        <p:blipFill>
          <a:blip r:embed="rId8"/>
          <a:stretch>
            <a:fillRect/>
          </a:stretch>
        </p:blipFill>
        <p:spPr>
          <a:xfrm>
            <a:off x="10712806" y="2198218"/>
            <a:ext cx="321869" cy="321869"/>
          </a:xfrm>
          <a:prstGeom prst="rect">
            <a:avLst/>
          </a:prstGeom>
        </p:spPr>
      </p:pic>
      <p:sp>
        <p:nvSpPr>
          <p:cNvPr id="40" name="Text 32"/>
          <p:cNvSpPr/>
          <p:nvPr/>
        </p:nvSpPr>
        <p:spPr>
          <a:xfrm>
            <a:off x="10052304" y="2706624"/>
            <a:ext cx="1642872" cy="457200"/>
          </a:xfrm>
          <a:prstGeom prst="rect">
            <a:avLst/>
          </a:prstGeom>
          <a:noFill/>
        </p:spPr>
        <p:txBody>
          <a:bodyPr wrap="square" rtlCol="0" anchor="t"/>
          <a:lstStyle/>
          <a:p>
            <a:pPr marL="0" indent="0" algn="ctr">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Resources</a:t>
            </a:r>
            <a:endParaRPr lang="en-US" sz="1000" dirty="0"/>
          </a:p>
        </p:txBody>
      </p:sp>
      <p:sp>
        <p:nvSpPr>
          <p:cNvPr id="41" name="Text 33"/>
          <p:cNvSpPr/>
          <p:nvPr/>
        </p:nvSpPr>
        <p:spPr>
          <a:xfrm>
            <a:off x="10052304" y="3154680"/>
            <a:ext cx="1642872" cy="411480"/>
          </a:xfrm>
          <a:prstGeom prst="rect">
            <a:avLst/>
          </a:prstGeom>
          <a:noFill/>
        </p:spPr>
        <p:txBody>
          <a:bodyPr wrap="square" rtlCol="0" anchor="t"/>
          <a:lstStyle/>
          <a:p>
            <a:pPr marL="0" indent="0" algn="ctr">
              <a:lnSpc>
                <a:spcPts val="950"/>
              </a:lnSpc>
              <a:buNone/>
            </a:pPr>
            <a:r>
              <a:rPr lang="en-US" sz="800" dirty="0">
                <a:solidFill>
                  <a:srgbClr val="5B6670"/>
                </a:solidFill>
                <a:latin typeface="Calibri" panose="020F0502020204030204" pitchFamily="34" charset="0"/>
                <a:ea typeface="Calibri" panose="020F0502020204030204" pitchFamily="34" charset="-122"/>
                <a:cs typeface="Calibri" panose="020F0502020204030204" pitchFamily="34" charset="-120"/>
              </a:rPr>
              <a:t>Cloud, on-prem, SaaS</a:t>
            </a:r>
            <a:endParaRPr lang="en-US" sz="800" dirty="0"/>
          </a:p>
        </p:txBody>
      </p:sp>
      <p:sp>
        <p:nvSpPr>
          <p:cNvPr id="42" name="Shape 34"/>
          <p:cNvSpPr/>
          <p:nvPr/>
        </p:nvSpPr>
        <p:spPr>
          <a:xfrm>
            <a:off x="1371600" y="3840480"/>
            <a:ext cx="8961120" cy="457200"/>
          </a:xfrm>
          <a:prstGeom prst="roundRect">
            <a:avLst>
              <a:gd name="adj" fmla="val 50000"/>
            </a:avLst>
          </a:prstGeom>
          <a:solidFill>
            <a:srgbClr val="E3F2F1"/>
          </a:solidFill>
          <a:ln w="12700">
            <a:solidFill>
              <a:srgbClr val="0E7C7B"/>
            </a:solidFill>
            <a:prstDash val="solid"/>
          </a:ln>
        </p:spPr>
        <p:txBody>
          <a:bodyPr/>
          <a:lstStyle/>
          <a:p>
            <a:endParaRPr lang="ar-EG"/>
          </a:p>
        </p:txBody>
      </p:sp>
      <p:sp>
        <p:nvSpPr>
          <p:cNvPr id="43" name="Text 35"/>
          <p:cNvSpPr/>
          <p:nvPr/>
        </p:nvSpPr>
        <p:spPr>
          <a:xfrm>
            <a:off x="1371600" y="3840480"/>
            <a:ext cx="8961120" cy="457200"/>
          </a:xfrm>
          <a:prstGeom prst="rect">
            <a:avLst/>
          </a:prstGeom>
          <a:noFill/>
        </p:spPr>
        <p:txBody>
          <a:bodyPr wrap="square" rtlCol="0" anchor="ctr"/>
          <a:lstStyle/>
          <a:p>
            <a:pPr marL="0" indent="0" algn="ctr">
              <a:buNone/>
            </a:pPr>
            <a:r>
              <a:rPr lang="en-US" sz="1200" b="1" dirty="0">
                <a:solidFill>
                  <a:srgbClr val="0A5F5E"/>
                </a:solidFill>
                <a:latin typeface="Calibri" panose="020F0502020204030204" pitchFamily="34" charset="0"/>
                <a:ea typeface="Calibri" panose="020F0502020204030204" pitchFamily="34" charset="-122"/>
                <a:cs typeface="Calibri" panose="020F0502020204030204" pitchFamily="34" charset="-120"/>
              </a:rPr>
              <a:t>⟲   Continuous verification: every request is re-evaluated — no persistent implicit trust</a:t>
            </a:r>
            <a:endParaRPr lang="en-US" sz="1200" dirty="0"/>
          </a:p>
        </p:txBody>
      </p:sp>
      <p:sp>
        <p:nvSpPr>
          <p:cNvPr id="44" name="Shape 36"/>
          <p:cNvSpPr/>
          <p:nvPr/>
        </p:nvSpPr>
        <p:spPr>
          <a:xfrm>
            <a:off x="502920" y="5074920"/>
            <a:ext cx="3657600" cy="1051560"/>
          </a:xfrm>
          <a:prstGeom prst="roundRect">
            <a:avLst>
              <a:gd name="adj" fmla="val 6087"/>
            </a:avLst>
          </a:prstGeom>
          <a:solidFill>
            <a:srgbClr val="F5F6F6"/>
          </a:solidFill>
          <a:ln w="12700">
            <a:solidFill>
              <a:srgbClr val="DCE1E2"/>
            </a:solidFill>
            <a:prstDash val="solid"/>
          </a:ln>
        </p:spPr>
        <p:txBody>
          <a:bodyPr/>
          <a:lstStyle/>
          <a:p>
            <a:endParaRPr lang="ar-EG"/>
          </a:p>
        </p:txBody>
      </p:sp>
      <p:sp>
        <p:nvSpPr>
          <p:cNvPr id="45" name="Text 37"/>
          <p:cNvSpPr/>
          <p:nvPr/>
        </p:nvSpPr>
        <p:spPr>
          <a:xfrm>
            <a:off x="685800" y="5193792"/>
            <a:ext cx="3291840" cy="320040"/>
          </a:xfrm>
          <a:prstGeom prst="rect">
            <a:avLst/>
          </a:prstGeom>
          <a:noFill/>
        </p:spPr>
        <p:txBody>
          <a:bodyPr wrap="square" rtlCol="0" anchor="ctr"/>
          <a:lstStyle/>
          <a:p>
            <a:pPr marL="0" indent="0">
              <a:buNone/>
            </a:pPr>
            <a:r>
              <a:rPr lang="en-US" sz="1250" b="1" dirty="0">
                <a:solidFill>
                  <a:srgbClr val="0A5F5E"/>
                </a:solidFill>
                <a:latin typeface="Calibri" panose="020F0502020204030204" pitchFamily="34" charset="0"/>
                <a:ea typeface="Calibri" panose="020F0502020204030204" pitchFamily="34" charset="-122"/>
                <a:cs typeface="Calibri" panose="020F0502020204030204" pitchFamily="34" charset="-120"/>
              </a:rPr>
              <a:t>IAM answers:</a:t>
            </a:r>
            <a:endParaRPr lang="en-US" sz="1250" dirty="0"/>
          </a:p>
        </p:txBody>
      </p:sp>
      <p:sp>
        <p:nvSpPr>
          <p:cNvPr id="46" name="Text 38"/>
          <p:cNvSpPr/>
          <p:nvPr/>
        </p:nvSpPr>
        <p:spPr>
          <a:xfrm>
            <a:off x="685800" y="5504688"/>
            <a:ext cx="3291840" cy="502920"/>
          </a:xfrm>
          <a:prstGeom prst="rect">
            <a:avLst/>
          </a:prstGeom>
          <a:noFill/>
        </p:spPr>
        <p:txBody>
          <a:bodyPr wrap="square" rtlCol="0" anchor="ctr"/>
          <a:lstStyle/>
          <a:p>
            <a:pPr marL="0" indent="0">
              <a:buNone/>
            </a:pPr>
            <a:r>
              <a:rPr lang="en-US" sz="1200" i="1" dirty="0">
                <a:solidFill>
                  <a:srgbClr val="2B2D2F"/>
                </a:solidFill>
                <a:latin typeface="Calibri" panose="020F0502020204030204" pitchFamily="34" charset="0"/>
                <a:ea typeface="Calibri" panose="020F0502020204030204" pitchFamily="34" charset="-122"/>
                <a:cs typeface="Calibri" panose="020F0502020204030204" pitchFamily="34" charset="-120"/>
              </a:rPr>
              <a:t>“Who are you?”</a:t>
            </a:r>
            <a:endParaRPr lang="en-US" sz="1200" dirty="0"/>
          </a:p>
        </p:txBody>
      </p:sp>
      <p:sp>
        <p:nvSpPr>
          <p:cNvPr id="47" name="Shape 39"/>
          <p:cNvSpPr/>
          <p:nvPr/>
        </p:nvSpPr>
        <p:spPr>
          <a:xfrm>
            <a:off x="4293108" y="5074920"/>
            <a:ext cx="3657600" cy="1051560"/>
          </a:xfrm>
          <a:prstGeom prst="roundRect">
            <a:avLst>
              <a:gd name="adj" fmla="val 6087"/>
            </a:avLst>
          </a:prstGeom>
          <a:solidFill>
            <a:srgbClr val="F5F6F6"/>
          </a:solidFill>
          <a:ln w="12700">
            <a:solidFill>
              <a:srgbClr val="DCE1E2"/>
            </a:solidFill>
            <a:prstDash val="solid"/>
          </a:ln>
        </p:spPr>
        <p:txBody>
          <a:bodyPr/>
          <a:lstStyle/>
          <a:p>
            <a:endParaRPr lang="ar-EG"/>
          </a:p>
        </p:txBody>
      </p:sp>
      <p:sp>
        <p:nvSpPr>
          <p:cNvPr id="48" name="Text 40"/>
          <p:cNvSpPr/>
          <p:nvPr/>
        </p:nvSpPr>
        <p:spPr>
          <a:xfrm>
            <a:off x="4475988" y="5193792"/>
            <a:ext cx="3291840" cy="320040"/>
          </a:xfrm>
          <a:prstGeom prst="rect">
            <a:avLst/>
          </a:prstGeom>
          <a:noFill/>
        </p:spPr>
        <p:txBody>
          <a:bodyPr wrap="square" rtlCol="0" anchor="ctr"/>
          <a:lstStyle/>
          <a:p>
            <a:pPr marL="0" indent="0">
              <a:buNone/>
            </a:pPr>
            <a:r>
              <a:rPr lang="en-US" sz="1250" b="1" dirty="0">
                <a:solidFill>
                  <a:srgbClr val="0A5F5E"/>
                </a:solidFill>
                <a:latin typeface="Calibri" panose="020F0502020204030204" pitchFamily="34" charset="0"/>
                <a:ea typeface="Calibri" panose="020F0502020204030204" pitchFamily="34" charset="-122"/>
                <a:cs typeface="Calibri" panose="020F0502020204030204" pitchFamily="34" charset="-120"/>
              </a:rPr>
              <a:t>MFA answers:</a:t>
            </a:r>
            <a:endParaRPr lang="en-US" sz="1250" dirty="0"/>
          </a:p>
        </p:txBody>
      </p:sp>
      <p:sp>
        <p:nvSpPr>
          <p:cNvPr id="49" name="Text 41"/>
          <p:cNvSpPr/>
          <p:nvPr/>
        </p:nvSpPr>
        <p:spPr>
          <a:xfrm>
            <a:off x="4475988" y="5504688"/>
            <a:ext cx="3291840" cy="502920"/>
          </a:xfrm>
          <a:prstGeom prst="rect">
            <a:avLst/>
          </a:prstGeom>
          <a:noFill/>
        </p:spPr>
        <p:txBody>
          <a:bodyPr wrap="square" rtlCol="0" anchor="ctr"/>
          <a:lstStyle/>
          <a:p>
            <a:pPr marL="0" indent="0">
              <a:buNone/>
            </a:pPr>
            <a:r>
              <a:rPr lang="en-US" sz="1200" i="1" dirty="0">
                <a:solidFill>
                  <a:srgbClr val="2B2D2F"/>
                </a:solidFill>
                <a:latin typeface="Calibri" panose="020F0502020204030204" pitchFamily="34" charset="0"/>
                <a:ea typeface="Calibri" panose="020F0502020204030204" pitchFamily="34" charset="-122"/>
                <a:cs typeface="Calibri" panose="020F0502020204030204" pitchFamily="34" charset="-120"/>
              </a:rPr>
              <a:t>“Can you prove it?”</a:t>
            </a:r>
            <a:endParaRPr lang="en-US" sz="1200" dirty="0"/>
          </a:p>
        </p:txBody>
      </p:sp>
      <p:sp>
        <p:nvSpPr>
          <p:cNvPr id="50" name="Shape 42"/>
          <p:cNvSpPr/>
          <p:nvPr/>
        </p:nvSpPr>
        <p:spPr>
          <a:xfrm>
            <a:off x="8083296" y="5074920"/>
            <a:ext cx="3657600" cy="1051560"/>
          </a:xfrm>
          <a:prstGeom prst="roundRect">
            <a:avLst>
              <a:gd name="adj" fmla="val 6087"/>
            </a:avLst>
          </a:prstGeom>
          <a:solidFill>
            <a:srgbClr val="F5F6F6"/>
          </a:solidFill>
          <a:ln w="12700">
            <a:solidFill>
              <a:srgbClr val="DCE1E2"/>
            </a:solidFill>
            <a:prstDash val="solid"/>
          </a:ln>
        </p:spPr>
        <p:txBody>
          <a:bodyPr/>
          <a:lstStyle/>
          <a:p>
            <a:endParaRPr lang="ar-EG"/>
          </a:p>
        </p:txBody>
      </p:sp>
      <p:sp>
        <p:nvSpPr>
          <p:cNvPr id="51" name="Text 43"/>
          <p:cNvSpPr/>
          <p:nvPr/>
        </p:nvSpPr>
        <p:spPr>
          <a:xfrm>
            <a:off x="8266176" y="5193792"/>
            <a:ext cx="3291840" cy="320040"/>
          </a:xfrm>
          <a:prstGeom prst="rect">
            <a:avLst/>
          </a:prstGeom>
          <a:noFill/>
        </p:spPr>
        <p:txBody>
          <a:bodyPr wrap="square" rtlCol="0" anchor="ctr"/>
          <a:lstStyle/>
          <a:p>
            <a:pPr marL="0" indent="0">
              <a:buNone/>
            </a:pPr>
            <a:r>
              <a:rPr lang="en-US" sz="1250" b="1" dirty="0">
                <a:solidFill>
                  <a:srgbClr val="0A5F5E"/>
                </a:solidFill>
                <a:latin typeface="Calibri" panose="020F0502020204030204" pitchFamily="34" charset="0"/>
                <a:ea typeface="Calibri" panose="020F0502020204030204" pitchFamily="34" charset="-122"/>
                <a:cs typeface="Calibri" panose="020F0502020204030204" pitchFamily="34" charset="-120"/>
              </a:rPr>
              <a:t>PAM answers:</a:t>
            </a:r>
            <a:endParaRPr lang="en-US" sz="1250" dirty="0"/>
          </a:p>
        </p:txBody>
      </p:sp>
      <p:sp>
        <p:nvSpPr>
          <p:cNvPr id="52" name="Text 44"/>
          <p:cNvSpPr/>
          <p:nvPr/>
        </p:nvSpPr>
        <p:spPr>
          <a:xfrm>
            <a:off x="8266176" y="5504688"/>
            <a:ext cx="3291840" cy="502920"/>
          </a:xfrm>
          <a:prstGeom prst="rect">
            <a:avLst/>
          </a:prstGeom>
          <a:noFill/>
        </p:spPr>
        <p:txBody>
          <a:bodyPr wrap="square" rtlCol="0" anchor="ctr"/>
          <a:lstStyle/>
          <a:p>
            <a:pPr marL="0" indent="0">
              <a:buNone/>
            </a:pPr>
            <a:r>
              <a:rPr lang="en-US" sz="1200" i="1" dirty="0">
                <a:solidFill>
                  <a:srgbClr val="2B2D2F"/>
                </a:solidFill>
                <a:latin typeface="Calibri" panose="020F0502020204030204" pitchFamily="34" charset="0"/>
                <a:ea typeface="Calibri" panose="020F0502020204030204" pitchFamily="34" charset="-122"/>
                <a:cs typeface="Calibri" panose="020F0502020204030204" pitchFamily="34" charset="-120"/>
              </a:rPr>
              <a:t>“Should you have elevated rights right now?”</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162495" y="6510528"/>
            <a:ext cx="3931920" cy="274320"/>
          </a:xfrm>
          <a:prstGeom prst="rect">
            <a:avLst/>
          </a:prstGeom>
          <a:noFill/>
        </p:spPr>
        <p:txBody>
          <a:bodyPr wrap="square" rtlCol="0" anchor="ctr"/>
          <a:lstStyle/>
          <a:p>
            <a:pPr marL="0" indent="0" algn="r">
              <a:buNone/>
            </a:pPr>
            <a:r>
              <a:rPr lang="en-US" sz="900" kern="0" spc="100" dirty="0">
                <a:solidFill>
                  <a:srgbClr val="8B939A"/>
                </a:solidFill>
                <a:latin typeface="Calibri" panose="020F0502020204030204" pitchFamily="34" charset="0"/>
                <a:ea typeface="Calibri" panose="020F0502020204030204" pitchFamily="34" charset="-122"/>
                <a:cs typeface="Calibri" panose="020F0502020204030204" pitchFamily="34" charset="-120"/>
              </a:rPr>
              <a:t>INTEGRATION &amp; REAL ATTACK</a:t>
            </a:r>
            <a:endParaRPr lang="en-US" sz="900" dirty="0"/>
          </a:p>
        </p:txBody>
      </p:sp>
      <p:sp>
        <p:nvSpPr>
          <p:cNvPr id="4" name="Text 2"/>
          <p:cNvSpPr/>
          <p:nvPr/>
        </p:nvSpPr>
        <p:spPr>
          <a:xfrm>
            <a:off x="11368735" y="6510528"/>
            <a:ext cx="365760" cy="274320"/>
          </a:xfrm>
          <a:prstGeom prst="rect">
            <a:avLst/>
          </a:prstGeom>
          <a:noFill/>
        </p:spPr>
        <p:txBody>
          <a:bodyPr wrap="square" rtlCol="0" anchor="ctr"/>
          <a:lstStyle/>
          <a:p>
            <a:pPr marL="0" indent="0" algn="r">
              <a:buNone/>
            </a:pPr>
            <a:r>
              <a:rPr lang="en-US" sz="900" dirty="0">
                <a:solidFill>
                  <a:srgbClr val="8B939A"/>
                </a:solidFill>
                <a:latin typeface="Calibri" panose="020F0502020204030204" pitchFamily="34" charset="0"/>
                <a:ea typeface="Calibri" panose="020F0502020204030204" pitchFamily="34" charset="-122"/>
                <a:cs typeface="Calibri" panose="020F0502020204030204" pitchFamily="34" charset="-120"/>
              </a:rPr>
              <a:t>26</a:t>
            </a:r>
            <a:endParaRPr lang="en-US" sz="900" dirty="0"/>
          </a:p>
        </p:txBody>
      </p:sp>
      <p:sp>
        <p:nvSpPr>
          <p:cNvPr id="5" name="Text 3"/>
          <p:cNvSpPr/>
          <p:nvPr/>
        </p:nvSpPr>
        <p:spPr>
          <a:xfrm>
            <a:off x="502920" y="384048"/>
            <a:ext cx="10058400" cy="274320"/>
          </a:xfrm>
          <a:prstGeom prst="rect">
            <a:avLst/>
          </a:prstGeom>
          <a:noFill/>
        </p:spPr>
        <p:txBody>
          <a:bodyPr wrap="square" rtlCol="0" anchor="ctr"/>
          <a:lstStyle/>
          <a:p>
            <a:pPr marL="0" indent="0">
              <a:buNone/>
            </a:pPr>
            <a:r>
              <a:rPr lang="en-US" sz="1250" b="1" kern="0" spc="150" dirty="0">
                <a:solidFill>
                  <a:srgbClr val="0E7C7B"/>
                </a:solidFill>
                <a:latin typeface="Calibri" panose="020F0502020204030204" pitchFamily="34" charset="0"/>
                <a:ea typeface="Calibri" panose="020F0502020204030204" pitchFamily="34" charset="-122"/>
                <a:cs typeface="Calibri" panose="020F0502020204030204" pitchFamily="34" charset="-120"/>
              </a:rPr>
              <a:t>SECTION 5 · CASE STUDY REVISITED</a:t>
            </a:r>
            <a:endParaRPr lang="en-US" sz="1250" dirty="0"/>
          </a:p>
        </p:txBody>
      </p:sp>
      <p:sp>
        <p:nvSpPr>
          <p:cNvPr id="6" name="Text 4"/>
          <p:cNvSpPr/>
          <p:nvPr/>
        </p:nvSpPr>
        <p:spPr>
          <a:xfrm>
            <a:off x="502920" y="676656"/>
            <a:ext cx="11155680" cy="594360"/>
          </a:xfrm>
          <a:prstGeom prst="rect">
            <a:avLst/>
          </a:prstGeom>
          <a:noFill/>
        </p:spPr>
        <p:txBody>
          <a:bodyPr wrap="square" rtlCol="0" anchor="ctr"/>
          <a:lstStyle/>
          <a:p>
            <a:pPr marL="0" indent="0">
              <a:buNone/>
            </a:pPr>
            <a:r>
              <a:rPr lang="en-US" sz="3000" b="1" dirty="0">
                <a:solidFill>
                  <a:srgbClr val="2B2D2F"/>
                </a:solidFill>
                <a:latin typeface="Cambria" panose="02040503050406030204" pitchFamily="34" charset="0"/>
                <a:ea typeface="Cambria" panose="02040503050406030204" pitchFamily="34" charset="-122"/>
                <a:cs typeface="Cambria" panose="02040503050406030204" pitchFamily="34" charset="-120"/>
              </a:rPr>
              <a:t>Attack Kill Chain — Where Layered Controls Stop It</a:t>
            </a:r>
            <a:endParaRPr lang="en-US" sz="3000" dirty="0"/>
          </a:p>
        </p:txBody>
      </p:sp>
      <p:sp>
        <p:nvSpPr>
          <p:cNvPr id="7" name="Shape 5"/>
          <p:cNvSpPr/>
          <p:nvPr/>
        </p:nvSpPr>
        <p:spPr>
          <a:xfrm>
            <a:off x="502920" y="1463040"/>
            <a:ext cx="2560320" cy="457200"/>
          </a:xfrm>
          <a:prstGeom prst="rect">
            <a:avLst/>
          </a:prstGeom>
          <a:solidFill>
            <a:srgbClr val="2B2D2F"/>
          </a:solidFill>
        </p:spPr>
        <p:txBody>
          <a:bodyPr/>
          <a:lstStyle/>
          <a:p>
            <a:endParaRPr lang="ar-EG"/>
          </a:p>
        </p:txBody>
      </p:sp>
      <p:sp>
        <p:nvSpPr>
          <p:cNvPr id="8" name="Text 6"/>
          <p:cNvSpPr/>
          <p:nvPr/>
        </p:nvSpPr>
        <p:spPr>
          <a:xfrm>
            <a:off x="612648" y="1463040"/>
            <a:ext cx="2340864" cy="457200"/>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Attack Stage</a:t>
            </a:r>
            <a:endParaRPr lang="en-US" sz="1200" dirty="0"/>
          </a:p>
        </p:txBody>
      </p:sp>
      <p:sp>
        <p:nvSpPr>
          <p:cNvPr id="9" name="Shape 7"/>
          <p:cNvSpPr/>
          <p:nvPr/>
        </p:nvSpPr>
        <p:spPr>
          <a:xfrm>
            <a:off x="3063240" y="1463040"/>
            <a:ext cx="4572000" cy="457200"/>
          </a:xfrm>
          <a:prstGeom prst="rect">
            <a:avLst/>
          </a:prstGeom>
          <a:solidFill>
            <a:srgbClr val="E8871E"/>
          </a:solidFill>
        </p:spPr>
        <p:txBody>
          <a:bodyPr/>
          <a:lstStyle/>
          <a:p>
            <a:endParaRPr lang="ar-EG"/>
          </a:p>
        </p:txBody>
      </p:sp>
      <p:sp>
        <p:nvSpPr>
          <p:cNvPr id="10" name="Text 8"/>
          <p:cNvSpPr/>
          <p:nvPr/>
        </p:nvSpPr>
        <p:spPr>
          <a:xfrm>
            <a:off x="3172968" y="1463040"/>
            <a:ext cx="4352544" cy="457200"/>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Happened (Uber, 2022)</a:t>
            </a:r>
            <a:endParaRPr lang="en-US" sz="1200" dirty="0"/>
          </a:p>
        </p:txBody>
      </p:sp>
      <p:sp>
        <p:nvSpPr>
          <p:cNvPr id="11" name="Shape 9"/>
          <p:cNvSpPr/>
          <p:nvPr/>
        </p:nvSpPr>
        <p:spPr>
          <a:xfrm>
            <a:off x="7635240" y="1463040"/>
            <a:ext cx="4114800" cy="457200"/>
          </a:xfrm>
          <a:prstGeom prst="rect">
            <a:avLst/>
          </a:prstGeom>
          <a:solidFill>
            <a:srgbClr val="0E7C7B"/>
          </a:solidFill>
        </p:spPr>
        <p:txBody>
          <a:bodyPr/>
          <a:lstStyle/>
          <a:p>
            <a:endParaRPr lang="ar-EG"/>
          </a:p>
        </p:txBody>
      </p:sp>
      <p:sp>
        <p:nvSpPr>
          <p:cNvPr id="12" name="Text 10"/>
          <p:cNvSpPr/>
          <p:nvPr/>
        </p:nvSpPr>
        <p:spPr>
          <a:xfrm>
            <a:off x="7744968" y="1463040"/>
            <a:ext cx="3895344" cy="457200"/>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Control That Should Stop It</a:t>
            </a:r>
            <a:endParaRPr lang="en-US" sz="1200" dirty="0"/>
          </a:p>
        </p:txBody>
      </p:sp>
      <p:sp>
        <p:nvSpPr>
          <p:cNvPr id="13" name="Shape 11"/>
          <p:cNvSpPr/>
          <p:nvPr/>
        </p:nvSpPr>
        <p:spPr>
          <a:xfrm>
            <a:off x="502920" y="1920240"/>
            <a:ext cx="2560320" cy="626364"/>
          </a:xfrm>
          <a:prstGeom prst="rect">
            <a:avLst/>
          </a:prstGeom>
          <a:solidFill>
            <a:srgbClr val="FFFFFF"/>
          </a:solidFill>
          <a:ln w="9525">
            <a:solidFill>
              <a:srgbClr val="DCE1E2"/>
            </a:solidFill>
            <a:prstDash val="solid"/>
          </a:ln>
        </p:spPr>
        <p:txBody>
          <a:bodyPr/>
          <a:lstStyle/>
          <a:p>
            <a:endParaRPr lang="ar-EG"/>
          </a:p>
        </p:txBody>
      </p:sp>
      <p:sp>
        <p:nvSpPr>
          <p:cNvPr id="14" name="Text 12"/>
          <p:cNvSpPr/>
          <p:nvPr/>
        </p:nvSpPr>
        <p:spPr>
          <a:xfrm>
            <a:off x="612648" y="1920240"/>
            <a:ext cx="2340864" cy="626364"/>
          </a:xfrm>
          <a:prstGeom prst="rect">
            <a:avLst/>
          </a:prstGeom>
          <a:noFill/>
        </p:spPr>
        <p:txBody>
          <a:bodyPr wrap="square" rtlCol="0" anchor="ctr"/>
          <a:lstStyle/>
          <a:p>
            <a:pPr marL="0" indent="0">
              <a:lnSpc>
                <a:spcPts val="1150"/>
              </a:lnSpc>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1. Initial Access</a:t>
            </a:r>
            <a:endParaRPr lang="en-US" sz="1000" dirty="0"/>
          </a:p>
        </p:txBody>
      </p:sp>
      <p:sp>
        <p:nvSpPr>
          <p:cNvPr id="15" name="Shape 13"/>
          <p:cNvSpPr/>
          <p:nvPr/>
        </p:nvSpPr>
        <p:spPr>
          <a:xfrm>
            <a:off x="3063240" y="1920240"/>
            <a:ext cx="4572000" cy="626364"/>
          </a:xfrm>
          <a:prstGeom prst="rect">
            <a:avLst/>
          </a:prstGeom>
          <a:solidFill>
            <a:srgbClr val="FFFFFF"/>
          </a:solidFill>
          <a:ln w="9525">
            <a:solidFill>
              <a:srgbClr val="DCE1E2"/>
            </a:solidFill>
            <a:prstDash val="solid"/>
          </a:ln>
        </p:spPr>
        <p:txBody>
          <a:bodyPr/>
          <a:lstStyle/>
          <a:p>
            <a:endParaRPr lang="ar-EG"/>
          </a:p>
        </p:txBody>
      </p:sp>
      <p:sp>
        <p:nvSpPr>
          <p:cNvPr id="16" name="Text 14"/>
          <p:cNvSpPr/>
          <p:nvPr/>
        </p:nvSpPr>
        <p:spPr>
          <a:xfrm>
            <a:off x="3172968" y="1920240"/>
            <a:ext cx="4352544" cy="626364"/>
          </a:xfrm>
          <a:prstGeom prst="rect">
            <a:avLst/>
          </a:prstGeom>
          <a:noFill/>
        </p:spPr>
        <p:txBody>
          <a:bodyPr wrap="square" rtlCol="0" anchor="ctr"/>
          <a:lstStyle/>
          <a:p>
            <a:pPr marL="0" indent="0">
              <a:lnSpc>
                <a:spcPts val="115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Contractor's password purchased from a dark-web credential dump</a:t>
            </a:r>
            <a:endParaRPr lang="en-US" sz="1000" dirty="0"/>
          </a:p>
        </p:txBody>
      </p:sp>
      <p:sp>
        <p:nvSpPr>
          <p:cNvPr id="17" name="Shape 15"/>
          <p:cNvSpPr/>
          <p:nvPr/>
        </p:nvSpPr>
        <p:spPr>
          <a:xfrm>
            <a:off x="7635240" y="1920240"/>
            <a:ext cx="4114800" cy="626364"/>
          </a:xfrm>
          <a:prstGeom prst="rect">
            <a:avLst/>
          </a:prstGeom>
          <a:solidFill>
            <a:srgbClr val="E3F2F1"/>
          </a:solidFill>
          <a:ln w="9525">
            <a:solidFill>
              <a:srgbClr val="DCE1E2"/>
            </a:solidFill>
            <a:prstDash val="solid"/>
          </a:ln>
        </p:spPr>
        <p:txBody>
          <a:bodyPr/>
          <a:lstStyle/>
          <a:p>
            <a:endParaRPr lang="ar-EG"/>
          </a:p>
        </p:txBody>
      </p:sp>
      <p:sp>
        <p:nvSpPr>
          <p:cNvPr id="18" name="Text 16"/>
          <p:cNvSpPr/>
          <p:nvPr/>
        </p:nvSpPr>
        <p:spPr>
          <a:xfrm>
            <a:off x="7744968" y="1920240"/>
            <a:ext cx="3895344" cy="626364"/>
          </a:xfrm>
          <a:prstGeom prst="rect">
            <a:avLst/>
          </a:prstGeom>
          <a:noFill/>
        </p:spPr>
        <p:txBody>
          <a:bodyPr wrap="square" rtlCol="0" anchor="ctr"/>
          <a:lstStyle/>
          <a:p>
            <a:pPr marL="0" indent="0">
              <a:lnSpc>
                <a:spcPts val="1150"/>
              </a:lnSpc>
              <a:buNone/>
            </a:pPr>
            <a:r>
              <a:rPr lang="en-US" sz="1000" b="1" dirty="0">
                <a:solidFill>
                  <a:srgbClr val="0A5F5E"/>
                </a:solidFill>
                <a:latin typeface="Calibri" panose="020F0502020204030204" pitchFamily="34" charset="0"/>
                <a:ea typeface="Calibri" panose="020F0502020204030204" pitchFamily="34" charset="-122"/>
                <a:cs typeface="Calibri" panose="020F0502020204030204" pitchFamily="34" charset="-120"/>
              </a:rPr>
              <a:t>IAM: breached-password detection, Conditional Access risk policy</a:t>
            </a:r>
            <a:endParaRPr lang="en-US" sz="1000" dirty="0"/>
          </a:p>
        </p:txBody>
      </p:sp>
      <p:sp>
        <p:nvSpPr>
          <p:cNvPr id="19" name="Shape 17"/>
          <p:cNvSpPr/>
          <p:nvPr/>
        </p:nvSpPr>
        <p:spPr>
          <a:xfrm>
            <a:off x="502920" y="2546604"/>
            <a:ext cx="2560320" cy="626364"/>
          </a:xfrm>
          <a:prstGeom prst="rect">
            <a:avLst/>
          </a:prstGeom>
          <a:solidFill>
            <a:srgbClr val="F5F6F6"/>
          </a:solidFill>
          <a:ln w="9525">
            <a:solidFill>
              <a:srgbClr val="DCE1E2"/>
            </a:solidFill>
            <a:prstDash val="solid"/>
          </a:ln>
        </p:spPr>
        <p:txBody>
          <a:bodyPr/>
          <a:lstStyle/>
          <a:p>
            <a:endParaRPr lang="ar-EG"/>
          </a:p>
        </p:txBody>
      </p:sp>
      <p:sp>
        <p:nvSpPr>
          <p:cNvPr id="20" name="Text 18"/>
          <p:cNvSpPr/>
          <p:nvPr/>
        </p:nvSpPr>
        <p:spPr>
          <a:xfrm>
            <a:off x="612648" y="2546604"/>
            <a:ext cx="2340864" cy="626364"/>
          </a:xfrm>
          <a:prstGeom prst="rect">
            <a:avLst/>
          </a:prstGeom>
          <a:noFill/>
        </p:spPr>
        <p:txBody>
          <a:bodyPr wrap="square" rtlCol="0" anchor="ctr"/>
          <a:lstStyle/>
          <a:p>
            <a:pPr marL="0" indent="0">
              <a:lnSpc>
                <a:spcPts val="1150"/>
              </a:lnSpc>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2. MFA Bombing</a:t>
            </a:r>
            <a:endParaRPr lang="en-US" sz="1000" dirty="0"/>
          </a:p>
        </p:txBody>
      </p:sp>
      <p:sp>
        <p:nvSpPr>
          <p:cNvPr id="21" name="Shape 19"/>
          <p:cNvSpPr/>
          <p:nvPr/>
        </p:nvSpPr>
        <p:spPr>
          <a:xfrm>
            <a:off x="3063240" y="2546604"/>
            <a:ext cx="4572000" cy="626364"/>
          </a:xfrm>
          <a:prstGeom prst="rect">
            <a:avLst/>
          </a:prstGeom>
          <a:solidFill>
            <a:srgbClr val="F5F6F6"/>
          </a:solidFill>
          <a:ln w="9525">
            <a:solidFill>
              <a:srgbClr val="DCE1E2"/>
            </a:solidFill>
            <a:prstDash val="solid"/>
          </a:ln>
        </p:spPr>
        <p:txBody>
          <a:bodyPr/>
          <a:lstStyle/>
          <a:p>
            <a:endParaRPr lang="ar-EG"/>
          </a:p>
        </p:txBody>
      </p:sp>
      <p:sp>
        <p:nvSpPr>
          <p:cNvPr id="22" name="Text 20"/>
          <p:cNvSpPr/>
          <p:nvPr/>
        </p:nvSpPr>
        <p:spPr>
          <a:xfrm>
            <a:off x="3172968" y="2546604"/>
            <a:ext cx="4352544" cy="626364"/>
          </a:xfrm>
          <a:prstGeom prst="rect">
            <a:avLst/>
          </a:prstGeom>
          <a:noFill/>
        </p:spPr>
        <p:txBody>
          <a:bodyPr wrap="square" rtlCol="0" anchor="ctr"/>
          <a:lstStyle/>
          <a:p>
            <a:pPr marL="0" indent="0">
              <a:lnSpc>
                <a:spcPts val="115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Dozens of push notifications sent within an hour</a:t>
            </a:r>
            <a:endParaRPr lang="en-US" sz="1000" dirty="0"/>
          </a:p>
        </p:txBody>
      </p:sp>
      <p:sp>
        <p:nvSpPr>
          <p:cNvPr id="23" name="Shape 21"/>
          <p:cNvSpPr/>
          <p:nvPr/>
        </p:nvSpPr>
        <p:spPr>
          <a:xfrm>
            <a:off x="7635240" y="2546604"/>
            <a:ext cx="4114800" cy="626364"/>
          </a:xfrm>
          <a:prstGeom prst="rect">
            <a:avLst/>
          </a:prstGeom>
          <a:solidFill>
            <a:srgbClr val="E3F2F1"/>
          </a:solidFill>
          <a:ln w="9525">
            <a:solidFill>
              <a:srgbClr val="DCE1E2"/>
            </a:solidFill>
            <a:prstDash val="solid"/>
          </a:ln>
        </p:spPr>
        <p:txBody>
          <a:bodyPr/>
          <a:lstStyle/>
          <a:p>
            <a:endParaRPr lang="ar-EG"/>
          </a:p>
        </p:txBody>
      </p:sp>
      <p:sp>
        <p:nvSpPr>
          <p:cNvPr id="24" name="Text 22"/>
          <p:cNvSpPr/>
          <p:nvPr/>
        </p:nvSpPr>
        <p:spPr>
          <a:xfrm>
            <a:off x="7744968" y="2546604"/>
            <a:ext cx="3895344" cy="626364"/>
          </a:xfrm>
          <a:prstGeom prst="rect">
            <a:avLst/>
          </a:prstGeom>
          <a:noFill/>
        </p:spPr>
        <p:txBody>
          <a:bodyPr wrap="square" rtlCol="0" anchor="ctr"/>
          <a:lstStyle/>
          <a:p>
            <a:pPr marL="0" indent="0">
              <a:lnSpc>
                <a:spcPts val="1150"/>
              </a:lnSpc>
              <a:buNone/>
            </a:pPr>
            <a:r>
              <a:rPr lang="en-US" sz="1000" b="1" dirty="0">
                <a:solidFill>
                  <a:srgbClr val="0A5F5E"/>
                </a:solidFill>
                <a:latin typeface="Calibri" panose="020F0502020204030204" pitchFamily="34" charset="0"/>
                <a:ea typeface="Calibri" panose="020F0502020204030204" pitchFamily="34" charset="-122"/>
                <a:cs typeface="Calibri" panose="020F0502020204030204" pitchFamily="34" charset="-120"/>
              </a:rPr>
              <a:t>MFA: rate-limit/throttle repeated push requests</a:t>
            </a:r>
            <a:endParaRPr lang="en-US" sz="1000" dirty="0"/>
          </a:p>
        </p:txBody>
      </p:sp>
      <p:sp>
        <p:nvSpPr>
          <p:cNvPr id="25" name="Shape 23"/>
          <p:cNvSpPr/>
          <p:nvPr/>
        </p:nvSpPr>
        <p:spPr>
          <a:xfrm>
            <a:off x="502920" y="3172968"/>
            <a:ext cx="2560320" cy="626364"/>
          </a:xfrm>
          <a:prstGeom prst="rect">
            <a:avLst/>
          </a:prstGeom>
          <a:solidFill>
            <a:srgbClr val="FFFFFF"/>
          </a:solidFill>
          <a:ln w="9525">
            <a:solidFill>
              <a:srgbClr val="DCE1E2"/>
            </a:solidFill>
            <a:prstDash val="solid"/>
          </a:ln>
        </p:spPr>
        <p:txBody>
          <a:bodyPr/>
          <a:lstStyle/>
          <a:p>
            <a:endParaRPr lang="ar-EG"/>
          </a:p>
        </p:txBody>
      </p:sp>
      <p:sp>
        <p:nvSpPr>
          <p:cNvPr id="26" name="Text 24"/>
          <p:cNvSpPr/>
          <p:nvPr/>
        </p:nvSpPr>
        <p:spPr>
          <a:xfrm>
            <a:off x="612648" y="3172968"/>
            <a:ext cx="2340864" cy="626364"/>
          </a:xfrm>
          <a:prstGeom prst="rect">
            <a:avLst/>
          </a:prstGeom>
          <a:noFill/>
        </p:spPr>
        <p:txBody>
          <a:bodyPr wrap="square" rtlCol="0" anchor="ctr"/>
          <a:lstStyle/>
          <a:p>
            <a:pPr marL="0" indent="0">
              <a:lnSpc>
                <a:spcPts val="1150"/>
              </a:lnSpc>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3. Social Engineering</a:t>
            </a:r>
            <a:endParaRPr lang="en-US" sz="1000" dirty="0"/>
          </a:p>
        </p:txBody>
      </p:sp>
      <p:sp>
        <p:nvSpPr>
          <p:cNvPr id="27" name="Shape 25"/>
          <p:cNvSpPr/>
          <p:nvPr/>
        </p:nvSpPr>
        <p:spPr>
          <a:xfrm>
            <a:off x="3063240" y="3172968"/>
            <a:ext cx="4572000" cy="626364"/>
          </a:xfrm>
          <a:prstGeom prst="rect">
            <a:avLst/>
          </a:prstGeom>
          <a:solidFill>
            <a:srgbClr val="FFFFFF"/>
          </a:solidFill>
          <a:ln w="9525">
            <a:solidFill>
              <a:srgbClr val="DCE1E2"/>
            </a:solidFill>
            <a:prstDash val="solid"/>
          </a:ln>
        </p:spPr>
        <p:txBody>
          <a:bodyPr/>
          <a:lstStyle/>
          <a:p>
            <a:endParaRPr lang="ar-EG"/>
          </a:p>
        </p:txBody>
      </p:sp>
      <p:sp>
        <p:nvSpPr>
          <p:cNvPr id="28" name="Text 26"/>
          <p:cNvSpPr/>
          <p:nvPr/>
        </p:nvSpPr>
        <p:spPr>
          <a:xfrm>
            <a:off x="3172968" y="3172968"/>
            <a:ext cx="4352544" cy="626364"/>
          </a:xfrm>
          <a:prstGeom prst="rect">
            <a:avLst/>
          </a:prstGeom>
          <a:noFill/>
        </p:spPr>
        <p:txBody>
          <a:bodyPr wrap="square" rtlCol="0" anchor="ctr"/>
          <a:lstStyle/>
          <a:p>
            <a:pPr marL="0" indent="0">
              <a:lnSpc>
                <a:spcPts val="115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Attacker posed as IT support via WhatsApp</a:t>
            </a:r>
            <a:endParaRPr lang="en-US" sz="1000" dirty="0"/>
          </a:p>
        </p:txBody>
      </p:sp>
      <p:sp>
        <p:nvSpPr>
          <p:cNvPr id="29" name="Shape 27"/>
          <p:cNvSpPr/>
          <p:nvPr/>
        </p:nvSpPr>
        <p:spPr>
          <a:xfrm>
            <a:off x="7635240" y="3172968"/>
            <a:ext cx="4114800" cy="626364"/>
          </a:xfrm>
          <a:prstGeom prst="rect">
            <a:avLst/>
          </a:prstGeom>
          <a:solidFill>
            <a:srgbClr val="E3F2F1"/>
          </a:solidFill>
          <a:ln w="9525">
            <a:solidFill>
              <a:srgbClr val="DCE1E2"/>
            </a:solidFill>
            <a:prstDash val="solid"/>
          </a:ln>
        </p:spPr>
        <p:txBody>
          <a:bodyPr/>
          <a:lstStyle/>
          <a:p>
            <a:endParaRPr lang="ar-EG"/>
          </a:p>
        </p:txBody>
      </p:sp>
      <p:sp>
        <p:nvSpPr>
          <p:cNvPr id="30" name="Text 28"/>
          <p:cNvSpPr/>
          <p:nvPr/>
        </p:nvSpPr>
        <p:spPr>
          <a:xfrm>
            <a:off x="7744968" y="3172968"/>
            <a:ext cx="3895344" cy="626364"/>
          </a:xfrm>
          <a:prstGeom prst="rect">
            <a:avLst/>
          </a:prstGeom>
          <a:noFill/>
        </p:spPr>
        <p:txBody>
          <a:bodyPr wrap="square" rtlCol="0" anchor="ctr"/>
          <a:lstStyle/>
          <a:p>
            <a:pPr marL="0" indent="0">
              <a:lnSpc>
                <a:spcPts val="1150"/>
              </a:lnSpc>
              <a:buNone/>
            </a:pPr>
            <a:r>
              <a:rPr lang="en-US" sz="1000" b="1" dirty="0">
                <a:solidFill>
                  <a:srgbClr val="0A5F5E"/>
                </a:solidFill>
                <a:latin typeface="Calibri" panose="020F0502020204030204" pitchFamily="34" charset="0"/>
                <a:ea typeface="Calibri" panose="020F0502020204030204" pitchFamily="34" charset="-122"/>
                <a:cs typeface="Calibri" panose="020F0502020204030204" pitchFamily="34" charset="-120"/>
              </a:rPr>
              <a:t>Awareness training + number-matching MFA</a:t>
            </a:r>
            <a:endParaRPr lang="en-US" sz="1000" dirty="0"/>
          </a:p>
        </p:txBody>
      </p:sp>
      <p:sp>
        <p:nvSpPr>
          <p:cNvPr id="31" name="Shape 29"/>
          <p:cNvSpPr/>
          <p:nvPr/>
        </p:nvSpPr>
        <p:spPr>
          <a:xfrm>
            <a:off x="502920" y="3799332"/>
            <a:ext cx="2560320" cy="626364"/>
          </a:xfrm>
          <a:prstGeom prst="rect">
            <a:avLst/>
          </a:prstGeom>
          <a:solidFill>
            <a:srgbClr val="F5F6F6"/>
          </a:solidFill>
          <a:ln w="9525">
            <a:solidFill>
              <a:srgbClr val="DCE1E2"/>
            </a:solidFill>
            <a:prstDash val="solid"/>
          </a:ln>
        </p:spPr>
        <p:txBody>
          <a:bodyPr/>
          <a:lstStyle/>
          <a:p>
            <a:endParaRPr lang="ar-EG"/>
          </a:p>
        </p:txBody>
      </p:sp>
      <p:sp>
        <p:nvSpPr>
          <p:cNvPr id="32" name="Text 30"/>
          <p:cNvSpPr/>
          <p:nvPr/>
        </p:nvSpPr>
        <p:spPr>
          <a:xfrm>
            <a:off x="612648" y="3799332"/>
            <a:ext cx="2340864" cy="626364"/>
          </a:xfrm>
          <a:prstGeom prst="rect">
            <a:avLst/>
          </a:prstGeom>
          <a:noFill/>
        </p:spPr>
        <p:txBody>
          <a:bodyPr wrap="square" rtlCol="0" anchor="ctr"/>
          <a:lstStyle/>
          <a:p>
            <a:pPr marL="0" indent="0">
              <a:lnSpc>
                <a:spcPts val="1150"/>
              </a:lnSpc>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4. Fatigue Approval</a:t>
            </a:r>
            <a:endParaRPr lang="en-US" sz="1000" dirty="0"/>
          </a:p>
        </p:txBody>
      </p:sp>
      <p:sp>
        <p:nvSpPr>
          <p:cNvPr id="33" name="Shape 31"/>
          <p:cNvSpPr/>
          <p:nvPr/>
        </p:nvSpPr>
        <p:spPr>
          <a:xfrm>
            <a:off x="3063240" y="3799332"/>
            <a:ext cx="4572000" cy="626364"/>
          </a:xfrm>
          <a:prstGeom prst="rect">
            <a:avLst/>
          </a:prstGeom>
          <a:solidFill>
            <a:srgbClr val="F5F6F6"/>
          </a:solidFill>
          <a:ln w="9525">
            <a:solidFill>
              <a:srgbClr val="DCE1E2"/>
            </a:solidFill>
            <a:prstDash val="solid"/>
          </a:ln>
        </p:spPr>
        <p:txBody>
          <a:bodyPr/>
          <a:lstStyle/>
          <a:p>
            <a:endParaRPr lang="ar-EG"/>
          </a:p>
        </p:txBody>
      </p:sp>
      <p:sp>
        <p:nvSpPr>
          <p:cNvPr id="34" name="Text 32"/>
          <p:cNvSpPr/>
          <p:nvPr/>
        </p:nvSpPr>
        <p:spPr>
          <a:xfrm>
            <a:off x="3172968" y="3799332"/>
            <a:ext cx="4352544" cy="626364"/>
          </a:xfrm>
          <a:prstGeom prst="rect">
            <a:avLst/>
          </a:prstGeom>
          <a:noFill/>
        </p:spPr>
        <p:txBody>
          <a:bodyPr wrap="square" rtlCol="0" anchor="ctr"/>
          <a:lstStyle/>
          <a:p>
            <a:pPr marL="0" indent="0">
              <a:lnSpc>
                <a:spcPts val="115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Contractor approved a push to stop the notifications</a:t>
            </a:r>
            <a:endParaRPr lang="en-US" sz="1000" dirty="0"/>
          </a:p>
        </p:txBody>
      </p:sp>
      <p:sp>
        <p:nvSpPr>
          <p:cNvPr id="35" name="Shape 33"/>
          <p:cNvSpPr/>
          <p:nvPr/>
        </p:nvSpPr>
        <p:spPr>
          <a:xfrm>
            <a:off x="7635240" y="3799332"/>
            <a:ext cx="4114800" cy="626364"/>
          </a:xfrm>
          <a:prstGeom prst="rect">
            <a:avLst/>
          </a:prstGeom>
          <a:solidFill>
            <a:srgbClr val="E3F2F1"/>
          </a:solidFill>
          <a:ln w="9525">
            <a:solidFill>
              <a:srgbClr val="DCE1E2"/>
            </a:solidFill>
            <a:prstDash val="solid"/>
          </a:ln>
        </p:spPr>
        <p:txBody>
          <a:bodyPr/>
          <a:lstStyle/>
          <a:p>
            <a:endParaRPr lang="ar-EG"/>
          </a:p>
        </p:txBody>
      </p:sp>
      <p:sp>
        <p:nvSpPr>
          <p:cNvPr id="36" name="Text 34"/>
          <p:cNvSpPr/>
          <p:nvPr/>
        </p:nvSpPr>
        <p:spPr>
          <a:xfrm>
            <a:off x="7744968" y="3799332"/>
            <a:ext cx="3895344" cy="626364"/>
          </a:xfrm>
          <a:prstGeom prst="rect">
            <a:avLst/>
          </a:prstGeom>
          <a:noFill/>
        </p:spPr>
        <p:txBody>
          <a:bodyPr wrap="square" rtlCol="0" anchor="ctr"/>
          <a:lstStyle/>
          <a:p>
            <a:pPr marL="0" indent="0">
              <a:lnSpc>
                <a:spcPts val="1150"/>
              </a:lnSpc>
              <a:buNone/>
            </a:pPr>
            <a:r>
              <a:rPr lang="en-US" sz="1000" b="1" dirty="0">
                <a:solidFill>
                  <a:srgbClr val="0A5F5E"/>
                </a:solidFill>
                <a:latin typeface="Calibri" panose="020F0502020204030204" pitchFamily="34" charset="0"/>
                <a:ea typeface="Calibri" panose="020F0502020204030204" pitchFamily="34" charset="-122"/>
                <a:cs typeface="Calibri" panose="020F0502020204030204" pitchFamily="34" charset="-120"/>
              </a:rPr>
              <a:t>MFA: phishing-resistant FIDO2 (no push to approve)</a:t>
            </a:r>
            <a:endParaRPr lang="en-US" sz="1000" dirty="0"/>
          </a:p>
        </p:txBody>
      </p:sp>
      <p:sp>
        <p:nvSpPr>
          <p:cNvPr id="37" name="Shape 35"/>
          <p:cNvSpPr/>
          <p:nvPr/>
        </p:nvSpPr>
        <p:spPr>
          <a:xfrm>
            <a:off x="502920" y="4425696"/>
            <a:ext cx="2560320" cy="626364"/>
          </a:xfrm>
          <a:prstGeom prst="rect">
            <a:avLst/>
          </a:prstGeom>
          <a:solidFill>
            <a:srgbClr val="FFFFFF"/>
          </a:solidFill>
          <a:ln w="9525">
            <a:solidFill>
              <a:srgbClr val="DCE1E2"/>
            </a:solidFill>
            <a:prstDash val="solid"/>
          </a:ln>
        </p:spPr>
        <p:txBody>
          <a:bodyPr/>
          <a:lstStyle/>
          <a:p>
            <a:endParaRPr lang="ar-EG"/>
          </a:p>
        </p:txBody>
      </p:sp>
      <p:sp>
        <p:nvSpPr>
          <p:cNvPr id="38" name="Text 36"/>
          <p:cNvSpPr/>
          <p:nvPr/>
        </p:nvSpPr>
        <p:spPr>
          <a:xfrm>
            <a:off x="612648" y="4425696"/>
            <a:ext cx="2340864" cy="626364"/>
          </a:xfrm>
          <a:prstGeom prst="rect">
            <a:avLst/>
          </a:prstGeom>
          <a:noFill/>
        </p:spPr>
        <p:txBody>
          <a:bodyPr wrap="square" rtlCol="0" anchor="ctr"/>
          <a:lstStyle/>
          <a:p>
            <a:pPr marL="0" indent="0">
              <a:lnSpc>
                <a:spcPts val="1150"/>
              </a:lnSpc>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5. Lateral Movement</a:t>
            </a:r>
            <a:endParaRPr lang="en-US" sz="1000" dirty="0"/>
          </a:p>
        </p:txBody>
      </p:sp>
      <p:sp>
        <p:nvSpPr>
          <p:cNvPr id="39" name="Shape 37"/>
          <p:cNvSpPr/>
          <p:nvPr/>
        </p:nvSpPr>
        <p:spPr>
          <a:xfrm>
            <a:off x="3063240" y="4425696"/>
            <a:ext cx="4572000" cy="626364"/>
          </a:xfrm>
          <a:prstGeom prst="rect">
            <a:avLst/>
          </a:prstGeom>
          <a:solidFill>
            <a:srgbClr val="FFFFFF"/>
          </a:solidFill>
          <a:ln w="9525">
            <a:solidFill>
              <a:srgbClr val="DCE1E2"/>
            </a:solidFill>
            <a:prstDash val="solid"/>
          </a:ln>
        </p:spPr>
        <p:txBody>
          <a:bodyPr/>
          <a:lstStyle/>
          <a:p>
            <a:endParaRPr lang="ar-EG"/>
          </a:p>
        </p:txBody>
      </p:sp>
      <p:sp>
        <p:nvSpPr>
          <p:cNvPr id="40" name="Text 38"/>
          <p:cNvSpPr/>
          <p:nvPr/>
        </p:nvSpPr>
        <p:spPr>
          <a:xfrm>
            <a:off x="3172968" y="4425696"/>
            <a:ext cx="4352544" cy="626364"/>
          </a:xfrm>
          <a:prstGeom prst="rect">
            <a:avLst/>
          </a:prstGeom>
          <a:noFill/>
        </p:spPr>
        <p:txBody>
          <a:bodyPr wrap="square" rtlCol="0" anchor="ctr"/>
          <a:lstStyle/>
          <a:p>
            <a:pPr marL="0" indent="0">
              <a:lnSpc>
                <a:spcPts val="115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Found hardcoded PAM tool credentials on a network share</a:t>
            </a:r>
            <a:endParaRPr lang="en-US" sz="1000" dirty="0"/>
          </a:p>
        </p:txBody>
      </p:sp>
      <p:sp>
        <p:nvSpPr>
          <p:cNvPr id="41" name="Shape 39"/>
          <p:cNvSpPr/>
          <p:nvPr/>
        </p:nvSpPr>
        <p:spPr>
          <a:xfrm>
            <a:off x="7635240" y="4425696"/>
            <a:ext cx="4114800" cy="626364"/>
          </a:xfrm>
          <a:prstGeom prst="rect">
            <a:avLst/>
          </a:prstGeom>
          <a:solidFill>
            <a:srgbClr val="E3F2F1"/>
          </a:solidFill>
          <a:ln w="9525">
            <a:solidFill>
              <a:srgbClr val="DCE1E2"/>
            </a:solidFill>
            <a:prstDash val="solid"/>
          </a:ln>
        </p:spPr>
        <p:txBody>
          <a:bodyPr/>
          <a:lstStyle/>
          <a:p>
            <a:endParaRPr lang="ar-EG"/>
          </a:p>
        </p:txBody>
      </p:sp>
      <p:sp>
        <p:nvSpPr>
          <p:cNvPr id="42" name="Text 40"/>
          <p:cNvSpPr/>
          <p:nvPr/>
        </p:nvSpPr>
        <p:spPr>
          <a:xfrm>
            <a:off x="7744968" y="4425696"/>
            <a:ext cx="3895344" cy="626364"/>
          </a:xfrm>
          <a:prstGeom prst="rect">
            <a:avLst/>
          </a:prstGeom>
          <a:noFill/>
        </p:spPr>
        <p:txBody>
          <a:bodyPr wrap="square" rtlCol="0" anchor="ctr"/>
          <a:lstStyle/>
          <a:p>
            <a:pPr marL="0" indent="0">
              <a:lnSpc>
                <a:spcPts val="1150"/>
              </a:lnSpc>
              <a:buNone/>
            </a:pPr>
            <a:r>
              <a:rPr lang="en-US" sz="1000" b="1" dirty="0">
                <a:solidFill>
                  <a:srgbClr val="0A5F5E"/>
                </a:solidFill>
                <a:latin typeface="Calibri" panose="020F0502020204030204" pitchFamily="34" charset="0"/>
                <a:ea typeface="Calibri" panose="020F0502020204030204" pitchFamily="34" charset="-122"/>
                <a:cs typeface="Calibri" panose="020F0502020204030204" pitchFamily="34" charset="-120"/>
              </a:rPr>
              <a:t>PAM: credential vaulting — no plaintext secrets stored</a:t>
            </a:r>
            <a:endParaRPr lang="en-US" sz="1000" dirty="0"/>
          </a:p>
        </p:txBody>
      </p:sp>
      <p:sp>
        <p:nvSpPr>
          <p:cNvPr id="43" name="Shape 41"/>
          <p:cNvSpPr/>
          <p:nvPr/>
        </p:nvSpPr>
        <p:spPr>
          <a:xfrm>
            <a:off x="502920" y="5052060"/>
            <a:ext cx="2560320" cy="626364"/>
          </a:xfrm>
          <a:prstGeom prst="rect">
            <a:avLst/>
          </a:prstGeom>
          <a:solidFill>
            <a:srgbClr val="F5F6F6"/>
          </a:solidFill>
          <a:ln w="9525">
            <a:solidFill>
              <a:srgbClr val="DCE1E2"/>
            </a:solidFill>
            <a:prstDash val="solid"/>
          </a:ln>
        </p:spPr>
        <p:txBody>
          <a:bodyPr/>
          <a:lstStyle/>
          <a:p>
            <a:endParaRPr lang="ar-EG"/>
          </a:p>
        </p:txBody>
      </p:sp>
      <p:sp>
        <p:nvSpPr>
          <p:cNvPr id="44" name="Text 42"/>
          <p:cNvSpPr/>
          <p:nvPr/>
        </p:nvSpPr>
        <p:spPr>
          <a:xfrm>
            <a:off x="612648" y="5052060"/>
            <a:ext cx="2340864" cy="626364"/>
          </a:xfrm>
          <a:prstGeom prst="rect">
            <a:avLst/>
          </a:prstGeom>
          <a:noFill/>
        </p:spPr>
        <p:txBody>
          <a:bodyPr wrap="square" rtlCol="0" anchor="ctr"/>
          <a:lstStyle/>
          <a:p>
            <a:pPr marL="0" indent="0">
              <a:lnSpc>
                <a:spcPts val="1150"/>
              </a:lnSpc>
              <a:buNone/>
            </a:pPr>
            <a:r>
              <a:rPr lang="en-US" sz="1000" b="1" dirty="0">
                <a:solidFill>
                  <a:srgbClr val="2B2D2F"/>
                </a:solidFill>
                <a:latin typeface="Calibri" panose="020F0502020204030204" pitchFamily="34" charset="0"/>
                <a:ea typeface="Calibri" panose="020F0502020204030204" pitchFamily="34" charset="-122"/>
                <a:cs typeface="Calibri" panose="020F0502020204030204" pitchFamily="34" charset="-120"/>
              </a:rPr>
              <a:t>6. Privilege Escalation</a:t>
            </a:r>
            <a:endParaRPr lang="en-US" sz="1000" dirty="0"/>
          </a:p>
        </p:txBody>
      </p:sp>
      <p:sp>
        <p:nvSpPr>
          <p:cNvPr id="45" name="Shape 43"/>
          <p:cNvSpPr/>
          <p:nvPr/>
        </p:nvSpPr>
        <p:spPr>
          <a:xfrm>
            <a:off x="3063240" y="5052060"/>
            <a:ext cx="4572000" cy="626364"/>
          </a:xfrm>
          <a:prstGeom prst="rect">
            <a:avLst/>
          </a:prstGeom>
          <a:solidFill>
            <a:srgbClr val="F5F6F6"/>
          </a:solidFill>
          <a:ln w="9525">
            <a:solidFill>
              <a:srgbClr val="DCE1E2"/>
            </a:solidFill>
            <a:prstDash val="solid"/>
          </a:ln>
        </p:spPr>
        <p:txBody>
          <a:bodyPr/>
          <a:lstStyle/>
          <a:p>
            <a:endParaRPr lang="ar-EG"/>
          </a:p>
        </p:txBody>
      </p:sp>
      <p:sp>
        <p:nvSpPr>
          <p:cNvPr id="46" name="Text 44"/>
          <p:cNvSpPr/>
          <p:nvPr/>
        </p:nvSpPr>
        <p:spPr>
          <a:xfrm>
            <a:off x="3172968" y="5052060"/>
            <a:ext cx="4352544" cy="626364"/>
          </a:xfrm>
          <a:prstGeom prst="rect">
            <a:avLst/>
          </a:prstGeom>
          <a:noFill/>
        </p:spPr>
        <p:txBody>
          <a:bodyPr wrap="square" rtlCol="0" anchor="ctr"/>
          <a:lstStyle/>
          <a:p>
            <a:pPr marL="0" indent="0">
              <a:lnSpc>
                <a:spcPts val="1150"/>
              </a:lnSpc>
              <a:buNone/>
            </a:pPr>
            <a:r>
              <a:rPr lang="en-US" sz="1000" dirty="0">
                <a:solidFill>
                  <a:srgbClr val="5B6670"/>
                </a:solidFill>
                <a:latin typeface="Calibri" panose="020F0502020204030204" pitchFamily="34" charset="0"/>
                <a:ea typeface="Calibri" panose="020F0502020204030204" pitchFamily="34" charset="-122"/>
                <a:cs typeface="Calibri" panose="020F0502020204030204" pitchFamily="34" charset="-120"/>
              </a:rPr>
              <a:t>Gained admin access to Slack, AWS, Google Workspace</a:t>
            </a:r>
            <a:endParaRPr lang="en-US" sz="1000" dirty="0"/>
          </a:p>
        </p:txBody>
      </p:sp>
      <p:sp>
        <p:nvSpPr>
          <p:cNvPr id="47" name="Shape 45"/>
          <p:cNvSpPr/>
          <p:nvPr/>
        </p:nvSpPr>
        <p:spPr>
          <a:xfrm>
            <a:off x="7635240" y="5052060"/>
            <a:ext cx="4114800" cy="626364"/>
          </a:xfrm>
          <a:prstGeom prst="rect">
            <a:avLst/>
          </a:prstGeom>
          <a:solidFill>
            <a:srgbClr val="E3F2F1"/>
          </a:solidFill>
          <a:ln w="9525">
            <a:solidFill>
              <a:srgbClr val="DCE1E2"/>
            </a:solidFill>
            <a:prstDash val="solid"/>
          </a:ln>
        </p:spPr>
        <p:txBody>
          <a:bodyPr/>
          <a:lstStyle/>
          <a:p>
            <a:endParaRPr lang="ar-EG"/>
          </a:p>
        </p:txBody>
      </p:sp>
      <p:sp>
        <p:nvSpPr>
          <p:cNvPr id="48" name="Text 46"/>
          <p:cNvSpPr/>
          <p:nvPr/>
        </p:nvSpPr>
        <p:spPr>
          <a:xfrm>
            <a:off x="7744968" y="5052060"/>
            <a:ext cx="3895344" cy="626364"/>
          </a:xfrm>
          <a:prstGeom prst="rect">
            <a:avLst/>
          </a:prstGeom>
          <a:noFill/>
        </p:spPr>
        <p:txBody>
          <a:bodyPr wrap="square" rtlCol="0" anchor="ctr"/>
          <a:lstStyle/>
          <a:p>
            <a:pPr marL="0" indent="0">
              <a:lnSpc>
                <a:spcPts val="1150"/>
              </a:lnSpc>
              <a:buNone/>
            </a:pPr>
            <a:r>
              <a:rPr lang="en-US" sz="1000" b="1" dirty="0">
                <a:solidFill>
                  <a:srgbClr val="0A5F5E"/>
                </a:solidFill>
                <a:latin typeface="Calibri" panose="020F0502020204030204" pitchFamily="34" charset="0"/>
                <a:ea typeface="Calibri" panose="020F0502020204030204" pitchFamily="34" charset="-122"/>
                <a:cs typeface="Calibri" panose="020F0502020204030204" pitchFamily="34" charset="-120"/>
              </a:rPr>
              <a:t>PAM: JIT access, approval workflow, session recording</a:t>
            </a:r>
            <a:endParaRPr lang="en-US" sz="1000" dirty="0"/>
          </a:p>
        </p:txBody>
      </p:sp>
      <p:sp>
        <p:nvSpPr>
          <p:cNvPr id="49" name="Text 47"/>
          <p:cNvSpPr/>
          <p:nvPr/>
        </p:nvSpPr>
        <p:spPr>
          <a:xfrm>
            <a:off x="502920" y="5815584"/>
            <a:ext cx="11247120" cy="457200"/>
          </a:xfrm>
          <a:prstGeom prst="rect">
            <a:avLst/>
          </a:prstGeom>
          <a:noFill/>
        </p:spPr>
        <p:txBody>
          <a:bodyPr wrap="square" rtlCol="0" anchor="ctr"/>
          <a:lstStyle/>
          <a:p>
            <a:pPr marL="0" indent="0">
              <a:buNone/>
            </a:pPr>
            <a:r>
              <a:rPr lang="en-US" sz="1200" i="1" dirty="0">
                <a:solidFill>
                  <a:srgbClr val="5B6670"/>
                </a:solidFill>
                <a:latin typeface="Calibri" panose="020F0502020204030204" pitchFamily="34" charset="0"/>
                <a:ea typeface="Calibri" panose="020F0502020204030204" pitchFamily="34" charset="-122"/>
                <a:cs typeface="Calibri" panose="020F0502020204030204" pitchFamily="34" charset="-120"/>
              </a:rPr>
              <a:t>Lesson: no single control stops MFA fatigue attacks. Defense requires layered IAM + MFA + PAM controls working together — this is Zero Trust in practice.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B2D2F"/>
        </a:solidFill>
        <a:effectLst/>
      </p:bgPr>
    </p:bg>
    <p:spTree>
      <p:nvGrpSpPr>
        <p:cNvPr id="1" name=""/>
        <p:cNvGrpSpPr/>
        <p:nvPr/>
      </p:nvGrpSpPr>
      <p:grpSpPr>
        <a:xfrm>
          <a:off x="0" y="0"/>
          <a:ext cx="0" cy="0"/>
          <a:chOff x="0" y="0"/>
          <a:chExt cx="0" cy="0"/>
        </a:xfrm>
      </p:grpSpPr>
      <p:sp>
        <p:nvSpPr>
          <p:cNvPr id="2" name="Shape 0"/>
          <p:cNvSpPr/>
          <p:nvPr/>
        </p:nvSpPr>
        <p:spPr>
          <a:xfrm>
            <a:off x="9052560" y="-2194560"/>
            <a:ext cx="6035040" cy="6035040"/>
          </a:xfrm>
          <a:prstGeom prst="ellipse">
            <a:avLst/>
          </a:prstGeom>
          <a:solidFill>
            <a:srgbClr val="0E7C7B">
              <a:alpha val="15000"/>
            </a:srgbClr>
          </a:solidFill>
        </p:spPr>
        <p:txBody>
          <a:bodyPr/>
          <a:lstStyle/>
          <a:p>
            <a:endParaRPr lang="ar-EG"/>
          </a:p>
        </p:txBody>
      </p:sp>
      <p:sp>
        <p:nvSpPr>
          <p:cNvPr id="3" name="Shape 1"/>
          <p:cNvSpPr/>
          <p:nvPr/>
        </p:nvSpPr>
        <p:spPr>
          <a:xfrm>
            <a:off x="-1737360" y="4114800"/>
            <a:ext cx="4023360" cy="4023360"/>
          </a:xfrm>
          <a:prstGeom prst="ellipse">
            <a:avLst/>
          </a:prstGeom>
          <a:solidFill>
            <a:srgbClr val="E8871E">
              <a:alpha val="12000"/>
            </a:srgbClr>
          </a:solidFill>
        </p:spPr>
        <p:txBody>
          <a:bodyPr/>
          <a:lstStyle/>
          <a:p>
            <a:endParaRPr lang="ar-EG"/>
          </a:p>
        </p:txBody>
      </p:sp>
      <p:sp>
        <p:nvSpPr>
          <p:cNvPr id="4" name="Text 2"/>
          <p:cNvSpPr/>
          <p:nvPr/>
        </p:nvSpPr>
        <p:spPr>
          <a:xfrm>
            <a:off x="640080" y="502920"/>
            <a:ext cx="7315200" cy="320040"/>
          </a:xfrm>
          <a:prstGeom prst="rect">
            <a:avLst/>
          </a:prstGeom>
          <a:noFill/>
        </p:spPr>
        <p:txBody>
          <a:bodyPr wrap="square" rtlCol="0" anchor="ctr"/>
          <a:lstStyle/>
          <a:p>
            <a:pPr marL="0" indent="0">
              <a:buNone/>
            </a:pPr>
            <a:r>
              <a:rPr lang="en-US" sz="1300" b="1" kern="0" spc="200" dirty="0">
                <a:solidFill>
                  <a:srgbClr val="0E7C7B"/>
                </a:solidFill>
                <a:latin typeface="Calibri" panose="020F0502020204030204" pitchFamily="34" charset="0"/>
                <a:ea typeface="Calibri" panose="020F0502020204030204" pitchFamily="34" charset="-122"/>
                <a:cs typeface="Calibri" panose="020F0502020204030204" pitchFamily="34" charset="-120"/>
              </a:rPr>
              <a:t>KEY TAKEAWAYS</a:t>
            </a:r>
            <a:endParaRPr lang="en-US" sz="1300" dirty="0"/>
          </a:p>
        </p:txBody>
      </p:sp>
      <p:sp>
        <p:nvSpPr>
          <p:cNvPr id="5" name="Text 3"/>
          <p:cNvSpPr/>
          <p:nvPr/>
        </p:nvSpPr>
        <p:spPr>
          <a:xfrm>
            <a:off x="621792" y="822960"/>
            <a:ext cx="9601200" cy="594360"/>
          </a:xfrm>
          <a:prstGeom prst="rect">
            <a:avLst/>
          </a:prstGeom>
          <a:noFill/>
        </p:spPr>
        <p:txBody>
          <a:bodyPr wrap="square"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Layered Identity Security Wins</a:t>
            </a:r>
            <a:endParaRPr lang="en-US" sz="2800" dirty="0"/>
          </a:p>
        </p:txBody>
      </p:sp>
      <p:sp>
        <p:nvSpPr>
          <p:cNvPr id="6" name="Shape 4"/>
          <p:cNvSpPr/>
          <p:nvPr/>
        </p:nvSpPr>
        <p:spPr>
          <a:xfrm>
            <a:off x="685800" y="1655064"/>
            <a:ext cx="256032" cy="256032"/>
          </a:xfrm>
          <a:prstGeom prst="ellipse">
            <a:avLst/>
          </a:prstGeom>
          <a:solidFill>
            <a:srgbClr val="0E7C7B"/>
          </a:solidFill>
        </p:spPr>
        <p:txBody>
          <a:bodyPr/>
          <a:lstStyle/>
          <a:p>
            <a:endParaRPr lang="ar-EG"/>
          </a:p>
        </p:txBody>
      </p:sp>
      <p:pic>
        <p:nvPicPr>
          <p:cNvPr id="7" name="Image 0" descr="/home/claude/deck/icons/check.png"/>
          <p:cNvPicPr>
            <a:picLocks noChangeAspect="1"/>
          </p:cNvPicPr>
          <p:nvPr/>
        </p:nvPicPr>
        <p:blipFill>
          <a:blip r:embed="rId3"/>
          <a:stretch>
            <a:fillRect/>
          </a:stretch>
        </p:blipFill>
        <p:spPr>
          <a:xfrm>
            <a:off x="749808" y="1719072"/>
            <a:ext cx="128016" cy="128016"/>
          </a:xfrm>
          <a:prstGeom prst="rect">
            <a:avLst/>
          </a:prstGeom>
        </p:spPr>
      </p:pic>
      <p:sp>
        <p:nvSpPr>
          <p:cNvPr id="8" name="Text 5"/>
          <p:cNvSpPr/>
          <p:nvPr/>
        </p:nvSpPr>
        <p:spPr>
          <a:xfrm>
            <a:off x="1143000" y="1572768"/>
            <a:ext cx="10241280" cy="32004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Identity is the new perimeter</a:t>
            </a:r>
            <a:endParaRPr lang="en-US" sz="1500" dirty="0"/>
          </a:p>
        </p:txBody>
      </p:sp>
      <p:sp>
        <p:nvSpPr>
          <p:cNvPr id="9" name="Text 6"/>
          <p:cNvSpPr/>
          <p:nvPr/>
        </p:nvSpPr>
        <p:spPr>
          <a:xfrm>
            <a:off x="1143000" y="1892808"/>
            <a:ext cx="10241280" cy="365760"/>
          </a:xfrm>
          <a:prstGeom prst="rect">
            <a:avLst/>
          </a:prstGeom>
          <a:noFill/>
        </p:spPr>
        <p:txBody>
          <a:bodyPr wrap="square" rtlCol="0" anchor="ctr"/>
          <a:lstStyle/>
          <a:p>
            <a:pPr marL="0" indent="0">
              <a:buNone/>
            </a:pPr>
            <a:r>
              <a:rPr lang="en-US" sz="1150" dirty="0">
                <a:solidFill>
                  <a:srgbClr val="C9CFD1"/>
                </a:solidFill>
                <a:latin typeface="Calibri" panose="020F0502020204030204" pitchFamily="34" charset="0"/>
                <a:ea typeface="Calibri" panose="020F0502020204030204" pitchFamily="34" charset="-122"/>
                <a:cs typeface="Calibri" panose="020F0502020204030204" pitchFamily="34" charset="-120"/>
              </a:rPr>
              <a:t>Zero Trust replaces implicit network trust with continuous identity verification</a:t>
            </a:r>
            <a:endParaRPr lang="en-US" sz="1150" dirty="0"/>
          </a:p>
        </p:txBody>
      </p:sp>
      <p:sp>
        <p:nvSpPr>
          <p:cNvPr id="10" name="Shape 7"/>
          <p:cNvSpPr/>
          <p:nvPr/>
        </p:nvSpPr>
        <p:spPr>
          <a:xfrm>
            <a:off x="685800" y="2496312"/>
            <a:ext cx="256032" cy="256032"/>
          </a:xfrm>
          <a:prstGeom prst="ellipse">
            <a:avLst/>
          </a:prstGeom>
          <a:solidFill>
            <a:srgbClr val="0E7C7B"/>
          </a:solidFill>
        </p:spPr>
        <p:txBody>
          <a:bodyPr/>
          <a:lstStyle/>
          <a:p>
            <a:endParaRPr lang="ar-EG"/>
          </a:p>
        </p:txBody>
      </p:sp>
      <p:pic>
        <p:nvPicPr>
          <p:cNvPr id="11" name="Image 1" descr="/home/claude/deck/icons/check.png"/>
          <p:cNvPicPr>
            <a:picLocks noChangeAspect="1"/>
          </p:cNvPicPr>
          <p:nvPr/>
        </p:nvPicPr>
        <p:blipFill>
          <a:blip r:embed="rId3"/>
          <a:stretch>
            <a:fillRect/>
          </a:stretch>
        </p:blipFill>
        <p:spPr>
          <a:xfrm>
            <a:off x="749808" y="2560320"/>
            <a:ext cx="128016" cy="128016"/>
          </a:xfrm>
          <a:prstGeom prst="rect">
            <a:avLst/>
          </a:prstGeom>
        </p:spPr>
      </p:pic>
      <p:sp>
        <p:nvSpPr>
          <p:cNvPr id="12" name="Text 8"/>
          <p:cNvSpPr/>
          <p:nvPr/>
        </p:nvSpPr>
        <p:spPr>
          <a:xfrm>
            <a:off x="1143000" y="2414016"/>
            <a:ext cx="10241280" cy="32004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Layer IAM, MFA &amp; PAM together</a:t>
            </a:r>
            <a:endParaRPr lang="en-US" sz="1500" dirty="0"/>
          </a:p>
        </p:txBody>
      </p:sp>
      <p:sp>
        <p:nvSpPr>
          <p:cNvPr id="13" name="Text 9"/>
          <p:cNvSpPr/>
          <p:nvPr/>
        </p:nvSpPr>
        <p:spPr>
          <a:xfrm>
            <a:off x="1143000" y="2734056"/>
            <a:ext cx="10241280" cy="365760"/>
          </a:xfrm>
          <a:prstGeom prst="rect">
            <a:avLst/>
          </a:prstGeom>
          <a:noFill/>
        </p:spPr>
        <p:txBody>
          <a:bodyPr wrap="square" rtlCol="0" anchor="ctr"/>
          <a:lstStyle/>
          <a:p>
            <a:pPr marL="0" indent="0">
              <a:buNone/>
            </a:pPr>
            <a:r>
              <a:rPr lang="en-US" sz="1150" dirty="0">
                <a:solidFill>
                  <a:srgbClr val="C9CFD1"/>
                </a:solidFill>
                <a:latin typeface="Calibri" panose="020F0502020204030204" pitchFamily="34" charset="0"/>
                <a:ea typeface="Calibri" panose="020F0502020204030204" pitchFamily="34" charset="-122"/>
                <a:cs typeface="Calibri" panose="020F0502020204030204" pitchFamily="34" charset="-120"/>
              </a:rPr>
              <a:t>No single control stops a determined attacker — defense in depth is essential</a:t>
            </a:r>
            <a:endParaRPr lang="en-US" sz="1150" dirty="0"/>
          </a:p>
        </p:txBody>
      </p:sp>
      <p:sp>
        <p:nvSpPr>
          <p:cNvPr id="14" name="Shape 10"/>
          <p:cNvSpPr/>
          <p:nvPr/>
        </p:nvSpPr>
        <p:spPr>
          <a:xfrm>
            <a:off x="685800" y="3337560"/>
            <a:ext cx="256032" cy="256032"/>
          </a:xfrm>
          <a:prstGeom prst="ellipse">
            <a:avLst/>
          </a:prstGeom>
          <a:solidFill>
            <a:srgbClr val="0E7C7B"/>
          </a:solidFill>
        </p:spPr>
        <p:txBody>
          <a:bodyPr/>
          <a:lstStyle/>
          <a:p>
            <a:endParaRPr lang="ar-EG"/>
          </a:p>
        </p:txBody>
      </p:sp>
      <p:pic>
        <p:nvPicPr>
          <p:cNvPr id="15" name="Image 2" descr="/home/claude/deck/icons/check.png"/>
          <p:cNvPicPr>
            <a:picLocks noChangeAspect="1"/>
          </p:cNvPicPr>
          <p:nvPr/>
        </p:nvPicPr>
        <p:blipFill>
          <a:blip r:embed="rId3"/>
          <a:stretch>
            <a:fillRect/>
          </a:stretch>
        </p:blipFill>
        <p:spPr>
          <a:xfrm>
            <a:off x="749808" y="3401568"/>
            <a:ext cx="128016" cy="128016"/>
          </a:xfrm>
          <a:prstGeom prst="rect">
            <a:avLst/>
          </a:prstGeom>
        </p:spPr>
      </p:pic>
      <p:sp>
        <p:nvSpPr>
          <p:cNvPr id="16" name="Text 11"/>
          <p:cNvSpPr/>
          <p:nvPr/>
        </p:nvSpPr>
        <p:spPr>
          <a:xfrm>
            <a:off x="1143000" y="3255264"/>
            <a:ext cx="10241280" cy="32004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Phishing-resistant MFA stops fatigue attacks</a:t>
            </a:r>
            <a:endParaRPr lang="en-US" sz="1500" dirty="0"/>
          </a:p>
        </p:txBody>
      </p:sp>
      <p:sp>
        <p:nvSpPr>
          <p:cNvPr id="17" name="Text 12"/>
          <p:cNvSpPr/>
          <p:nvPr/>
        </p:nvSpPr>
        <p:spPr>
          <a:xfrm>
            <a:off x="1143000" y="3575304"/>
            <a:ext cx="10241280" cy="365760"/>
          </a:xfrm>
          <a:prstGeom prst="rect">
            <a:avLst/>
          </a:prstGeom>
          <a:noFill/>
        </p:spPr>
        <p:txBody>
          <a:bodyPr wrap="square" rtlCol="0" anchor="ctr"/>
          <a:lstStyle/>
          <a:p>
            <a:pPr marL="0" indent="0">
              <a:buNone/>
            </a:pPr>
            <a:r>
              <a:rPr lang="en-US" sz="1150" dirty="0">
                <a:solidFill>
                  <a:srgbClr val="C9CFD1"/>
                </a:solidFill>
                <a:latin typeface="Calibri" panose="020F0502020204030204" pitchFamily="34" charset="0"/>
                <a:ea typeface="Calibri" panose="020F0502020204030204" pitchFamily="34" charset="-122"/>
                <a:cs typeface="Calibri" panose="020F0502020204030204" pitchFamily="34" charset="-120"/>
              </a:rPr>
              <a:t>FIDO2/WebAuthn removes the push-approval attack surface entirely</a:t>
            </a:r>
            <a:endParaRPr lang="en-US" sz="1150" dirty="0"/>
          </a:p>
        </p:txBody>
      </p:sp>
      <p:sp>
        <p:nvSpPr>
          <p:cNvPr id="18" name="Shape 13"/>
          <p:cNvSpPr/>
          <p:nvPr/>
        </p:nvSpPr>
        <p:spPr>
          <a:xfrm>
            <a:off x="685800" y="4178808"/>
            <a:ext cx="256032" cy="256032"/>
          </a:xfrm>
          <a:prstGeom prst="ellipse">
            <a:avLst/>
          </a:prstGeom>
          <a:solidFill>
            <a:srgbClr val="0E7C7B"/>
          </a:solidFill>
        </p:spPr>
        <p:txBody>
          <a:bodyPr/>
          <a:lstStyle/>
          <a:p>
            <a:endParaRPr lang="ar-EG"/>
          </a:p>
        </p:txBody>
      </p:sp>
      <p:pic>
        <p:nvPicPr>
          <p:cNvPr id="19" name="Image 3" descr="/home/claude/deck/icons/check.png"/>
          <p:cNvPicPr>
            <a:picLocks noChangeAspect="1"/>
          </p:cNvPicPr>
          <p:nvPr/>
        </p:nvPicPr>
        <p:blipFill>
          <a:blip r:embed="rId3"/>
          <a:stretch>
            <a:fillRect/>
          </a:stretch>
        </p:blipFill>
        <p:spPr>
          <a:xfrm>
            <a:off x="749808" y="4242816"/>
            <a:ext cx="128016" cy="128016"/>
          </a:xfrm>
          <a:prstGeom prst="rect">
            <a:avLst/>
          </a:prstGeom>
        </p:spPr>
      </p:pic>
      <p:sp>
        <p:nvSpPr>
          <p:cNvPr id="20" name="Text 14"/>
          <p:cNvSpPr/>
          <p:nvPr/>
        </p:nvSpPr>
        <p:spPr>
          <a:xfrm>
            <a:off x="1143000" y="4096512"/>
            <a:ext cx="10241280" cy="320040"/>
          </a:xfrm>
          <a:prstGeom prst="rect">
            <a:avLst/>
          </a:prstGeom>
          <a:noFill/>
        </p:spPr>
        <p:txBody>
          <a:bodyPr wrap="square"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Least privilege &amp; JIT reduce blast radius</a:t>
            </a:r>
            <a:endParaRPr lang="en-US" sz="1500" dirty="0"/>
          </a:p>
        </p:txBody>
      </p:sp>
      <p:sp>
        <p:nvSpPr>
          <p:cNvPr id="21" name="Text 15"/>
          <p:cNvSpPr/>
          <p:nvPr/>
        </p:nvSpPr>
        <p:spPr>
          <a:xfrm>
            <a:off x="1143000" y="4416552"/>
            <a:ext cx="10241280" cy="365760"/>
          </a:xfrm>
          <a:prstGeom prst="rect">
            <a:avLst/>
          </a:prstGeom>
          <a:noFill/>
        </p:spPr>
        <p:txBody>
          <a:bodyPr wrap="square" rtlCol="0" anchor="ctr"/>
          <a:lstStyle/>
          <a:p>
            <a:pPr marL="0" indent="0">
              <a:buNone/>
            </a:pPr>
            <a:r>
              <a:rPr lang="en-US" sz="1150" dirty="0">
                <a:solidFill>
                  <a:srgbClr val="C9CFD1"/>
                </a:solidFill>
                <a:latin typeface="Calibri" panose="020F0502020204030204" pitchFamily="34" charset="0"/>
                <a:ea typeface="Calibri" panose="020F0502020204030204" pitchFamily="34" charset="-122"/>
                <a:cs typeface="Calibri" panose="020F0502020204030204" pitchFamily="34" charset="-120"/>
              </a:rPr>
              <a:t>Standing admin access is the single biggest lever attackers exploit</a:t>
            </a:r>
            <a:endParaRPr lang="en-US" sz="1150" dirty="0"/>
          </a:p>
        </p:txBody>
      </p:sp>
      <p:sp>
        <p:nvSpPr>
          <p:cNvPr id="22" name="Shape 16"/>
          <p:cNvSpPr/>
          <p:nvPr/>
        </p:nvSpPr>
        <p:spPr>
          <a:xfrm>
            <a:off x="640080" y="5166360"/>
            <a:ext cx="10881360" cy="0"/>
          </a:xfrm>
          <a:prstGeom prst="line">
            <a:avLst/>
          </a:prstGeom>
          <a:noFill/>
          <a:ln w="12700">
            <a:solidFill>
              <a:srgbClr val="44484A"/>
            </a:solidFill>
            <a:prstDash val="solid"/>
          </a:ln>
        </p:spPr>
        <p:txBody>
          <a:bodyPr/>
          <a:lstStyle/>
          <a:p>
            <a:endParaRPr lang="ar-EG"/>
          </a:p>
        </p:txBody>
      </p:sp>
      <p:sp>
        <p:nvSpPr>
          <p:cNvPr id="23" name="Text 17"/>
          <p:cNvSpPr/>
          <p:nvPr/>
        </p:nvSpPr>
        <p:spPr>
          <a:xfrm>
            <a:off x="640080" y="5349240"/>
            <a:ext cx="7315200" cy="502920"/>
          </a:xfrm>
          <a:prstGeom prst="rect">
            <a:avLst/>
          </a:prstGeom>
          <a:noFill/>
        </p:spPr>
        <p:txBody>
          <a:bodyPr wrap="square" rtlCol="0" anchor="ctr"/>
          <a:lstStyle/>
          <a:p>
            <a:pPr marL="0" indent="0">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 — Questions?</a:t>
            </a:r>
            <a:endParaRPr lang="en-US" sz="2400" dirty="0"/>
          </a:p>
        </p:txBody>
      </p:sp>
      <p:sp>
        <p:nvSpPr>
          <p:cNvPr id="24" name="Text 18"/>
          <p:cNvSpPr/>
          <p:nvPr/>
        </p:nvSpPr>
        <p:spPr>
          <a:xfrm>
            <a:off x="640080" y="5897880"/>
            <a:ext cx="10881360" cy="411480"/>
          </a:xfrm>
          <a:prstGeom prst="rect">
            <a:avLst/>
          </a:prstGeom>
          <a:noFill/>
        </p:spPr>
        <p:txBody>
          <a:bodyPr wrap="square" rtlCol="0" anchor="ctr"/>
          <a:lstStyle/>
          <a:p>
            <a:pPr marL="0" indent="0">
              <a:buNone/>
            </a:pPr>
            <a:r>
              <a:rPr lang="en-US" sz="1350" b="1" dirty="0">
                <a:solidFill>
                  <a:srgbClr val="0E7C7B"/>
                </a:solidFill>
                <a:latin typeface="Calibri" panose="020F0502020204030204" pitchFamily="34" charset="0"/>
                <a:ea typeface="Calibri" panose="020F0502020204030204" pitchFamily="34" charset="-122"/>
                <a:cs typeface="Calibri" panose="020F0502020204030204" pitchFamily="34" charset="-120"/>
              </a:rPr>
              <a:t>Yasmin Amgad   ·   Aya AbuElhamed   ·   Suhaila Saeed   ·   Sandy Sadek   ·   Jana Hady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2940</Words>
  <Application>Microsoft Office PowerPoint</Application>
  <PresentationFormat>Widescreen</PresentationFormat>
  <Paragraphs>509</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yasmin amgad</cp:lastModifiedBy>
  <cp:revision>5</cp:revision>
  <dcterms:created xsi:type="dcterms:W3CDTF">2026-08-18T20:20:00Z</dcterms:created>
  <dcterms:modified xsi:type="dcterms:W3CDTF">2026-08-19T11:00:10Z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0A64340D1A8141EFB974ED7E5E720380_13</vt:lpwstr>
  </property>
</Properties>
</file>