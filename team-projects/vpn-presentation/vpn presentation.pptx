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71" r:id="rId7"/>
    <p:sldId id="272" r:id="rId8"/>
    <p:sldId id="263" r:id="rId9"/>
    <p:sldId id="273" r:id="rId10"/>
    <p:sldId id="27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51" autoAdjust="0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33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57"/>
          </a:solidFill>
        </p:spPr>
        <p:txBody>
          <a:bodyPr/>
          <a:lstStyle/>
          <a:p>
            <a:endParaRPr lang="ar-EG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11094415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100" dirty="0">
                <a:solidFill>
                  <a:srgbClr val="D98A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 O R T I G A T E   N E T W O R K   S E C U R I T 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11094415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VPN &amp; IPsec VPN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48640" y="3063240"/>
            <a:ext cx="7315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9D6E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Instructor: Mohamed Ibrahim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931920"/>
            <a:ext cx="329184" cy="329184"/>
          </a:xfrm>
          <a:prstGeom prst="ellipse">
            <a:avLst/>
          </a:prstGeom>
          <a:solidFill>
            <a:srgbClr val="D98A3D"/>
          </a:solidFill>
        </p:spPr>
        <p:txBody>
          <a:bodyPr/>
          <a:lstStyle/>
          <a:p>
            <a:endParaRPr lang="ar-EG"/>
          </a:p>
        </p:txBody>
      </p:sp>
      <p:sp>
        <p:nvSpPr>
          <p:cNvPr id="7" name="Text 5"/>
          <p:cNvSpPr/>
          <p:nvPr/>
        </p:nvSpPr>
        <p:spPr>
          <a:xfrm>
            <a:off x="548640" y="3931920"/>
            <a:ext cx="3291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A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3904488"/>
            <a:ext cx="36576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Sohaila Saeed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4389120"/>
            <a:ext cx="329184" cy="329184"/>
          </a:xfrm>
          <a:prstGeom prst="ellipse">
            <a:avLst/>
          </a:prstGeom>
          <a:solidFill>
            <a:srgbClr val="D98A3D"/>
          </a:solidFill>
        </p:spPr>
        <p:txBody>
          <a:bodyPr/>
          <a:lstStyle/>
          <a:p>
            <a:endParaRPr lang="ar-EG"/>
          </a:p>
        </p:txBody>
      </p:sp>
      <p:sp>
        <p:nvSpPr>
          <p:cNvPr id="10" name="Text 8"/>
          <p:cNvSpPr/>
          <p:nvPr/>
        </p:nvSpPr>
        <p:spPr>
          <a:xfrm>
            <a:off x="548640" y="4389120"/>
            <a:ext cx="3291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A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51560" y="4361688"/>
            <a:ext cx="36576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Yasmin Amgad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4846320"/>
            <a:ext cx="329184" cy="329184"/>
          </a:xfrm>
          <a:prstGeom prst="ellipse">
            <a:avLst/>
          </a:prstGeom>
          <a:solidFill>
            <a:srgbClr val="D98A3D"/>
          </a:solidFill>
        </p:spPr>
        <p:txBody>
          <a:bodyPr/>
          <a:lstStyle/>
          <a:p>
            <a:endParaRPr lang="ar-EG"/>
          </a:p>
        </p:txBody>
      </p:sp>
      <p:sp>
        <p:nvSpPr>
          <p:cNvPr id="13" name="Text 11"/>
          <p:cNvSpPr/>
          <p:nvPr/>
        </p:nvSpPr>
        <p:spPr>
          <a:xfrm>
            <a:off x="548640" y="4846320"/>
            <a:ext cx="3291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A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1560" y="4818888"/>
            <a:ext cx="36576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Aya Aboelhamed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5303520"/>
            <a:ext cx="329184" cy="329184"/>
          </a:xfrm>
          <a:prstGeom prst="ellipse">
            <a:avLst/>
          </a:prstGeom>
          <a:solidFill>
            <a:srgbClr val="D98A3D"/>
          </a:solidFill>
        </p:spPr>
        <p:txBody>
          <a:bodyPr/>
          <a:lstStyle/>
          <a:p>
            <a:endParaRPr lang="ar-EG"/>
          </a:p>
        </p:txBody>
      </p:sp>
      <p:sp>
        <p:nvSpPr>
          <p:cNvPr id="16" name="Text 14"/>
          <p:cNvSpPr/>
          <p:nvPr/>
        </p:nvSpPr>
        <p:spPr>
          <a:xfrm>
            <a:off x="548640" y="5303520"/>
            <a:ext cx="3291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A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51560" y="5276088"/>
            <a:ext cx="36576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Sandy Sadek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8640" y="5760720"/>
            <a:ext cx="329184" cy="329184"/>
          </a:xfrm>
          <a:prstGeom prst="ellipse">
            <a:avLst/>
          </a:prstGeom>
          <a:solidFill>
            <a:srgbClr val="D98A3D"/>
          </a:solidFill>
        </p:spPr>
        <p:txBody>
          <a:bodyPr/>
          <a:lstStyle/>
          <a:p>
            <a:endParaRPr lang="ar-EG"/>
          </a:p>
        </p:txBody>
      </p:sp>
      <p:sp>
        <p:nvSpPr>
          <p:cNvPr id="19" name="Text 17"/>
          <p:cNvSpPr/>
          <p:nvPr/>
        </p:nvSpPr>
        <p:spPr>
          <a:xfrm>
            <a:off x="548640" y="5760720"/>
            <a:ext cx="329184" cy="32918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A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51560" y="5733288"/>
            <a:ext cx="3657600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Jana Hady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1094415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109441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Five stages — from why we need a VPN to how a single packet gets encrypted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200882" y="2377440"/>
            <a:ext cx="914400" cy="914400"/>
          </a:xfrm>
          <a:prstGeom prst="ellipse">
            <a:avLst/>
          </a:prstGeom>
          <a:solidFill>
            <a:srgbClr val="1B3A57"/>
          </a:solidFill>
        </p:spPr>
        <p:txBody>
          <a:bodyPr/>
          <a:lstStyle/>
          <a:p>
            <a:endParaRPr lang="ar-EG"/>
          </a:p>
        </p:txBody>
      </p:sp>
      <p:sp>
        <p:nvSpPr>
          <p:cNvPr id="5" name="Text 3"/>
          <p:cNvSpPr/>
          <p:nvPr/>
        </p:nvSpPr>
        <p:spPr>
          <a:xfrm>
            <a:off x="1200882" y="2084832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98A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3429000"/>
            <a:ext cx="2036003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3A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VPN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B3A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Fundamentals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4114800"/>
            <a:ext cx="2036003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a VPN is and why it matters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15282" y="2834640"/>
            <a:ext cx="1304483" cy="0"/>
          </a:xfrm>
          <a:prstGeom prst="line">
            <a:avLst/>
          </a:prstGeom>
          <a:noFill/>
          <a:ln w="19050">
            <a:solidFill>
              <a:srgbClr val="C9D6E3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9" name="Shape 7"/>
          <p:cNvSpPr/>
          <p:nvPr/>
        </p:nvSpPr>
        <p:spPr>
          <a:xfrm>
            <a:off x="3419765" y="2377440"/>
            <a:ext cx="914400" cy="914400"/>
          </a:xfrm>
          <a:prstGeom prst="ellipse">
            <a:avLst/>
          </a:prstGeom>
          <a:solidFill>
            <a:srgbClr val="1B3A57"/>
          </a:solidFill>
        </p:spPr>
        <p:txBody>
          <a:bodyPr/>
          <a:lstStyle/>
          <a:p>
            <a:endParaRPr lang="ar-EG"/>
          </a:p>
        </p:txBody>
      </p:sp>
      <p:sp>
        <p:nvSpPr>
          <p:cNvPr id="10" name="Text 8"/>
          <p:cNvSpPr/>
          <p:nvPr/>
        </p:nvSpPr>
        <p:spPr>
          <a:xfrm>
            <a:off x="3419765" y="2084832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98A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858963" y="3429000"/>
            <a:ext cx="2036003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3A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IPsec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B3A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&amp; IKE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858963" y="4114800"/>
            <a:ext cx="2036003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framework and its negotiation protocol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34165" y="2834640"/>
            <a:ext cx="1304483" cy="0"/>
          </a:xfrm>
          <a:prstGeom prst="line">
            <a:avLst/>
          </a:prstGeom>
          <a:noFill/>
          <a:ln w="19050">
            <a:solidFill>
              <a:srgbClr val="C9D6E3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4" name="Shape 12"/>
          <p:cNvSpPr/>
          <p:nvPr/>
        </p:nvSpPr>
        <p:spPr>
          <a:xfrm>
            <a:off x="5638648" y="2377440"/>
            <a:ext cx="914400" cy="914400"/>
          </a:xfrm>
          <a:prstGeom prst="ellipse">
            <a:avLst/>
          </a:prstGeom>
          <a:solidFill>
            <a:srgbClr val="1B3A57"/>
          </a:solidFill>
        </p:spPr>
        <p:txBody>
          <a:bodyPr/>
          <a:lstStyle/>
          <a:p>
            <a:endParaRPr lang="ar-EG"/>
          </a:p>
        </p:txBody>
      </p:sp>
      <p:sp>
        <p:nvSpPr>
          <p:cNvPr id="15" name="Text 13"/>
          <p:cNvSpPr/>
          <p:nvPr/>
        </p:nvSpPr>
        <p:spPr>
          <a:xfrm>
            <a:off x="5638648" y="2084832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98A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77846" y="3429000"/>
            <a:ext cx="2036003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3A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IKE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B3A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1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77846" y="4114800"/>
            <a:ext cx="2036003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Building the secure management channel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553048" y="2834640"/>
            <a:ext cx="1304483" cy="0"/>
          </a:xfrm>
          <a:prstGeom prst="line">
            <a:avLst/>
          </a:prstGeom>
          <a:noFill/>
          <a:ln w="19050">
            <a:solidFill>
              <a:srgbClr val="C9D6E3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9" name="Shape 17"/>
          <p:cNvSpPr/>
          <p:nvPr/>
        </p:nvSpPr>
        <p:spPr>
          <a:xfrm>
            <a:off x="7857531" y="2377440"/>
            <a:ext cx="914400" cy="914400"/>
          </a:xfrm>
          <a:prstGeom prst="ellipse">
            <a:avLst/>
          </a:prstGeom>
          <a:solidFill>
            <a:srgbClr val="1B3A57"/>
          </a:solidFill>
        </p:spPr>
        <p:txBody>
          <a:bodyPr/>
          <a:lstStyle/>
          <a:p>
            <a:endParaRPr lang="ar-EG"/>
          </a:p>
        </p:txBody>
      </p:sp>
      <p:sp>
        <p:nvSpPr>
          <p:cNvPr id="20" name="Text 18"/>
          <p:cNvSpPr/>
          <p:nvPr/>
        </p:nvSpPr>
        <p:spPr>
          <a:xfrm>
            <a:off x="7857531" y="2084832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98A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296729" y="3429000"/>
            <a:ext cx="2036003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3A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IKE Phase 2 &amp;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B3A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Cryptography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296729" y="4114800"/>
            <a:ext cx="2036003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Negotiating how real data gets protected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771931" y="2834640"/>
            <a:ext cx="1304483" cy="0"/>
          </a:xfrm>
          <a:prstGeom prst="line">
            <a:avLst/>
          </a:prstGeom>
          <a:noFill/>
          <a:ln w="19050">
            <a:solidFill>
              <a:srgbClr val="C9D6E3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4" name="Shape 22"/>
          <p:cNvSpPr/>
          <p:nvPr/>
        </p:nvSpPr>
        <p:spPr>
          <a:xfrm>
            <a:off x="10076414" y="2377440"/>
            <a:ext cx="914400" cy="914400"/>
          </a:xfrm>
          <a:prstGeom prst="ellipse">
            <a:avLst/>
          </a:prstGeom>
          <a:solidFill>
            <a:srgbClr val="1B3A57"/>
          </a:solidFill>
        </p:spPr>
        <p:txBody>
          <a:bodyPr/>
          <a:lstStyle/>
          <a:p>
            <a:endParaRPr lang="ar-EG"/>
          </a:p>
        </p:txBody>
      </p:sp>
      <p:sp>
        <p:nvSpPr>
          <p:cNvPr id="25" name="Text 23"/>
          <p:cNvSpPr/>
          <p:nvPr/>
        </p:nvSpPr>
        <p:spPr>
          <a:xfrm>
            <a:off x="10076414" y="2084832"/>
            <a:ext cx="914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98A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515612" y="3429000"/>
            <a:ext cx="2036003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3A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ESP &amp;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B3A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VPN Tunnel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515612" y="4114800"/>
            <a:ext cx="2036003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Encrypting, encapsulating, delivering data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000" dirty="0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830" y="557212"/>
            <a:ext cx="11325225" cy="43719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8A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 · FOUNDATIONS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Is a VPN?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4415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Virtual Private Network creates a logical, secured tunnel across a shared or untrusted network — traffic behaves as if it travels over a private link.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3515258" cy="2377440"/>
          </a:xfrm>
          <a:prstGeom prst="roundRect">
            <a:avLst>
              <a:gd name="adj" fmla="val 3077"/>
            </a:avLst>
          </a:prstGeom>
          <a:solidFill>
            <a:srgbClr val="EEF2F6"/>
          </a:solidFill>
        </p:spPr>
        <p:txBody>
          <a:bodyPr/>
          <a:lstStyle/>
          <a:p>
            <a:endParaRPr lang="ar-EG"/>
          </a:p>
        </p:txBody>
      </p:sp>
      <p:sp>
        <p:nvSpPr>
          <p:cNvPr id="7" name="Shape 5"/>
          <p:cNvSpPr/>
          <p:nvPr/>
        </p:nvSpPr>
        <p:spPr>
          <a:xfrm>
            <a:off x="822960" y="2880360"/>
            <a:ext cx="502920" cy="502920"/>
          </a:xfrm>
          <a:prstGeom prst="ellipse">
            <a:avLst/>
          </a:prstGeom>
          <a:solidFill>
            <a:srgbClr val="1B3A57"/>
          </a:solidFill>
        </p:spPr>
        <p:txBody>
          <a:bodyPr/>
          <a:lstStyle/>
          <a:p>
            <a:endParaRPr lang="ar-EG"/>
          </a:p>
        </p:txBody>
      </p:sp>
      <p:sp>
        <p:nvSpPr>
          <p:cNvPr id="8" name="Text 6"/>
          <p:cNvSpPr/>
          <p:nvPr/>
        </p:nvSpPr>
        <p:spPr>
          <a:xfrm>
            <a:off x="822960" y="288036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3520440"/>
            <a:ext cx="296661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Confidentiality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3886200"/>
            <a:ext cx="2966618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Encrypt payload so only the peer can read it (ESP).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38218" y="2606040"/>
            <a:ext cx="3515258" cy="2377440"/>
          </a:xfrm>
          <a:prstGeom prst="roundRect">
            <a:avLst>
              <a:gd name="adj" fmla="val 3077"/>
            </a:avLst>
          </a:prstGeom>
          <a:solidFill>
            <a:srgbClr val="EEF2F6"/>
          </a:solidFill>
        </p:spPr>
        <p:txBody>
          <a:bodyPr/>
          <a:lstStyle/>
          <a:p>
            <a:endParaRPr lang="ar-EG"/>
          </a:p>
        </p:txBody>
      </p:sp>
      <p:sp>
        <p:nvSpPr>
          <p:cNvPr id="12" name="Shape 10"/>
          <p:cNvSpPr/>
          <p:nvPr/>
        </p:nvSpPr>
        <p:spPr>
          <a:xfrm>
            <a:off x="4612538" y="2880360"/>
            <a:ext cx="502920" cy="502920"/>
          </a:xfrm>
          <a:prstGeom prst="ellipse">
            <a:avLst/>
          </a:prstGeom>
          <a:solidFill>
            <a:srgbClr val="1B3A57"/>
          </a:solidFill>
        </p:spPr>
        <p:txBody>
          <a:bodyPr/>
          <a:lstStyle/>
          <a:p>
            <a:endParaRPr lang="ar-EG"/>
          </a:p>
        </p:txBody>
      </p:sp>
      <p:sp>
        <p:nvSpPr>
          <p:cNvPr id="13" name="Text 11"/>
          <p:cNvSpPr/>
          <p:nvPr/>
        </p:nvSpPr>
        <p:spPr>
          <a:xfrm>
            <a:off x="4612538" y="288036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12538" y="3520440"/>
            <a:ext cx="296661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Integrity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12538" y="3886200"/>
            <a:ext cx="2966618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Detect any modification in transit (HMAC).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127797" y="2606040"/>
            <a:ext cx="3515258" cy="2377440"/>
          </a:xfrm>
          <a:prstGeom prst="roundRect">
            <a:avLst>
              <a:gd name="adj" fmla="val 3077"/>
            </a:avLst>
          </a:prstGeom>
          <a:solidFill>
            <a:srgbClr val="EEF2F6"/>
          </a:solidFill>
        </p:spPr>
        <p:txBody>
          <a:bodyPr/>
          <a:lstStyle/>
          <a:p>
            <a:endParaRPr lang="ar-EG"/>
          </a:p>
        </p:txBody>
      </p:sp>
      <p:sp>
        <p:nvSpPr>
          <p:cNvPr id="17" name="Shape 15"/>
          <p:cNvSpPr/>
          <p:nvPr/>
        </p:nvSpPr>
        <p:spPr>
          <a:xfrm>
            <a:off x="8402117" y="2880360"/>
            <a:ext cx="502920" cy="502920"/>
          </a:xfrm>
          <a:prstGeom prst="ellipse">
            <a:avLst/>
          </a:prstGeom>
          <a:solidFill>
            <a:srgbClr val="1B3A57"/>
          </a:solidFill>
        </p:spPr>
        <p:txBody>
          <a:bodyPr/>
          <a:lstStyle/>
          <a:p>
            <a:endParaRPr lang="ar-EG"/>
          </a:p>
        </p:txBody>
      </p:sp>
      <p:sp>
        <p:nvSpPr>
          <p:cNvPr id="18" name="Text 16"/>
          <p:cNvSpPr/>
          <p:nvPr/>
        </p:nvSpPr>
        <p:spPr>
          <a:xfrm>
            <a:off x="8402117" y="2880360"/>
            <a:ext cx="502920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02117" y="3520440"/>
            <a:ext cx="2966618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Authentication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402117" y="3886200"/>
            <a:ext cx="2966618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Prove peer identity before trusting data.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8A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 · FOUNDATIONS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Use a VPN?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84048" cy="384048"/>
          </a:xfrm>
          <a:prstGeom prst="ellipse">
            <a:avLst/>
          </a:prstGeom>
          <a:solidFill>
            <a:srgbClr val="1B3A57"/>
          </a:solidFill>
        </p:spPr>
        <p:txBody>
          <a:bodyPr/>
          <a:lstStyle/>
          <a:p>
            <a:endParaRPr lang="ar-EG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43000" y="1389888"/>
            <a:ext cx="66751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Site-to-Site Connectivity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43000" y="1719072"/>
            <a:ext cx="66751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Permanently join two trusted networks , across an untrusted path.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384048" cy="384048"/>
          </a:xfrm>
          <a:prstGeom prst="ellipse">
            <a:avLst/>
          </a:prstGeom>
          <a:solidFill>
            <a:srgbClr val="1B3A57"/>
          </a:solidFill>
        </p:spPr>
        <p:txBody>
          <a:bodyPr/>
          <a:lstStyle/>
          <a:p>
            <a:endParaRPr lang="ar-EG"/>
          </a:p>
        </p:txBody>
      </p:sp>
      <p:sp>
        <p:nvSpPr>
          <p:cNvPr id="9" name="Text 7"/>
          <p:cNvSpPr/>
          <p:nvPr/>
        </p:nvSpPr>
        <p:spPr>
          <a:xfrm>
            <a:off x="548640" y="2377440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3000" y="2350008"/>
            <a:ext cx="66751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Remote Access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43000" y="2679192"/>
            <a:ext cx="66751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mobile user connects into the corporate network from anywhere.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337560"/>
            <a:ext cx="384048" cy="384048"/>
          </a:xfrm>
          <a:prstGeom prst="ellipse">
            <a:avLst/>
          </a:prstGeom>
          <a:solidFill>
            <a:srgbClr val="1B3A57"/>
          </a:solidFill>
        </p:spPr>
        <p:txBody>
          <a:bodyPr/>
          <a:lstStyle/>
          <a:p>
            <a:endParaRPr lang="ar-EG"/>
          </a:p>
        </p:txBody>
      </p:sp>
      <p:sp>
        <p:nvSpPr>
          <p:cNvPr id="13" name="Text 11"/>
          <p:cNvSpPr/>
          <p:nvPr/>
        </p:nvSpPr>
        <p:spPr>
          <a:xfrm>
            <a:off x="548640" y="3337560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43000" y="3310128"/>
            <a:ext cx="667512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Secure Communication Over Untrusted Networks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43000" y="3639312"/>
            <a:ext cx="667512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Replaces or protects traffic that would otherwise cross the public Internet or shared links in the clear.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680960" y="1417320"/>
            <a:ext cx="3962095" cy="3017520"/>
          </a:xfrm>
          <a:prstGeom prst="roundRect">
            <a:avLst>
              <a:gd name="adj" fmla="val 2424"/>
            </a:avLst>
          </a:prstGeom>
          <a:solidFill>
            <a:srgbClr val="1B3A57"/>
          </a:solidFill>
        </p:spPr>
        <p:txBody>
          <a:bodyPr/>
          <a:lstStyle/>
          <a:p>
            <a:endParaRPr lang="ar-EG"/>
          </a:p>
        </p:txBody>
      </p:sp>
      <p:sp>
        <p:nvSpPr>
          <p:cNvPr id="17" name="Text 15"/>
          <p:cNvSpPr/>
          <p:nvPr/>
        </p:nvSpPr>
        <p:spPr>
          <a:xfrm>
            <a:off x="7909560" y="1600200"/>
            <a:ext cx="350489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D98A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REAL-WORLD EXAMPLE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909560" y="1920240"/>
            <a:ext cx="3504895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lab's topology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909560" y="2331720"/>
            <a:ext cx="3504895" cy="1463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R1 (HQ, 192.168.1.0/24)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9D6E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needs to securely reach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R3 (Branch, 192.168.3.0/24)</a:t>
            </a:r>
            <a:endParaRPr lang="en-US" sz="12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C9D6E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across R2 — a router that simulates the public Internet and has no knowledge of the VPN.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909560" y="3931920"/>
            <a:ext cx="3504895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8A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 · FOUNDATIONS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Types of VPN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BY TOPOLOGY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364328" cy="1371600"/>
          </a:xfrm>
          <a:prstGeom prst="roundRect">
            <a:avLst>
              <a:gd name="adj" fmla="val 5333"/>
            </a:avLst>
          </a:prstGeom>
          <a:solidFill>
            <a:srgbClr val="EEF2F6"/>
          </a:solidFill>
        </p:spPr>
        <p:txBody>
          <a:bodyPr/>
          <a:lstStyle/>
          <a:p>
            <a:endParaRPr lang="ar-EG"/>
          </a:p>
        </p:txBody>
      </p:sp>
      <p:sp>
        <p:nvSpPr>
          <p:cNvPr id="6" name="Text 4"/>
          <p:cNvSpPr/>
          <p:nvPr/>
        </p:nvSpPr>
        <p:spPr>
          <a:xfrm>
            <a:off x="777240" y="1901952"/>
            <a:ext cx="4907128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Site-to-Site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240280"/>
            <a:ext cx="4907128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Router/firewall-to-router/firewall. Used in this lab (R1 ↔ R3).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78728" y="1737360"/>
            <a:ext cx="5364328" cy="1371600"/>
          </a:xfrm>
          <a:prstGeom prst="roundRect">
            <a:avLst>
              <a:gd name="adj" fmla="val 5333"/>
            </a:avLst>
          </a:prstGeom>
          <a:solidFill>
            <a:srgbClr val="EEF2F6"/>
          </a:solidFill>
        </p:spPr>
        <p:txBody>
          <a:bodyPr/>
          <a:lstStyle/>
          <a:p>
            <a:endParaRPr lang="ar-EG"/>
          </a:p>
        </p:txBody>
      </p:sp>
      <p:sp>
        <p:nvSpPr>
          <p:cNvPr id="9" name="Text 7"/>
          <p:cNvSpPr/>
          <p:nvPr/>
        </p:nvSpPr>
        <p:spPr>
          <a:xfrm>
            <a:off x="6507328" y="1901952"/>
            <a:ext cx="4907128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Remote-Access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07328" y="2240280"/>
            <a:ext cx="4907128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Client-to-gateway. On-demand, per-user tunnel (FortiClient ↔ FortiGate).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3429000"/>
            <a:ext cx="548640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BY PROTOCOL / TECHNOLOGY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749040"/>
            <a:ext cx="5364328" cy="1371600"/>
          </a:xfrm>
          <a:prstGeom prst="roundRect">
            <a:avLst>
              <a:gd name="adj" fmla="val 5333"/>
            </a:avLst>
          </a:prstGeom>
          <a:solidFill>
            <a:srgbClr val="EEF2F6"/>
          </a:solidFill>
        </p:spPr>
        <p:txBody>
          <a:bodyPr/>
          <a:lstStyle/>
          <a:p>
            <a:endParaRPr lang="ar-EG"/>
          </a:p>
        </p:txBody>
      </p:sp>
      <p:sp>
        <p:nvSpPr>
          <p:cNvPr id="13" name="Text 11"/>
          <p:cNvSpPr/>
          <p:nvPr/>
        </p:nvSpPr>
        <p:spPr>
          <a:xfrm>
            <a:off x="777240" y="3913632"/>
            <a:ext cx="4907128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IPsec VPN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77240" y="4251960"/>
            <a:ext cx="4907128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Network layer (L3). Encrypts the IP payload. Focus of this presentation.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78728" y="3749040"/>
            <a:ext cx="5364328" cy="1371600"/>
          </a:xfrm>
          <a:prstGeom prst="roundRect">
            <a:avLst>
              <a:gd name="adj" fmla="val 5333"/>
            </a:avLst>
          </a:prstGeom>
          <a:solidFill>
            <a:srgbClr val="EEF2F6"/>
          </a:solidFill>
        </p:spPr>
        <p:txBody>
          <a:bodyPr/>
          <a:lstStyle/>
          <a:p>
            <a:endParaRPr lang="ar-EG"/>
          </a:p>
        </p:txBody>
      </p:sp>
      <p:sp>
        <p:nvSpPr>
          <p:cNvPr id="16" name="Text 14"/>
          <p:cNvSpPr/>
          <p:nvPr/>
        </p:nvSpPr>
        <p:spPr>
          <a:xfrm>
            <a:off x="6507328" y="3913632"/>
            <a:ext cx="4907128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SSL/TLS VPN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07328" y="4251960"/>
            <a:ext cx="4907128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Transport/application layer. Common for remote access.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49040" cy="6858000"/>
          </a:xfrm>
          <a:prstGeom prst="rect">
            <a:avLst/>
          </a:prstGeom>
          <a:solidFill>
            <a:srgbClr val="1E2761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30175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IPsec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115568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Securing IP Communications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1005840" cy="0"/>
          </a:xfrm>
          <a:prstGeom prst="line">
            <a:avLst/>
          </a:prstGeom>
          <a:noFill/>
          <a:ln w="31750">
            <a:solidFill>
              <a:srgbClr val="5C8D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3017520" cy="1828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Layer 3 protocol suite that authenticates and encrypts every IP packet in a stream.
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Provides: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Confidentiality  ·  Integrity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Authentication  ·  Anti-replay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598932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55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 · SPI · SPD/SAD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6263640"/>
            <a:ext cx="30175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3B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data structures that track how each packet is protected.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60520" y="457200"/>
            <a:ext cx="75438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1A4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IPsec Components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160520" y="987552"/>
            <a:ext cx="7543800" cy="1691640"/>
          </a:xfrm>
          <a:prstGeom prst="roundRect">
            <a:avLst>
              <a:gd name="adj" fmla="val 4324"/>
            </a:avLst>
          </a:prstGeom>
          <a:solidFill>
            <a:srgbClr val="F5F7FC"/>
          </a:solidFill>
          <a:ln w="12700">
            <a:solidFill>
              <a:srgbClr val="E2E7F5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361688" y="1170432"/>
            <a:ext cx="502920" cy="502920"/>
          </a:xfrm>
          <a:prstGeom prst="ellipse">
            <a:avLst/>
          </a:prstGeom>
          <a:solidFill>
            <a:srgbClr val="5C8DF6"/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361688" y="117043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001768" y="1124712"/>
            <a:ext cx="4114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A4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IKE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01768" y="1408176"/>
            <a:ext cx="6492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Internet Key Exchange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01768" y="1530220"/>
            <a:ext cx="64922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8000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428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Negotiates &amp; establishes Security Associations (SAs)</a:t>
            </a:r>
            <a:endParaRPr lang="en-US" sz="1050" dirty="0"/>
          </a:p>
          <a:p>
            <a:pPr marL="152400" indent="-152400">
              <a:lnSpc>
                <a:spcPct val="108000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428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Authenticates peers, agrees on algorithms</a:t>
            </a:r>
            <a:endParaRPr lang="en-US" sz="1050" dirty="0"/>
          </a:p>
          <a:p>
            <a:pPr marL="152400" indent="-152400">
              <a:lnSpc>
                <a:spcPct val="108000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428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Derives keys via Diffie-Hellman — no keys sent on the wire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60520" y="2816352"/>
            <a:ext cx="7543800" cy="1691640"/>
          </a:xfrm>
          <a:prstGeom prst="roundRect">
            <a:avLst>
              <a:gd name="adj" fmla="val 4324"/>
            </a:avLst>
          </a:prstGeom>
          <a:solidFill>
            <a:srgbClr val="F5F7FC"/>
          </a:solidFill>
          <a:ln w="12700">
            <a:solidFill>
              <a:srgbClr val="E2E7F5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361688" y="2999232"/>
            <a:ext cx="502920" cy="502920"/>
          </a:xfrm>
          <a:prstGeom prst="ellipse">
            <a:avLst/>
          </a:prstGeom>
          <a:solidFill>
            <a:srgbClr val="8B6FD1"/>
          </a:solidFill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361688" y="299923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001768" y="2953512"/>
            <a:ext cx="4114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A4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AH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01768" y="3236976"/>
            <a:ext cx="6492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Authentication Header · Protocol 51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01768" y="3429000"/>
            <a:ext cx="64922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8000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428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Integrity + authentication for the whole packet</a:t>
            </a:r>
            <a:endParaRPr lang="en-US" sz="1050" dirty="0"/>
          </a:p>
          <a:p>
            <a:pPr marL="152400" indent="-152400">
              <a:lnSpc>
                <a:spcPct val="108000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428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encryption — payload stays in plaintext</a:t>
            </a:r>
            <a:endParaRPr lang="en-US" sz="1050" dirty="0"/>
          </a:p>
          <a:p>
            <a:pPr marL="152400" indent="-152400">
              <a:lnSpc>
                <a:spcPct val="108000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428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Breaks under NAT (protects outer IP header)</a:t>
            </a:r>
            <a:endParaRPr lang="en-US" sz="1050" dirty="0"/>
          </a:p>
          <a:p>
            <a:pPr marL="152400" indent="-152400">
              <a:lnSpc>
                <a:spcPct val="108000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428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Largely legacy / rarely deployed alone today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160520" y="4645152"/>
            <a:ext cx="7543800" cy="1691640"/>
          </a:xfrm>
          <a:prstGeom prst="roundRect">
            <a:avLst>
              <a:gd name="adj" fmla="val 4324"/>
            </a:avLst>
          </a:prstGeom>
          <a:solidFill>
            <a:srgbClr val="F5F7FC"/>
          </a:solidFill>
          <a:ln w="12700">
            <a:solidFill>
              <a:srgbClr val="E2E7F5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361688" y="4828032"/>
            <a:ext cx="502920" cy="502920"/>
          </a:xfrm>
          <a:prstGeom prst="ellipse">
            <a:avLst/>
          </a:prstGeom>
          <a:solidFill>
            <a:srgbClr val="3FB68B"/>
          </a:solidFill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361688" y="482803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001768" y="4782312"/>
            <a:ext cx="4114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A4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ESP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001768" y="5065776"/>
            <a:ext cx="64922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2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Encapsulating Security Payload · Protocol 50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01768" y="5276088"/>
            <a:ext cx="649224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52400" indent="-152400">
              <a:lnSpc>
                <a:spcPct val="108000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428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workhorse of modern IPsec deployments</a:t>
            </a:r>
            <a:endParaRPr lang="en-US" sz="1050" dirty="0"/>
          </a:p>
          <a:p>
            <a:pPr marL="152400" indent="-152400">
              <a:lnSpc>
                <a:spcPct val="108000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428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Confidentiality (encryption) + optional integrity</a:t>
            </a:r>
            <a:endParaRPr lang="en-US" sz="1050" dirty="0"/>
          </a:p>
          <a:p>
            <a:pPr marL="152400" indent="-152400">
              <a:lnSpc>
                <a:spcPct val="108000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428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NAT-friendly — outer IP header left untouched</a:t>
            </a:r>
          </a:p>
          <a:p>
            <a:pPr marL="152400" indent="-152400">
              <a:lnSpc>
                <a:spcPct val="108000"/>
              </a:lnSpc>
              <a:spcAft>
                <a:spcPts val="200"/>
              </a:spcAft>
              <a:buSzPct val="100000"/>
              <a:buChar char="•"/>
            </a:pPr>
            <a:r>
              <a:rPr lang="en-US" sz="1050" dirty="0">
                <a:solidFill>
                  <a:srgbClr val="2428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Transport mode (host-host) vs Tunnel mode (site-to-site)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1612880" y="6546273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749040" cy="6858000"/>
          </a:xfrm>
          <a:prstGeom prst="rect">
            <a:avLst/>
          </a:prstGeom>
          <a:solidFill>
            <a:srgbClr val="1E2761"/>
          </a:solidFill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30175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IKE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115568"/>
            <a:ext cx="301752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We Need Key Exchange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1005840" cy="0"/>
          </a:xfrm>
          <a:prstGeom prst="line">
            <a:avLst/>
          </a:prstGeom>
          <a:noFill/>
          <a:ln w="31750">
            <a:solidFill>
              <a:srgbClr val="5C8D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3017520" cy="10515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Without IKE, admins would manually configure &amp; rotate encryption keys on every peer — insecure and unscalable.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063240"/>
            <a:ext cx="30175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IKE automates: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401568"/>
            <a:ext cx="301752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127000" indent="-1270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Mutual peer authentication</a:t>
            </a:r>
            <a:endParaRPr lang="en-US" sz="1200" dirty="0"/>
          </a:p>
          <a:p>
            <a:pPr marL="127000" indent="-1270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Algorithm negotiation</a:t>
            </a:r>
            <a:endParaRPr lang="en-US" sz="1200" dirty="0"/>
          </a:p>
          <a:p>
            <a:pPr marL="127000" indent="-1270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Diffie-Hellman key derivation</a:t>
            </a:r>
            <a:endParaRPr lang="en-US" sz="1200" dirty="0"/>
          </a:p>
          <a:p>
            <a:pPr marL="127000" indent="-1270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 lifetime &amp; rekeying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502920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Two Phases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5349240"/>
            <a:ext cx="30175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5C8D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1  </a:t>
            </a:r>
            <a:r>
              <a:rPr lang="en-US" sz="11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 secure, authenticated channel (ISAKMP SA)
</a:t>
            </a:r>
            <a:endParaRPr lang="en-US" sz="115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150" b="1" dirty="0">
                <a:solidFill>
                  <a:srgbClr val="5C8D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Phase 2  </a:t>
            </a:r>
            <a:r>
              <a:rPr lang="en-US" sz="115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 negotiates the IPsec SAs that protect data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649224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557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60520" y="502920"/>
            <a:ext cx="7543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1A4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IKEv1 vs IKEv2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160520" y="1078992"/>
            <a:ext cx="7543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6B72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Message Exchange to Establish Tunnel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160520" y="141732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428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IKEv1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74920" y="1417320"/>
            <a:ext cx="5120640" cy="292608"/>
          </a:xfrm>
          <a:prstGeom prst="rect">
            <a:avLst/>
          </a:prstGeom>
          <a:solidFill>
            <a:srgbClr val="D8DEF0"/>
          </a:solidFill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166360" y="1417320"/>
            <a:ext cx="49377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41A45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Main Mode (6 msgs, IDs encrypted) or Aggressive Mode (3 msgs, IDs exposed) + Quick Mode (3 msgs)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160520" y="1801368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428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IKEv2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74920" y="1801368"/>
            <a:ext cx="3055620" cy="292608"/>
          </a:xfrm>
          <a:prstGeom prst="rect">
            <a:avLst/>
          </a:prstGeom>
          <a:solidFill>
            <a:srgbClr val="5C8DF6"/>
          </a:solidFill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166360" y="1801368"/>
            <a:ext cx="36271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IKE_SA_INIT (2) + IKE_AUTH (2) = 4 msgs, IDs always encrypted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160520" y="2331720"/>
            <a:ext cx="7543800" cy="1600200"/>
          </a:xfrm>
          <a:prstGeom prst="roundRect">
            <a:avLst>
              <a:gd name="adj" fmla="val 4000"/>
            </a:avLst>
          </a:prstGeom>
          <a:solidFill>
            <a:srgbClr val="F5F7FC"/>
          </a:solidFill>
          <a:ln w="12700">
            <a:solidFill>
              <a:srgbClr val="E2E7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160520" y="2331720"/>
            <a:ext cx="82296" cy="1600200"/>
          </a:xfrm>
          <a:prstGeom prst="rect">
            <a:avLst/>
          </a:prstGeom>
          <a:solidFill>
            <a:srgbClr val="8B93B8"/>
          </a:solidFill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480560" y="2496312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1A4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IKEv1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480560" y="2898648"/>
            <a:ext cx="6903720" cy="8869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>
              <a:lnSpc>
                <a:spcPct val="128000"/>
              </a:lnSpc>
            </a:pPr>
            <a:r>
              <a:rPr lang="en-US" sz="1150" dirty="0">
                <a:solidFill>
                  <a:srgbClr val="2428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Sets up the connection using either Main Mode (6 messages, slower but hides identities) or Aggressive Mode (3 messages, faster but exposes identities). Getting through NAT needs an extra add-on. Renewing keys means starting a whole new exchange (Quick Mode). No built-in protection against DoS attacks, and no support for switching networks mid-connection.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160520" y="4133088"/>
            <a:ext cx="7543800" cy="1600200"/>
          </a:xfrm>
          <a:prstGeom prst="roundRect">
            <a:avLst>
              <a:gd name="adj" fmla="val 4000"/>
            </a:avLst>
          </a:prstGeom>
          <a:solidFill>
            <a:srgbClr val="F5F7FC"/>
          </a:solidFill>
          <a:ln w="12700">
            <a:solidFill>
              <a:srgbClr val="E2E7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160520" y="4133088"/>
            <a:ext cx="82296" cy="1600200"/>
          </a:xfrm>
          <a:prstGeom prst="rect">
            <a:avLst/>
          </a:prstGeom>
          <a:solidFill>
            <a:srgbClr val="5C8DF6"/>
          </a:solidFill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480560" y="429768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1A45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IKEv2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497326" y="4553712"/>
            <a:ext cx="6903720" cy="8869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150" dirty="0">
                <a:solidFill>
                  <a:srgbClr val="24284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Collapses setup into a fixed IKE_SA_INIT + IKE_AUTH exchange — 4 messages total — and always encrypts peer identities. NAT-T is native, and rekeying uses the lighter CREATE_CHILD_SA exchange instead of a full renegotiation. A mandatory guards against DoS floods, and MOBIKE lets a tunnel survive an IP change. 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160520" y="5870448"/>
            <a:ext cx="7543800" cy="621792"/>
          </a:xfrm>
          <a:prstGeom prst="roundRect">
            <a:avLst>
              <a:gd name="adj" fmla="val 8824"/>
            </a:avLst>
          </a:prstGeom>
          <a:solidFill>
            <a:srgbClr val="1E2761"/>
          </a:solidFill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434840" y="5870448"/>
            <a:ext cx="699516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5C8DF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Bottom line:  </a:t>
            </a:r>
            <a:r>
              <a:rPr lang="en-US" sz="11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IKEv2 is leaner and more resilient by design; IKEv1 (“crypto isakmp” on IOS) persists mainly for legacy peer interop.</a:t>
            </a:r>
            <a:endParaRPr lang="en-US" sz="1150" dirty="0"/>
          </a:p>
        </p:txBody>
      </p:sp>
      <p:sp>
        <p:nvSpPr>
          <p:cNvPr id="33" name="Text 26">
            <a:extLst>
              <a:ext uri="{FF2B5EF4-FFF2-40B4-BE49-F238E27FC236}">
                <a16:creationId xmlns:a16="http://schemas.microsoft.com/office/drawing/2014/main" id="{8E34DE06-AF30-1D53-7252-E9A4E349ADD0}"/>
              </a:ext>
            </a:extLst>
          </p:cNvPr>
          <p:cNvSpPr/>
          <p:nvPr/>
        </p:nvSpPr>
        <p:spPr>
          <a:xfrm>
            <a:off x="11612880" y="6537960"/>
            <a:ext cx="457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9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8A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 · IKE NEGOTIATION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IKE Phase 1 — Building the Secure Channel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4415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Establishes a mutually authenticated, encrypted control channel — the ISAKMP SA — before any negotiation about protecting real data begins.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1109441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D98A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PARAMETERS NEGOTIATED (crypto isakmp policy 10)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2036003" cy="1371600"/>
          </a:xfrm>
          <a:prstGeom prst="roundRect">
            <a:avLst>
              <a:gd name="adj" fmla="val 5333"/>
            </a:avLst>
          </a:prstGeom>
          <a:solidFill>
            <a:srgbClr val="1B3A57"/>
          </a:solidFill>
        </p:spPr>
        <p:txBody>
          <a:bodyPr/>
          <a:lstStyle/>
          <a:p>
            <a:endParaRPr lang="ar-EG"/>
          </a:p>
        </p:txBody>
      </p:sp>
      <p:sp>
        <p:nvSpPr>
          <p:cNvPr id="7" name="Text 5"/>
          <p:cNvSpPr/>
          <p:nvPr/>
        </p:nvSpPr>
        <p:spPr>
          <a:xfrm>
            <a:off x="685800" y="2496312"/>
            <a:ext cx="1761683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9D6E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Encryption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85800" y="2894076"/>
            <a:ext cx="1761683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AES 256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813243" y="2331720"/>
            <a:ext cx="2036003" cy="1371600"/>
          </a:xfrm>
          <a:prstGeom prst="roundRect">
            <a:avLst>
              <a:gd name="adj" fmla="val 5333"/>
            </a:avLst>
          </a:prstGeom>
          <a:solidFill>
            <a:srgbClr val="1B3A57"/>
          </a:solidFill>
        </p:spPr>
        <p:txBody>
          <a:bodyPr/>
          <a:lstStyle/>
          <a:p>
            <a:endParaRPr lang="ar-EG"/>
          </a:p>
        </p:txBody>
      </p:sp>
      <p:sp>
        <p:nvSpPr>
          <p:cNvPr id="10" name="Text 8"/>
          <p:cNvSpPr/>
          <p:nvPr/>
        </p:nvSpPr>
        <p:spPr>
          <a:xfrm>
            <a:off x="2950403" y="2496312"/>
            <a:ext cx="1761683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9D6E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Hash / Integrity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950403" y="2894076"/>
            <a:ext cx="1761683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SHA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077846" y="2331720"/>
            <a:ext cx="2036003" cy="1371600"/>
          </a:xfrm>
          <a:prstGeom prst="roundRect">
            <a:avLst>
              <a:gd name="adj" fmla="val 5333"/>
            </a:avLst>
          </a:prstGeom>
          <a:solidFill>
            <a:srgbClr val="1B3A57"/>
          </a:solidFill>
        </p:spPr>
        <p:txBody>
          <a:bodyPr/>
          <a:lstStyle/>
          <a:p>
            <a:endParaRPr lang="ar-EG"/>
          </a:p>
        </p:txBody>
      </p:sp>
      <p:sp>
        <p:nvSpPr>
          <p:cNvPr id="13" name="Text 11"/>
          <p:cNvSpPr/>
          <p:nvPr/>
        </p:nvSpPr>
        <p:spPr>
          <a:xfrm>
            <a:off x="5215006" y="2496312"/>
            <a:ext cx="1761683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9D6E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Authentication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215006" y="2894076"/>
            <a:ext cx="1761683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Pre-shared key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42449" y="2331720"/>
            <a:ext cx="2036003" cy="1371600"/>
          </a:xfrm>
          <a:prstGeom prst="roundRect">
            <a:avLst>
              <a:gd name="adj" fmla="val 5333"/>
            </a:avLst>
          </a:prstGeom>
          <a:solidFill>
            <a:srgbClr val="1B3A57"/>
          </a:solidFill>
        </p:spPr>
        <p:txBody>
          <a:bodyPr/>
          <a:lstStyle/>
          <a:p>
            <a:endParaRPr lang="ar-EG"/>
          </a:p>
        </p:txBody>
      </p:sp>
      <p:sp>
        <p:nvSpPr>
          <p:cNvPr id="16" name="Text 14"/>
          <p:cNvSpPr/>
          <p:nvPr/>
        </p:nvSpPr>
        <p:spPr>
          <a:xfrm>
            <a:off x="7479609" y="2496312"/>
            <a:ext cx="1761683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9D6E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DH Group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479609" y="2894076"/>
            <a:ext cx="1761683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Group 5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9607052" y="2331720"/>
            <a:ext cx="2036003" cy="1371600"/>
          </a:xfrm>
          <a:prstGeom prst="roundRect">
            <a:avLst>
              <a:gd name="adj" fmla="val 5333"/>
            </a:avLst>
          </a:prstGeom>
          <a:solidFill>
            <a:srgbClr val="1B3A57"/>
          </a:solidFill>
        </p:spPr>
        <p:txBody>
          <a:bodyPr/>
          <a:lstStyle/>
          <a:p>
            <a:endParaRPr lang="ar-EG"/>
          </a:p>
        </p:txBody>
      </p:sp>
      <p:sp>
        <p:nvSpPr>
          <p:cNvPr id="19" name="Text 17"/>
          <p:cNvSpPr/>
          <p:nvPr/>
        </p:nvSpPr>
        <p:spPr>
          <a:xfrm>
            <a:off x="9744212" y="2496312"/>
            <a:ext cx="1761683" cy="502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9D6E3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Lifetime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744212" y="2894076"/>
            <a:ext cx="1761683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3600 sec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8640" y="4114800"/>
            <a:ext cx="11094415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Both peers must agree on every value exactly — a single mismatch fails the negotiation. This is why R1 and R3 are configured with an identical policy.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559928" y="644652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91C8DAB0-0AAA-F007-9A4C-EF6131A47EE2}"/>
              </a:ext>
            </a:extLst>
          </p:cNvPr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IKE PHASE 1</a:t>
            </a:r>
            <a:endParaRPr lang="en-US" sz="12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41251739-3D03-70E6-E1AD-9D8488C8B9E3}"/>
              </a:ext>
            </a:extLst>
          </p:cNvPr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the ISAKMP SA</a:t>
            </a:r>
            <a:endParaRPr lang="en-US" sz="2700" dirty="0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B5914A50-BF2E-3355-21A9-7ED7184E67CF}"/>
              </a:ext>
            </a:extLst>
          </p:cNvPr>
          <p:cNvSpPr/>
          <p:nvPr/>
        </p:nvSpPr>
        <p:spPr>
          <a:xfrm>
            <a:off x="548640" y="1481328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2F5F8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D62AD625-DBA7-9C99-3C9E-DFD47EC3F216}"/>
              </a:ext>
            </a:extLst>
          </p:cNvPr>
          <p:cNvSpPr/>
          <p:nvPr/>
        </p:nvSpPr>
        <p:spPr>
          <a:xfrm>
            <a:off x="822960" y="1481328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establishes the IKE SA, also called the ISAKMP SA — a secure, authenticated channel the peers will use to safely negotiate everything that follows.</a:t>
            </a:r>
            <a:endParaRPr lang="en-US" sz="1250" dirty="0"/>
          </a:p>
        </p:txBody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69C88A38-12CB-3D47-2DF6-A57FED24A9C9}"/>
              </a:ext>
            </a:extLst>
          </p:cNvPr>
          <p:cNvSpPr/>
          <p:nvPr/>
        </p:nvSpPr>
        <p:spPr>
          <a:xfrm>
            <a:off x="548640" y="2606040"/>
            <a:ext cx="356616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  <a:effectLst>
            <a:outerShdw blurRad="101600" dist="38100" dir="5400000" algn="bl" rotWithShape="0">
              <a:srgbClr val="0A1F33">
                <a:alpha val="18000"/>
              </a:srgbClr>
            </a:outerShdw>
          </a:effectLst>
        </p:spPr>
        <p:txBody>
          <a:bodyPr/>
          <a:lstStyle/>
          <a:p>
            <a:endParaRPr lang="ar-EG"/>
          </a:p>
        </p:txBody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78F466E5-5034-5060-A406-65B6545C2730}"/>
              </a:ext>
            </a:extLst>
          </p:cNvPr>
          <p:cNvSpPr/>
          <p:nvPr/>
        </p:nvSpPr>
        <p:spPr>
          <a:xfrm>
            <a:off x="822960" y="2834640"/>
            <a:ext cx="621792" cy="621792"/>
          </a:xfrm>
          <a:prstGeom prst="ellipse">
            <a:avLst/>
          </a:prstGeom>
          <a:solidFill>
            <a:srgbClr val="0B3D5C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15" name="Image 0" descr="/home/claude/icons/exchangealt.png">
            <a:extLst>
              <a:ext uri="{FF2B5EF4-FFF2-40B4-BE49-F238E27FC236}">
                <a16:creationId xmlns:a16="http://schemas.microsoft.com/office/drawing/2014/main" id="{B4570CD7-36FE-ED70-E8D0-280AF541F8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" y="2990088"/>
            <a:ext cx="310896" cy="310896"/>
          </a:xfrm>
          <a:prstGeom prst="rect">
            <a:avLst/>
          </a:prstGeom>
        </p:spPr>
      </p:pic>
      <p:sp>
        <p:nvSpPr>
          <p:cNvPr id="17" name="Text 6">
            <a:extLst>
              <a:ext uri="{FF2B5EF4-FFF2-40B4-BE49-F238E27FC236}">
                <a16:creationId xmlns:a16="http://schemas.microsoft.com/office/drawing/2014/main" id="{C00746D6-4530-7502-CD8C-9CA6A5DF2434}"/>
              </a:ext>
            </a:extLst>
          </p:cNvPr>
          <p:cNvSpPr/>
          <p:nvPr/>
        </p:nvSpPr>
        <p:spPr>
          <a:xfrm>
            <a:off x="822960" y="361188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Exchange ISAKMP Proposals</a:t>
            </a:r>
            <a:endParaRPr lang="en-US" sz="1250" dirty="0"/>
          </a:p>
        </p:txBody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AE402F84-9C52-B56F-E4A9-F6174086B930}"/>
              </a:ext>
            </a:extLst>
          </p:cNvPr>
          <p:cNvSpPr/>
          <p:nvPr/>
        </p:nvSpPr>
        <p:spPr>
          <a:xfrm>
            <a:off x="822960" y="411480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Peers propose encryption, hash, authentication method, DH group, and lifetime.</a:t>
            </a:r>
            <a:endParaRPr lang="en-US" sz="1050" dirty="0"/>
          </a:p>
        </p:txBody>
      </p:sp>
      <p:sp>
        <p:nvSpPr>
          <p:cNvPr id="21" name="Shape 8">
            <a:extLst>
              <a:ext uri="{FF2B5EF4-FFF2-40B4-BE49-F238E27FC236}">
                <a16:creationId xmlns:a16="http://schemas.microsoft.com/office/drawing/2014/main" id="{B5C9B730-777E-3859-D00C-53E919A469BC}"/>
              </a:ext>
            </a:extLst>
          </p:cNvPr>
          <p:cNvSpPr/>
          <p:nvPr/>
        </p:nvSpPr>
        <p:spPr>
          <a:xfrm>
            <a:off x="4133088" y="3749040"/>
            <a:ext cx="27432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ar-EG"/>
          </a:p>
        </p:txBody>
      </p:sp>
      <p:sp>
        <p:nvSpPr>
          <p:cNvPr id="23" name="Shape 9">
            <a:extLst>
              <a:ext uri="{FF2B5EF4-FFF2-40B4-BE49-F238E27FC236}">
                <a16:creationId xmlns:a16="http://schemas.microsoft.com/office/drawing/2014/main" id="{783E2682-86AB-FA70-75A5-A2908EBF11B2}"/>
              </a:ext>
            </a:extLst>
          </p:cNvPr>
          <p:cNvSpPr/>
          <p:nvPr/>
        </p:nvSpPr>
        <p:spPr>
          <a:xfrm>
            <a:off x="4297680" y="2606040"/>
            <a:ext cx="356616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  <a:effectLst>
            <a:outerShdw blurRad="101600" dist="38100" dir="5400000" algn="bl" rotWithShape="0">
              <a:srgbClr val="0A1F33">
                <a:alpha val="18000"/>
              </a:srgbClr>
            </a:outerShdw>
          </a:effectLst>
        </p:spPr>
        <p:txBody>
          <a:bodyPr/>
          <a:lstStyle/>
          <a:p>
            <a:endParaRPr lang="ar-EG"/>
          </a:p>
        </p:txBody>
      </p:sp>
      <p:sp>
        <p:nvSpPr>
          <p:cNvPr id="25" name="Shape 10">
            <a:extLst>
              <a:ext uri="{FF2B5EF4-FFF2-40B4-BE49-F238E27FC236}">
                <a16:creationId xmlns:a16="http://schemas.microsoft.com/office/drawing/2014/main" id="{6EB9CF1C-2EA9-9CA1-8B4D-ED435EAC4344}"/>
              </a:ext>
            </a:extLst>
          </p:cNvPr>
          <p:cNvSpPr/>
          <p:nvPr/>
        </p:nvSpPr>
        <p:spPr>
          <a:xfrm>
            <a:off x="4572000" y="2834640"/>
            <a:ext cx="621792" cy="621792"/>
          </a:xfrm>
          <a:prstGeom prst="ellipse">
            <a:avLst/>
          </a:prstGeom>
          <a:solidFill>
            <a:srgbClr val="0B3D5C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27" name="Image 1" descr="/home/claude/icons/random.png">
            <a:extLst>
              <a:ext uri="{FF2B5EF4-FFF2-40B4-BE49-F238E27FC236}">
                <a16:creationId xmlns:a16="http://schemas.microsoft.com/office/drawing/2014/main" id="{A93FDC28-FC18-6FAC-AD45-C1667C06A3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7448" y="2990088"/>
            <a:ext cx="310896" cy="310896"/>
          </a:xfrm>
          <a:prstGeom prst="rect">
            <a:avLst/>
          </a:prstGeom>
        </p:spPr>
      </p:pic>
      <p:sp>
        <p:nvSpPr>
          <p:cNvPr id="29" name="Text 11">
            <a:extLst>
              <a:ext uri="{FF2B5EF4-FFF2-40B4-BE49-F238E27FC236}">
                <a16:creationId xmlns:a16="http://schemas.microsoft.com/office/drawing/2014/main" id="{7822DE55-DF5A-3959-1C52-EDC436DED6A3}"/>
              </a:ext>
            </a:extLst>
          </p:cNvPr>
          <p:cNvSpPr/>
          <p:nvPr/>
        </p:nvSpPr>
        <p:spPr>
          <a:xfrm>
            <a:off x="4572000" y="361188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Run Diffie-Hellman Exchange</a:t>
            </a:r>
            <a:endParaRPr lang="en-US" sz="1250" dirty="0"/>
          </a:p>
        </p:txBody>
      </p:sp>
      <p:sp>
        <p:nvSpPr>
          <p:cNvPr id="31" name="Text 12">
            <a:extLst>
              <a:ext uri="{FF2B5EF4-FFF2-40B4-BE49-F238E27FC236}">
                <a16:creationId xmlns:a16="http://schemas.microsoft.com/office/drawing/2014/main" id="{A414A78F-4C1A-4D35-D813-68488B806110}"/>
              </a:ext>
            </a:extLst>
          </p:cNvPr>
          <p:cNvSpPr/>
          <p:nvPr/>
        </p:nvSpPr>
        <p:spPr>
          <a:xfrm>
            <a:off x="4572000" y="411480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Peers derive a shared secret key together — without ever transmitting the key itself.</a:t>
            </a:r>
            <a:endParaRPr lang="en-US" sz="1050" dirty="0"/>
          </a:p>
        </p:txBody>
      </p:sp>
      <p:sp>
        <p:nvSpPr>
          <p:cNvPr id="33" name="Shape 13">
            <a:extLst>
              <a:ext uri="{FF2B5EF4-FFF2-40B4-BE49-F238E27FC236}">
                <a16:creationId xmlns:a16="http://schemas.microsoft.com/office/drawing/2014/main" id="{6C426503-494C-A2C0-3D46-71B3EFFC3761}"/>
              </a:ext>
            </a:extLst>
          </p:cNvPr>
          <p:cNvSpPr/>
          <p:nvPr/>
        </p:nvSpPr>
        <p:spPr>
          <a:xfrm>
            <a:off x="7882128" y="3749040"/>
            <a:ext cx="27432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ar-EG"/>
          </a:p>
        </p:txBody>
      </p:sp>
      <p:sp>
        <p:nvSpPr>
          <p:cNvPr id="35" name="Shape 14">
            <a:extLst>
              <a:ext uri="{FF2B5EF4-FFF2-40B4-BE49-F238E27FC236}">
                <a16:creationId xmlns:a16="http://schemas.microsoft.com/office/drawing/2014/main" id="{13191F6A-1D59-BD68-730C-086378BCEA3D}"/>
              </a:ext>
            </a:extLst>
          </p:cNvPr>
          <p:cNvSpPr/>
          <p:nvPr/>
        </p:nvSpPr>
        <p:spPr>
          <a:xfrm>
            <a:off x="8046720" y="2606040"/>
            <a:ext cx="3566160" cy="2286000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2700">
            <a:solidFill>
              <a:srgbClr val="E1E8EE"/>
            </a:solidFill>
            <a:prstDash val="solid"/>
          </a:ln>
          <a:effectLst>
            <a:outerShdw blurRad="101600" dist="38100" dir="5400000" algn="bl" rotWithShape="0">
              <a:srgbClr val="0A1F33">
                <a:alpha val="18000"/>
              </a:srgbClr>
            </a:outerShdw>
          </a:effectLst>
        </p:spPr>
        <p:txBody>
          <a:bodyPr/>
          <a:lstStyle/>
          <a:p>
            <a:endParaRPr lang="ar-EG"/>
          </a:p>
        </p:txBody>
      </p:sp>
      <p:sp>
        <p:nvSpPr>
          <p:cNvPr id="37" name="Shape 15">
            <a:extLst>
              <a:ext uri="{FF2B5EF4-FFF2-40B4-BE49-F238E27FC236}">
                <a16:creationId xmlns:a16="http://schemas.microsoft.com/office/drawing/2014/main" id="{C6B18149-A73A-4ABD-7926-9E999A6F7E9E}"/>
              </a:ext>
            </a:extLst>
          </p:cNvPr>
          <p:cNvSpPr/>
          <p:nvPr/>
        </p:nvSpPr>
        <p:spPr>
          <a:xfrm>
            <a:off x="8321040" y="2834640"/>
            <a:ext cx="621792" cy="621792"/>
          </a:xfrm>
          <a:prstGeom prst="ellipse">
            <a:avLst/>
          </a:prstGeom>
          <a:solidFill>
            <a:srgbClr val="0B3D5C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39" name="Image 2" descr="/home/claude/icons/checkcircle.png">
            <a:extLst>
              <a:ext uri="{FF2B5EF4-FFF2-40B4-BE49-F238E27FC236}">
                <a16:creationId xmlns:a16="http://schemas.microsoft.com/office/drawing/2014/main" id="{B4EF1885-E5DC-C691-CFF2-66E12C714E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76488" y="2990088"/>
            <a:ext cx="310896" cy="310896"/>
          </a:xfrm>
          <a:prstGeom prst="rect">
            <a:avLst/>
          </a:prstGeom>
        </p:spPr>
      </p:pic>
      <p:sp>
        <p:nvSpPr>
          <p:cNvPr id="41" name="Text 16">
            <a:extLst>
              <a:ext uri="{FF2B5EF4-FFF2-40B4-BE49-F238E27FC236}">
                <a16:creationId xmlns:a16="http://schemas.microsoft.com/office/drawing/2014/main" id="{540C8BF4-4B87-E2E2-C850-DE5744C2FD98}"/>
              </a:ext>
            </a:extLst>
          </p:cNvPr>
          <p:cNvSpPr/>
          <p:nvPr/>
        </p:nvSpPr>
        <p:spPr>
          <a:xfrm>
            <a:off x="8321040" y="361188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Authenticate &amp; Activate</a:t>
            </a:r>
            <a:endParaRPr lang="en-US" sz="1250" dirty="0"/>
          </a:p>
        </p:txBody>
      </p:sp>
      <p:sp>
        <p:nvSpPr>
          <p:cNvPr id="43" name="Text 17">
            <a:extLst>
              <a:ext uri="{FF2B5EF4-FFF2-40B4-BE49-F238E27FC236}">
                <a16:creationId xmlns:a16="http://schemas.microsoft.com/office/drawing/2014/main" id="{B6C11470-170A-D3FB-3879-7B073733231E}"/>
              </a:ext>
            </a:extLst>
          </p:cNvPr>
          <p:cNvSpPr/>
          <p:nvPr/>
        </p:nvSpPr>
        <p:spPr>
          <a:xfrm>
            <a:off x="8321040" y="411480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Peers confirm each other's identity and the ISAKMP SA becomes active.</a:t>
            </a:r>
            <a:endParaRPr lang="en-US" sz="1050" dirty="0"/>
          </a:p>
        </p:txBody>
      </p:sp>
      <p:sp>
        <p:nvSpPr>
          <p:cNvPr id="45" name="Shape 18">
            <a:extLst>
              <a:ext uri="{FF2B5EF4-FFF2-40B4-BE49-F238E27FC236}">
                <a16:creationId xmlns:a16="http://schemas.microsoft.com/office/drawing/2014/main" id="{F141A62F-C4D2-0082-A1AE-BE7D03D26D37}"/>
              </a:ext>
            </a:extLst>
          </p:cNvPr>
          <p:cNvSpPr/>
          <p:nvPr/>
        </p:nvSpPr>
        <p:spPr>
          <a:xfrm>
            <a:off x="548640" y="5166360"/>
            <a:ext cx="11064240" cy="777240"/>
          </a:xfrm>
          <a:prstGeom prst="roundRect">
            <a:avLst>
              <a:gd name="adj" fmla="val 10588"/>
            </a:avLst>
          </a:prstGeom>
          <a:solidFill>
            <a:srgbClr val="0A1F33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47" name="Text 19">
            <a:extLst>
              <a:ext uri="{FF2B5EF4-FFF2-40B4-BE49-F238E27FC236}">
                <a16:creationId xmlns:a16="http://schemas.microsoft.com/office/drawing/2014/main" id="{B6208DBF-2346-2504-9B76-3E4A3DF0AB80}"/>
              </a:ext>
            </a:extLst>
          </p:cNvPr>
          <p:cNvSpPr/>
          <p:nvPr/>
        </p:nvSpPr>
        <p:spPr>
          <a:xfrm>
            <a:off x="822960" y="516636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it:  </a:t>
            </a: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 crypto isakmp sa</a:t>
            </a:r>
            <a:r>
              <a:rPr lang="en-US" sz="11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look for state </a:t>
            </a:r>
            <a:r>
              <a:rPr lang="en-US" sz="115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QM_IDLE</a:t>
            </a:r>
            <a:r>
              <a:rPr lang="en-US" sz="11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status </a:t>
            </a:r>
            <a:r>
              <a:rPr lang="en-US" sz="115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ACTIVE</a:t>
            </a:r>
            <a:endParaRPr lang="en-US" sz="1150" dirty="0"/>
          </a:p>
        </p:txBody>
      </p:sp>
      <p:sp>
        <p:nvSpPr>
          <p:cNvPr id="49" name="Text 20">
            <a:extLst>
              <a:ext uri="{FF2B5EF4-FFF2-40B4-BE49-F238E27FC236}">
                <a16:creationId xmlns:a16="http://schemas.microsoft.com/office/drawing/2014/main" id="{CA19465C-ECE4-BC9B-6DE5-8B0FCA761553}"/>
              </a:ext>
            </a:extLst>
          </p:cNvPr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0332554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22DCD9BA-87BC-2FF8-06E0-D412632A2234}"/>
              </a:ext>
            </a:extLst>
          </p:cNvPr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IKE PHASE 2 &amp; CRYPTOGRAPHY</a:t>
            </a:r>
            <a:endParaRPr lang="en-US" sz="12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491AC074-7972-A124-D5D6-EB50B540EB53}"/>
              </a:ext>
            </a:extLst>
          </p:cNvPr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the IPsec SA</a:t>
            </a:r>
            <a:endParaRPr lang="en-US" sz="2700" dirty="0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B44BD513-B450-224A-072F-CAC102F6EE3A}"/>
              </a:ext>
            </a:extLst>
          </p:cNvPr>
          <p:cNvSpPr/>
          <p:nvPr/>
        </p:nvSpPr>
        <p:spPr>
          <a:xfrm>
            <a:off x="548640" y="1481328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2F5F8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ACB76E24-8441-3F0B-E802-BC9C7B00CA15}"/>
              </a:ext>
            </a:extLst>
          </p:cNvPr>
          <p:cNvSpPr/>
          <p:nvPr/>
        </p:nvSpPr>
        <p:spPr>
          <a:xfrm>
            <a:off x="822960" y="1481328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runs inside the secure Phase 1 channel and negotiates the actual IPsec SAs that will protect real user data — for example, traffic from PC-A to PC-C.</a:t>
            </a:r>
            <a:endParaRPr lang="en-US" sz="1250" dirty="0"/>
          </a:p>
        </p:txBody>
      </p:sp>
      <p:sp>
        <p:nvSpPr>
          <p:cNvPr id="11" name="Shape 4">
            <a:extLst>
              <a:ext uri="{FF2B5EF4-FFF2-40B4-BE49-F238E27FC236}">
                <a16:creationId xmlns:a16="http://schemas.microsoft.com/office/drawing/2014/main" id="{5659B677-040D-E8DF-70FA-0EFDDF5668EA}"/>
              </a:ext>
            </a:extLst>
          </p:cNvPr>
          <p:cNvSpPr/>
          <p:nvPr/>
        </p:nvSpPr>
        <p:spPr>
          <a:xfrm>
            <a:off x="548640" y="260604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13" name="Image 0" descr="/home/claude/icons/layergroup.png">
            <a:extLst>
              <a:ext uri="{FF2B5EF4-FFF2-40B4-BE49-F238E27FC236}">
                <a16:creationId xmlns:a16="http://schemas.microsoft.com/office/drawing/2014/main" id="{C1386109-2645-A53B-FCBB-202B53801D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" y="2747772"/>
            <a:ext cx="283464" cy="283464"/>
          </a:xfrm>
          <a:prstGeom prst="rect">
            <a:avLst/>
          </a:prstGeom>
        </p:spPr>
      </p:pic>
      <p:sp>
        <p:nvSpPr>
          <p:cNvPr id="15" name="Text 5">
            <a:extLst>
              <a:ext uri="{FF2B5EF4-FFF2-40B4-BE49-F238E27FC236}">
                <a16:creationId xmlns:a16="http://schemas.microsoft.com/office/drawing/2014/main" id="{6F63F2E5-2EAA-436D-30FD-39217ECFA026}"/>
              </a:ext>
            </a:extLst>
          </p:cNvPr>
          <p:cNvSpPr/>
          <p:nvPr/>
        </p:nvSpPr>
        <p:spPr>
          <a:xfrm>
            <a:off x="1316736" y="2569464"/>
            <a:ext cx="4672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Selectors (ACL)</a:t>
            </a:r>
            <a:endParaRPr lang="en-US" sz="1400" dirty="0"/>
          </a:p>
        </p:txBody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CAC3B6A1-88BF-60AB-BE76-F8A0DBE2E4C2}"/>
              </a:ext>
            </a:extLst>
          </p:cNvPr>
          <p:cNvSpPr/>
          <p:nvPr/>
        </p:nvSpPr>
        <p:spPr>
          <a:xfrm>
            <a:off x="1316736" y="2852928"/>
            <a:ext cx="4672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access list (e.g., ACL 101) defines exactly which source/destination traffic is "interesting" — only matching traffic triggers the SA and enters the tunnel.</a:t>
            </a:r>
            <a:endParaRPr lang="en-US" sz="1050" dirty="0"/>
          </a:p>
        </p:txBody>
      </p:sp>
      <p:sp>
        <p:nvSpPr>
          <p:cNvPr id="19" name="Shape 7">
            <a:extLst>
              <a:ext uri="{FF2B5EF4-FFF2-40B4-BE49-F238E27FC236}">
                <a16:creationId xmlns:a16="http://schemas.microsoft.com/office/drawing/2014/main" id="{69789F71-EC4F-5E65-989C-5C3E189366DC}"/>
              </a:ext>
            </a:extLst>
          </p:cNvPr>
          <p:cNvSpPr/>
          <p:nvPr/>
        </p:nvSpPr>
        <p:spPr>
          <a:xfrm>
            <a:off x="6217920" y="260604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21" name="Image 1" descr="/home/claude/icons/exchangealt.png">
            <a:extLst>
              <a:ext uri="{FF2B5EF4-FFF2-40B4-BE49-F238E27FC236}">
                <a16:creationId xmlns:a16="http://schemas.microsoft.com/office/drawing/2014/main" id="{94F1CE9C-5043-B982-9D59-B261F2D15D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9652" y="2747772"/>
            <a:ext cx="283464" cy="283464"/>
          </a:xfrm>
          <a:prstGeom prst="rect">
            <a:avLst/>
          </a:prstGeom>
        </p:spPr>
      </p:pic>
      <p:sp>
        <p:nvSpPr>
          <p:cNvPr id="23" name="Text 8">
            <a:extLst>
              <a:ext uri="{FF2B5EF4-FFF2-40B4-BE49-F238E27FC236}">
                <a16:creationId xmlns:a16="http://schemas.microsoft.com/office/drawing/2014/main" id="{164EFC77-2831-D0AE-5FFF-5AE1B7872424}"/>
              </a:ext>
            </a:extLst>
          </p:cNvPr>
          <p:cNvSpPr/>
          <p:nvPr/>
        </p:nvSpPr>
        <p:spPr>
          <a:xfrm>
            <a:off x="6986016" y="2569464"/>
            <a:ext cx="4672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Unidirectional SAs</a:t>
            </a:r>
            <a:endParaRPr lang="en-US" sz="1400" dirty="0"/>
          </a:p>
        </p:txBody>
      </p:sp>
      <p:sp>
        <p:nvSpPr>
          <p:cNvPr id="25" name="Text 9">
            <a:extLst>
              <a:ext uri="{FF2B5EF4-FFF2-40B4-BE49-F238E27FC236}">
                <a16:creationId xmlns:a16="http://schemas.microsoft.com/office/drawing/2014/main" id="{E309D0C2-D841-E2AC-0651-61E0BBEEED32}"/>
              </a:ext>
            </a:extLst>
          </p:cNvPr>
          <p:cNvSpPr/>
          <p:nvPr/>
        </p:nvSpPr>
        <p:spPr>
          <a:xfrm>
            <a:off x="6986016" y="2852928"/>
            <a:ext cx="4672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inbound and one outbound IPsec SA are created per direction, visible with show crypto ipsec sa.</a:t>
            </a:r>
            <a:endParaRPr lang="en-US" sz="1050" dirty="0"/>
          </a:p>
        </p:txBody>
      </p:sp>
      <p:sp>
        <p:nvSpPr>
          <p:cNvPr id="27" name="Shape 10">
            <a:extLst>
              <a:ext uri="{FF2B5EF4-FFF2-40B4-BE49-F238E27FC236}">
                <a16:creationId xmlns:a16="http://schemas.microsoft.com/office/drawing/2014/main" id="{242FE112-0109-4C20-19ED-EA2393D134C5}"/>
              </a:ext>
            </a:extLst>
          </p:cNvPr>
          <p:cNvSpPr/>
          <p:nvPr/>
        </p:nvSpPr>
        <p:spPr>
          <a:xfrm>
            <a:off x="548640" y="4160520"/>
            <a:ext cx="3566160" cy="1417320"/>
          </a:xfrm>
          <a:prstGeom prst="roundRect">
            <a:avLst>
              <a:gd name="adj" fmla="val 5806"/>
            </a:avLst>
          </a:prstGeom>
          <a:solidFill>
            <a:srgbClr val="0B3D5C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29" name="Text 11">
            <a:extLst>
              <a:ext uri="{FF2B5EF4-FFF2-40B4-BE49-F238E27FC236}">
                <a16:creationId xmlns:a16="http://schemas.microsoft.com/office/drawing/2014/main" id="{84CC88ED-153E-79DE-B781-3AE08AD74815}"/>
              </a:ext>
            </a:extLst>
          </p:cNvPr>
          <p:cNvSpPr/>
          <p:nvPr/>
        </p:nvSpPr>
        <p:spPr>
          <a:xfrm>
            <a:off x="777240" y="4160520"/>
            <a:ext cx="31089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Matches ACL</a:t>
            </a:r>
            <a:endParaRPr lang="en-US" sz="1300" dirty="0"/>
          </a:p>
        </p:txBody>
      </p:sp>
      <p:sp>
        <p:nvSpPr>
          <p:cNvPr id="31" name="Shape 12">
            <a:extLst>
              <a:ext uri="{FF2B5EF4-FFF2-40B4-BE49-F238E27FC236}">
                <a16:creationId xmlns:a16="http://schemas.microsoft.com/office/drawing/2014/main" id="{7FE6E666-ECF3-F265-C18A-BF345E9B4747}"/>
              </a:ext>
            </a:extLst>
          </p:cNvPr>
          <p:cNvSpPr/>
          <p:nvPr/>
        </p:nvSpPr>
        <p:spPr>
          <a:xfrm>
            <a:off x="4133088" y="4864608"/>
            <a:ext cx="27432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ar-EG"/>
          </a:p>
        </p:txBody>
      </p:sp>
      <p:sp>
        <p:nvSpPr>
          <p:cNvPr id="33" name="Shape 13">
            <a:extLst>
              <a:ext uri="{FF2B5EF4-FFF2-40B4-BE49-F238E27FC236}">
                <a16:creationId xmlns:a16="http://schemas.microsoft.com/office/drawing/2014/main" id="{590ED473-8FA0-003A-62AD-6A6E78399E94}"/>
              </a:ext>
            </a:extLst>
          </p:cNvPr>
          <p:cNvSpPr/>
          <p:nvPr/>
        </p:nvSpPr>
        <p:spPr>
          <a:xfrm>
            <a:off x="4297680" y="4160520"/>
            <a:ext cx="3566160" cy="1417320"/>
          </a:xfrm>
          <a:prstGeom prst="roundRect">
            <a:avLst>
              <a:gd name="adj" fmla="val 5806"/>
            </a:avLst>
          </a:prstGeom>
          <a:solidFill>
            <a:srgbClr val="0B3D5C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35" name="Text 14">
            <a:extLst>
              <a:ext uri="{FF2B5EF4-FFF2-40B4-BE49-F238E27FC236}">
                <a16:creationId xmlns:a16="http://schemas.microsoft.com/office/drawing/2014/main" id="{054CC528-3D01-263A-1EC9-C87AACBA8C0A}"/>
              </a:ext>
            </a:extLst>
          </p:cNvPr>
          <p:cNvSpPr/>
          <p:nvPr/>
        </p:nvSpPr>
        <p:spPr>
          <a:xfrm>
            <a:off x="4526280" y="4160520"/>
            <a:ext cx="31089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Negotiates</a:t>
            </a:r>
            <a:endParaRPr lang="en-US" sz="13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Set</a:t>
            </a:r>
            <a:endParaRPr lang="en-US" sz="1300" dirty="0"/>
          </a:p>
        </p:txBody>
      </p:sp>
      <p:sp>
        <p:nvSpPr>
          <p:cNvPr id="37" name="Shape 15">
            <a:extLst>
              <a:ext uri="{FF2B5EF4-FFF2-40B4-BE49-F238E27FC236}">
                <a16:creationId xmlns:a16="http://schemas.microsoft.com/office/drawing/2014/main" id="{3283B7F5-7C35-CACE-B2E8-F85F24FF61DF}"/>
              </a:ext>
            </a:extLst>
          </p:cNvPr>
          <p:cNvSpPr/>
          <p:nvPr/>
        </p:nvSpPr>
        <p:spPr>
          <a:xfrm>
            <a:off x="7882128" y="4864608"/>
            <a:ext cx="27432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  <a:tailEnd type="triangle"/>
          </a:ln>
        </p:spPr>
        <p:txBody>
          <a:bodyPr/>
          <a:lstStyle/>
          <a:p>
            <a:endParaRPr lang="ar-EG"/>
          </a:p>
        </p:txBody>
      </p:sp>
      <p:sp>
        <p:nvSpPr>
          <p:cNvPr id="39" name="Shape 16">
            <a:extLst>
              <a:ext uri="{FF2B5EF4-FFF2-40B4-BE49-F238E27FC236}">
                <a16:creationId xmlns:a16="http://schemas.microsoft.com/office/drawing/2014/main" id="{AE293C7A-B3CD-95FA-7CB5-6CC72FD56300}"/>
              </a:ext>
            </a:extLst>
          </p:cNvPr>
          <p:cNvSpPr/>
          <p:nvPr/>
        </p:nvSpPr>
        <p:spPr>
          <a:xfrm>
            <a:off x="8046720" y="4160520"/>
            <a:ext cx="3566160" cy="1417320"/>
          </a:xfrm>
          <a:prstGeom prst="roundRect">
            <a:avLst>
              <a:gd name="adj" fmla="val 5806"/>
            </a:avLst>
          </a:prstGeom>
          <a:solidFill>
            <a:srgbClr val="0B3D5C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41" name="Text 17">
            <a:extLst>
              <a:ext uri="{FF2B5EF4-FFF2-40B4-BE49-F238E27FC236}">
                <a16:creationId xmlns:a16="http://schemas.microsoft.com/office/drawing/2014/main" id="{0B2377A5-9E06-BDA4-D03B-7C55477551BA}"/>
              </a:ext>
            </a:extLst>
          </p:cNvPr>
          <p:cNvSpPr/>
          <p:nvPr/>
        </p:nvSpPr>
        <p:spPr>
          <a:xfrm>
            <a:off x="8275320" y="4160520"/>
            <a:ext cx="31089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IPsec SA Becomes Active</a:t>
            </a:r>
            <a:endParaRPr lang="en-US" sz="130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(Tunnel mode)</a:t>
            </a:r>
            <a:endParaRPr lang="en-US" sz="1300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DBCB96D-3E23-115F-0B0D-E4AA324FDA0F}"/>
              </a:ext>
            </a:extLst>
          </p:cNvPr>
          <p:cNvSpPr txBox="1"/>
          <p:nvPr/>
        </p:nvSpPr>
        <p:spPr>
          <a:xfrm>
            <a:off x="11612880" y="6423163"/>
            <a:ext cx="609738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</a:t>
            </a:r>
            <a:endParaRPr lang="ar-EG" dirty="0"/>
          </a:p>
        </p:txBody>
      </p:sp>
    </p:spTree>
    <p:extLst>
      <p:ext uri="{BB962C8B-B14F-4D97-AF65-F5344CB8AC3E}">
        <p14:creationId xmlns:p14="http://schemas.microsoft.com/office/powerpoint/2010/main" val="10760171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16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</a:t>
            </a:r>
            <a:endParaRPr lang="en-US" sz="1000" dirty="0"/>
          </a:p>
        </p:txBody>
      </p:sp>
      <p:sp>
        <p:nvSpPr>
          <p:cNvPr id="20" name="Text 0">
            <a:extLst>
              <a:ext uri="{FF2B5EF4-FFF2-40B4-BE49-F238E27FC236}">
                <a16:creationId xmlns:a16="http://schemas.microsoft.com/office/drawing/2014/main" id="{FCE0C193-D29E-96EE-2FFF-17AAD5075434}"/>
              </a:ext>
            </a:extLst>
          </p:cNvPr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IKE PHASE 2 &amp; CRYPTOGRAPHY</a:t>
            </a:r>
            <a:endParaRPr lang="en-US" sz="1200" dirty="0"/>
          </a:p>
        </p:txBody>
      </p:sp>
      <p:sp>
        <p:nvSpPr>
          <p:cNvPr id="22" name="Text 1">
            <a:extLst>
              <a:ext uri="{FF2B5EF4-FFF2-40B4-BE49-F238E27FC236}">
                <a16:creationId xmlns:a16="http://schemas.microsoft.com/office/drawing/2014/main" id="{19069C68-EE43-703D-6E8A-B9B3A07FD37D}"/>
              </a:ext>
            </a:extLst>
          </p:cNvPr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Cryptographic Building Blocks</a:t>
            </a:r>
            <a:endParaRPr lang="en-US" sz="2700" dirty="0"/>
          </a:p>
        </p:txBody>
      </p:sp>
      <p:sp>
        <p:nvSpPr>
          <p:cNvPr id="24" name="Shape 2">
            <a:extLst>
              <a:ext uri="{FF2B5EF4-FFF2-40B4-BE49-F238E27FC236}">
                <a16:creationId xmlns:a16="http://schemas.microsoft.com/office/drawing/2014/main" id="{16DB4207-A58B-6AB3-750F-F3E71A894814}"/>
              </a:ext>
            </a:extLst>
          </p:cNvPr>
          <p:cNvSpPr/>
          <p:nvPr/>
        </p:nvSpPr>
        <p:spPr>
          <a:xfrm>
            <a:off x="548640" y="160020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26" name="Image 0" descr="/home/claude/icons/lock.png">
            <a:extLst>
              <a:ext uri="{FF2B5EF4-FFF2-40B4-BE49-F238E27FC236}">
                <a16:creationId xmlns:a16="http://schemas.microsoft.com/office/drawing/2014/main" id="{1AD50BB7-F35A-BA4D-56A1-FAFBC51503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1741932"/>
            <a:ext cx="283464" cy="283464"/>
          </a:xfrm>
          <a:prstGeom prst="rect">
            <a:avLst/>
          </a:prstGeom>
        </p:spPr>
      </p:pic>
      <p:sp>
        <p:nvSpPr>
          <p:cNvPr id="28" name="Text 3">
            <a:extLst>
              <a:ext uri="{FF2B5EF4-FFF2-40B4-BE49-F238E27FC236}">
                <a16:creationId xmlns:a16="http://schemas.microsoft.com/office/drawing/2014/main" id="{8429342D-6380-0F8A-C3C8-D7C5D467F1F1}"/>
              </a:ext>
            </a:extLst>
          </p:cNvPr>
          <p:cNvSpPr/>
          <p:nvPr/>
        </p:nvSpPr>
        <p:spPr>
          <a:xfrm>
            <a:off x="1316736" y="1563624"/>
            <a:ext cx="4672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 (Advanced Encryption Standard)</a:t>
            </a:r>
            <a:endParaRPr lang="en-US" sz="1400" dirty="0"/>
          </a:p>
        </p:txBody>
      </p:sp>
      <p:sp>
        <p:nvSpPr>
          <p:cNvPr id="30" name="Text 4">
            <a:extLst>
              <a:ext uri="{FF2B5EF4-FFF2-40B4-BE49-F238E27FC236}">
                <a16:creationId xmlns:a16="http://schemas.microsoft.com/office/drawing/2014/main" id="{F4B12992-6E3A-707A-48AB-10440B6B393F}"/>
              </a:ext>
            </a:extLst>
          </p:cNvPr>
          <p:cNvSpPr/>
          <p:nvPr/>
        </p:nvSpPr>
        <p:spPr>
          <a:xfrm>
            <a:off x="1316736" y="1847088"/>
            <a:ext cx="4672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confidentiality — scrambles data so only holders of the key can read it (e.g., AES 256).</a:t>
            </a:r>
            <a:endParaRPr lang="en-US" sz="1050" dirty="0"/>
          </a:p>
        </p:txBody>
      </p:sp>
      <p:sp>
        <p:nvSpPr>
          <p:cNvPr id="32" name="Shape 5">
            <a:extLst>
              <a:ext uri="{FF2B5EF4-FFF2-40B4-BE49-F238E27FC236}">
                <a16:creationId xmlns:a16="http://schemas.microsoft.com/office/drawing/2014/main" id="{524C9568-DBC2-7031-6A58-659FA025B703}"/>
              </a:ext>
            </a:extLst>
          </p:cNvPr>
          <p:cNvSpPr/>
          <p:nvPr/>
        </p:nvSpPr>
        <p:spPr>
          <a:xfrm>
            <a:off x="6217920" y="160020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34" name="Image 1" descr="/home/claude/icons/hashtag.png">
            <a:extLst>
              <a:ext uri="{FF2B5EF4-FFF2-40B4-BE49-F238E27FC236}">
                <a16:creationId xmlns:a16="http://schemas.microsoft.com/office/drawing/2014/main" id="{C024DD3F-ED31-45B9-46C4-02D06EF26D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9652" y="1741932"/>
            <a:ext cx="283464" cy="283464"/>
          </a:xfrm>
          <a:prstGeom prst="rect">
            <a:avLst/>
          </a:prstGeom>
        </p:spPr>
      </p:pic>
      <p:sp>
        <p:nvSpPr>
          <p:cNvPr id="36" name="Text 6">
            <a:extLst>
              <a:ext uri="{FF2B5EF4-FFF2-40B4-BE49-F238E27FC236}">
                <a16:creationId xmlns:a16="http://schemas.microsoft.com/office/drawing/2014/main" id="{E28A4E75-4746-5CF1-4DD5-739E5EA1CB9F}"/>
              </a:ext>
            </a:extLst>
          </p:cNvPr>
          <p:cNvSpPr/>
          <p:nvPr/>
        </p:nvSpPr>
        <p:spPr>
          <a:xfrm>
            <a:off x="6986016" y="1563624"/>
            <a:ext cx="4672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 / HMAC</a:t>
            </a:r>
            <a:endParaRPr lang="en-US" sz="1400" dirty="0"/>
          </a:p>
        </p:txBody>
      </p:sp>
      <p:sp>
        <p:nvSpPr>
          <p:cNvPr id="38" name="Text 7">
            <a:extLst>
              <a:ext uri="{FF2B5EF4-FFF2-40B4-BE49-F238E27FC236}">
                <a16:creationId xmlns:a16="http://schemas.microsoft.com/office/drawing/2014/main" id="{BAED9AD0-6FA5-B3D3-5169-F10BEA581947}"/>
              </a:ext>
            </a:extLst>
          </p:cNvPr>
          <p:cNvSpPr/>
          <p:nvPr/>
        </p:nvSpPr>
        <p:spPr>
          <a:xfrm>
            <a:off x="6986016" y="1847088"/>
            <a:ext cx="4672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integrity — a hash proves data wasn't altered; HMAC ties the hash to a secret key so it can't be forged.</a:t>
            </a:r>
            <a:endParaRPr lang="en-US" sz="1050" dirty="0"/>
          </a:p>
        </p:txBody>
      </p:sp>
      <p:sp>
        <p:nvSpPr>
          <p:cNvPr id="40" name="Shape 8">
            <a:extLst>
              <a:ext uri="{FF2B5EF4-FFF2-40B4-BE49-F238E27FC236}">
                <a16:creationId xmlns:a16="http://schemas.microsoft.com/office/drawing/2014/main" id="{15B6B7FA-49E8-5A8D-8957-3CCB3B6F5262}"/>
              </a:ext>
            </a:extLst>
          </p:cNvPr>
          <p:cNvSpPr/>
          <p:nvPr/>
        </p:nvSpPr>
        <p:spPr>
          <a:xfrm>
            <a:off x="548640" y="301752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42" name="Image 2" descr="/home/claude/icons/checkcircle.png">
            <a:extLst>
              <a:ext uri="{FF2B5EF4-FFF2-40B4-BE49-F238E27FC236}">
                <a16:creationId xmlns:a16="http://schemas.microsoft.com/office/drawing/2014/main" id="{2626CFAE-0035-82E5-8194-5923C9B5E6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372" y="3159252"/>
            <a:ext cx="283464" cy="283464"/>
          </a:xfrm>
          <a:prstGeom prst="rect">
            <a:avLst/>
          </a:prstGeom>
        </p:spPr>
      </p:pic>
      <p:sp>
        <p:nvSpPr>
          <p:cNvPr id="44" name="Text 9">
            <a:extLst>
              <a:ext uri="{FF2B5EF4-FFF2-40B4-BE49-F238E27FC236}">
                <a16:creationId xmlns:a16="http://schemas.microsoft.com/office/drawing/2014/main" id="{31680B5B-9F90-C81E-3EC0-3E08EA8BFA31}"/>
              </a:ext>
            </a:extLst>
          </p:cNvPr>
          <p:cNvSpPr/>
          <p:nvPr/>
        </p:nvSpPr>
        <p:spPr>
          <a:xfrm>
            <a:off x="1316736" y="2980944"/>
            <a:ext cx="4672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Confidentiality vs Integrity</a:t>
            </a:r>
            <a:endParaRPr lang="en-US" sz="1400" dirty="0"/>
          </a:p>
        </p:txBody>
      </p:sp>
      <p:sp>
        <p:nvSpPr>
          <p:cNvPr id="46" name="Text 10">
            <a:extLst>
              <a:ext uri="{FF2B5EF4-FFF2-40B4-BE49-F238E27FC236}">
                <a16:creationId xmlns:a16="http://schemas.microsoft.com/office/drawing/2014/main" id="{A460967A-4DED-32B9-9692-FFAB11B9A6AD}"/>
              </a:ext>
            </a:extLst>
          </p:cNvPr>
          <p:cNvSpPr/>
          <p:nvPr/>
        </p:nvSpPr>
        <p:spPr>
          <a:xfrm>
            <a:off x="1316736" y="3264408"/>
            <a:ext cx="4672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Confidentiality asks "can anyone read it?" (solved by encryption). Integrity asks "was it tampered with?" (solved by hashing).</a:t>
            </a:r>
            <a:endParaRPr lang="en-US" sz="1050" dirty="0"/>
          </a:p>
        </p:txBody>
      </p:sp>
      <p:sp>
        <p:nvSpPr>
          <p:cNvPr id="48" name="Shape 11">
            <a:extLst>
              <a:ext uri="{FF2B5EF4-FFF2-40B4-BE49-F238E27FC236}">
                <a16:creationId xmlns:a16="http://schemas.microsoft.com/office/drawing/2014/main" id="{18A48623-443C-57E8-46CC-10F542D64726}"/>
              </a:ext>
            </a:extLst>
          </p:cNvPr>
          <p:cNvSpPr/>
          <p:nvPr/>
        </p:nvSpPr>
        <p:spPr>
          <a:xfrm>
            <a:off x="6217920" y="301752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ar-EG"/>
          </a:p>
        </p:txBody>
      </p:sp>
      <p:pic>
        <p:nvPicPr>
          <p:cNvPr id="50" name="Image 3" descr="/home/claude/icons/shield.png">
            <a:extLst>
              <a:ext uri="{FF2B5EF4-FFF2-40B4-BE49-F238E27FC236}">
                <a16:creationId xmlns:a16="http://schemas.microsoft.com/office/drawing/2014/main" id="{3A4B9493-9502-6558-7154-0DF33EB5B8B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9652" y="3159252"/>
            <a:ext cx="283464" cy="283464"/>
          </a:xfrm>
          <a:prstGeom prst="rect">
            <a:avLst/>
          </a:prstGeom>
        </p:spPr>
      </p:pic>
      <p:sp>
        <p:nvSpPr>
          <p:cNvPr id="52" name="Text 12">
            <a:extLst>
              <a:ext uri="{FF2B5EF4-FFF2-40B4-BE49-F238E27FC236}">
                <a16:creationId xmlns:a16="http://schemas.microsoft.com/office/drawing/2014/main" id="{BE7AD561-7E06-4A38-6776-3D01E9DA0A4D}"/>
              </a:ext>
            </a:extLst>
          </p:cNvPr>
          <p:cNvSpPr/>
          <p:nvPr/>
        </p:nvSpPr>
        <p:spPr>
          <a:xfrm>
            <a:off x="6986016" y="2980944"/>
            <a:ext cx="4672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2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Forward Secrecy (PFS)</a:t>
            </a:r>
            <a:endParaRPr lang="en-US" sz="1400" dirty="0"/>
          </a:p>
        </p:txBody>
      </p:sp>
      <p:sp>
        <p:nvSpPr>
          <p:cNvPr id="54" name="Text 13">
            <a:extLst>
              <a:ext uri="{FF2B5EF4-FFF2-40B4-BE49-F238E27FC236}">
                <a16:creationId xmlns:a16="http://schemas.microsoft.com/office/drawing/2014/main" id="{7A56EE4C-A658-F6BF-2C59-609084DE6A2D}"/>
              </a:ext>
            </a:extLst>
          </p:cNvPr>
          <p:cNvSpPr/>
          <p:nvPr/>
        </p:nvSpPr>
        <p:spPr>
          <a:xfrm>
            <a:off x="6986016" y="3264408"/>
            <a:ext cx="4672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Forces a fresh Diffie-Hellman exchange for every new IPsec SA, so a compromised key never exposes past or future sessions.</a:t>
            </a:r>
            <a:endParaRPr lang="en-US" sz="1050" dirty="0"/>
          </a:p>
        </p:txBody>
      </p:sp>
      <p:sp>
        <p:nvSpPr>
          <p:cNvPr id="56" name="Shape 14">
            <a:extLst>
              <a:ext uri="{FF2B5EF4-FFF2-40B4-BE49-F238E27FC236}">
                <a16:creationId xmlns:a16="http://schemas.microsoft.com/office/drawing/2014/main" id="{BBD1936F-B076-B546-67F6-7DD4D80B3466}"/>
              </a:ext>
            </a:extLst>
          </p:cNvPr>
          <p:cNvSpPr/>
          <p:nvPr/>
        </p:nvSpPr>
        <p:spPr>
          <a:xfrm>
            <a:off x="548640" y="4709160"/>
            <a:ext cx="11064240" cy="1005840"/>
          </a:xfrm>
          <a:prstGeom prst="roundRect">
            <a:avLst>
              <a:gd name="adj" fmla="val 8182"/>
            </a:avLst>
          </a:prstGeom>
          <a:solidFill>
            <a:srgbClr val="0A1F33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58" name="Text 15">
            <a:extLst>
              <a:ext uri="{FF2B5EF4-FFF2-40B4-BE49-F238E27FC236}">
                <a16:creationId xmlns:a16="http://schemas.microsoft.com/office/drawing/2014/main" id="{DDB42D19-4E03-F6D9-1042-82ACFB9E9C2E}"/>
              </a:ext>
            </a:extLst>
          </p:cNvPr>
          <p:cNvSpPr/>
          <p:nvPr/>
        </p:nvSpPr>
        <p:spPr>
          <a:xfrm>
            <a:off x="822960" y="470916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lab:  </a:t>
            </a:r>
            <a:r>
              <a:rPr lang="en-US" sz="11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crypto ipsec transform-set R1-R3 esp-aes 256 esp-sha-hmac</a:t>
            </a:r>
            <a:r>
              <a:rPr lang="en-US" sz="11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combines AES 256 (confidentiality) with SHA-HMAC (integrity), and </a:t>
            </a:r>
            <a:r>
              <a:rPr lang="en-US" sz="115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pfs group24</a:t>
            </a:r>
            <a:r>
              <a:rPr lang="en-US" sz="1150" dirty="0">
                <a:solidFill>
                  <a:srgbClr val="EA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enables PFS.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 28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</a:t>
            </a:r>
            <a:endParaRPr lang="en-US" sz="1000" dirty="0"/>
          </a:p>
        </p:txBody>
      </p:sp>
      <p:sp>
        <p:nvSpPr>
          <p:cNvPr id="32" name="Text 0">
            <a:extLst>
              <a:ext uri="{FF2B5EF4-FFF2-40B4-BE49-F238E27FC236}">
                <a16:creationId xmlns:a16="http://schemas.microsoft.com/office/drawing/2014/main" id="{7D3C83C2-81C7-535C-DFE8-D61CB3A49192}"/>
              </a:ext>
            </a:extLst>
          </p:cNvPr>
          <p:cNvSpPr/>
          <p:nvPr/>
        </p:nvSpPr>
        <p:spPr>
          <a:xfrm>
            <a:off x="548640" y="384048"/>
            <a:ext cx="10058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IKE PHASE 2 &amp; CRYPTOGRAPHY</a:t>
            </a:r>
            <a:endParaRPr lang="en-US" sz="1200" dirty="0"/>
          </a:p>
        </p:txBody>
      </p:sp>
      <p:sp>
        <p:nvSpPr>
          <p:cNvPr id="34" name="Text 1">
            <a:extLst>
              <a:ext uri="{FF2B5EF4-FFF2-40B4-BE49-F238E27FC236}">
                <a16:creationId xmlns:a16="http://schemas.microsoft.com/office/drawing/2014/main" id="{0AABC5C3-9AE2-AE6C-EAF2-340E375914D0}"/>
              </a:ext>
            </a:extLst>
          </p:cNvPr>
          <p:cNvSpPr/>
          <p:nvPr/>
        </p:nvSpPr>
        <p:spPr>
          <a:xfrm>
            <a:off x="548640" y="65836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 — The 4 Steps &amp; Commands</a:t>
            </a:r>
            <a:endParaRPr lang="en-US" sz="2700" dirty="0"/>
          </a:p>
        </p:txBody>
      </p:sp>
      <p:sp>
        <p:nvSpPr>
          <p:cNvPr id="36" name="Shape 2">
            <a:extLst>
              <a:ext uri="{FF2B5EF4-FFF2-40B4-BE49-F238E27FC236}">
                <a16:creationId xmlns:a16="http://schemas.microsoft.com/office/drawing/2014/main" id="{8CB45879-CC29-916B-3044-8CED60A8298B}"/>
              </a:ext>
            </a:extLst>
          </p:cNvPr>
          <p:cNvSpPr/>
          <p:nvPr/>
        </p:nvSpPr>
        <p:spPr>
          <a:xfrm>
            <a:off x="548640" y="1481328"/>
            <a:ext cx="5349240" cy="2103120"/>
          </a:xfrm>
          <a:prstGeom prst="roundRect">
            <a:avLst>
              <a:gd name="adj" fmla="val 3913"/>
            </a:avLst>
          </a:prstGeom>
          <a:solidFill>
            <a:srgbClr val="F2F5F8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38" name="Shape 3">
            <a:extLst>
              <a:ext uri="{FF2B5EF4-FFF2-40B4-BE49-F238E27FC236}">
                <a16:creationId xmlns:a16="http://schemas.microsoft.com/office/drawing/2014/main" id="{6BF78F78-7DFB-9B61-0212-2597CBD5FDA3}"/>
              </a:ext>
            </a:extLst>
          </p:cNvPr>
          <p:cNvSpPr/>
          <p:nvPr/>
        </p:nvSpPr>
        <p:spPr>
          <a:xfrm>
            <a:off x="777240" y="1682496"/>
            <a:ext cx="402336" cy="402336"/>
          </a:xfrm>
          <a:prstGeom prst="ellipse">
            <a:avLst/>
          </a:prstGeom>
          <a:solidFill>
            <a:srgbClr val="0B3D5C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40" name="Text 4">
            <a:extLst>
              <a:ext uri="{FF2B5EF4-FFF2-40B4-BE49-F238E27FC236}">
                <a16:creationId xmlns:a16="http://schemas.microsoft.com/office/drawing/2014/main" id="{49B2CBDF-A6E9-5031-927E-98EA56B73C53}"/>
              </a:ext>
            </a:extLst>
          </p:cNvPr>
          <p:cNvSpPr/>
          <p:nvPr/>
        </p:nvSpPr>
        <p:spPr>
          <a:xfrm>
            <a:off x="777240" y="168249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42" name="Text 5">
            <a:extLst>
              <a:ext uri="{FF2B5EF4-FFF2-40B4-BE49-F238E27FC236}">
                <a16:creationId xmlns:a16="http://schemas.microsoft.com/office/drawing/2014/main" id="{423AE4A1-F0E7-61ED-81C6-C0183C0A4742}"/>
              </a:ext>
            </a:extLst>
          </p:cNvPr>
          <p:cNvSpPr/>
          <p:nvPr/>
        </p:nvSpPr>
        <p:spPr>
          <a:xfrm>
            <a:off x="1325880" y="1664208"/>
            <a:ext cx="4343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Transform Set</a:t>
            </a:r>
            <a:endParaRPr lang="en-US" sz="1350" dirty="0"/>
          </a:p>
        </p:txBody>
      </p:sp>
      <p:sp>
        <p:nvSpPr>
          <p:cNvPr id="44" name="Text 6">
            <a:extLst>
              <a:ext uri="{FF2B5EF4-FFF2-40B4-BE49-F238E27FC236}">
                <a16:creationId xmlns:a16="http://schemas.microsoft.com/office/drawing/2014/main" id="{E7D5EE1E-C5B0-0F75-F789-82DC4C195842}"/>
              </a:ext>
            </a:extLst>
          </p:cNvPr>
          <p:cNvSpPr/>
          <p:nvPr/>
        </p:nvSpPr>
        <p:spPr>
          <a:xfrm>
            <a:off x="1325880" y="1956816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HOW real data gets protected.</a:t>
            </a:r>
            <a:endParaRPr lang="en-US" sz="1000" dirty="0"/>
          </a:p>
        </p:txBody>
      </p:sp>
      <p:sp>
        <p:nvSpPr>
          <p:cNvPr id="46" name="Shape 7">
            <a:extLst>
              <a:ext uri="{FF2B5EF4-FFF2-40B4-BE49-F238E27FC236}">
                <a16:creationId xmlns:a16="http://schemas.microsoft.com/office/drawing/2014/main" id="{6326EB6C-95A0-18F9-229D-93A24BD83E4C}"/>
              </a:ext>
            </a:extLst>
          </p:cNvPr>
          <p:cNvSpPr/>
          <p:nvPr/>
        </p:nvSpPr>
        <p:spPr>
          <a:xfrm>
            <a:off x="777240" y="2414016"/>
            <a:ext cx="4892040" cy="1024128"/>
          </a:xfrm>
          <a:prstGeom prst="roundRect">
            <a:avLst>
              <a:gd name="adj" fmla="val 5357"/>
            </a:avLst>
          </a:prstGeom>
          <a:solidFill>
            <a:srgbClr val="0F2A42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48" name="Text 8">
            <a:extLst>
              <a:ext uri="{FF2B5EF4-FFF2-40B4-BE49-F238E27FC236}">
                <a16:creationId xmlns:a16="http://schemas.microsoft.com/office/drawing/2014/main" id="{50019884-97EB-3587-75AC-47492BC8CB02}"/>
              </a:ext>
            </a:extLst>
          </p:cNvPr>
          <p:cNvSpPr/>
          <p:nvPr/>
        </p:nvSpPr>
        <p:spPr>
          <a:xfrm>
            <a:off x="914400" y="2487168"/>
            <a:ext cx="46177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7E9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crypto ipsec transform-set R1-R3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7E9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esp-aes 256 esp-sha-hmac</a:t>
            </a:r>
            <a:endParaRPr lang="en-US" sz="950" dirty="0"/>
          </a:p>
        </p:txBody>
      </p:sp>
      <p:sp>
        <p:nvSpPr>
          <p:cNvPr id="50" name="Shape 9">
            <a:extLst>
              <a:ext uri="{FF2B5EF4-FFF2-40B4-BE49-F238E27FC236}">
                <a16:creationId xmlns:a16="http://schemas.microsoft.com/office/drawing/2014/main" id="{E3489C5B-FC82-5396-4926-6988C3E70D2C}"/>
              </a:ext>
            </a:extLst>
          </p:cNvPr>
          <p:cNvSpPr/>
          <p:nvPr/>
        </p:nvSpPr>
        <p:spPr>
          <a:xfrm>
            <a:off x="6126480" y="1481328"/>
            <a:ext cx="5349240" cy="2103120"/>
          </a:xfrm>
          <a:prstGeom prst="roundRect">
            <a:avLst>
              <a:gd name="adj" fmla="val 3913"/>
            </a:avLst>
          </a:prstGeom>
          <a:solidFill>
            <a:srgbClr val="F2F5F8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52" name="Shape 10">
            <a:extLst>
              <a:ext uri="{FF2B5EF4-FFF2-40B4-BE49-F238E27FC236}">
                <a16:creationId xmlns:a16="http://schemas.microsoft.com/office/drawing/2014/main" id="{2C64737B-997A-BFAA-64BE-1D30AE4331D1}"/>
              </a:ext>
            </a:extLst>
          </p:cNvPr>
          <p:cNvSpPr/>
          <p:nvPr/>
        </p:nvSpPr>
        <p:spPr>
          <a:xfrm>
            <a:off x="6355080" y="1682496"/>
            <a:ext cx="402336" cy="402336"/>
          </a:xfrm>
          <a:prstGeom prst="ellipse">
            <a:avLst/>
          </a:prstGeom>
          <a:solidFill>
            <a:srgbClr val="0B3D5C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54" name="Text 11">
            <a:extLst>
              <a:ext uri="{FF2B5EF4-FFF2-40B4-BE49-F238E27FC236}">
                <a16:creationId xmlns:a16="http://schemas.microsoft.com/office/drawing/2014/main" id="{7A282D0E-BCF4-C94E-4B14-7617EA71A84A}"/>
              </a:ext>
            </a:extLst>
          </p:cNvPr>
          <p:cNvSpPr/>
          <p:nvPr/>
        </p:nvSpPr>
        <p:spPr>
          <a:xfrm>
            <a:off x="6355080" y="168249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56" name="Text 12">
            <a:extLst>
              <a:ext uri="{FF2B5EF4-FFF2-40B4-BE49-F238E27FC236}">
                <a16:creationId xmlns:a16="http://schemas.microsoft.com/office/drawing/2014/main" id="{CCE0281D-CE75-2253-629C-75BD50E84C41}"/>
              </a:ext>
            </a:extLst>
          </p:cNvPr>
          <p:cNvSpPr/>
          <p:nvPr/>
        </p:nvSpPr>
        <p:spPr>
          <a:xfrm>
            <a:off x="6903720" y="1664208"/>
            <a:ext cx="4343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Interesting Traffic</a:t>
            </a:r>
            <a:endParaRPr lang="en-US" sz="1350" dirty="0"/>
          </a:p>
        </p:txBody>
      </p:sp>
      <p:sp>
        <p:nvSpPr>
          <p:cNvPr id="58" name="Text 13">
            <a:extLst>
              <a:ext uri="{FF2B5EF4-FFF2-40B4-BE49-F238E27FC236}">
                <a16:creationId xmlns:a16="http://schemas.microsoft.com/office/drawing/2014/main" id="{179491FE-9719-8E54-25DD-9CCCDAA4B90B}"/>
              </a:ext>
            </a:extLst>
          </p:cNvPr>
          <p:cNvSpPr/>
          <p:nvPr/>
        </p:nvSpPr>
        <p:spPr>
          <a:xfrm>
            <a:off x="6903720" y="1956816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WHAT traffic gets protected.</a:t>
            </a:r>
            <a:endParaRPr lang="en-US" sz="1000" dirty="0"/>
          </a:p>
        </p:txBody>
      </p:sp>
      <p:sp>
        <p:nvSpPr>
          <p:cNvPr id="60" name="Shape 14">
            <a:extLst>
              <a:ext uri="{FF2B5EF4-FFF2-40B4-BE49-F238E27FC236}">
                <a16:creationId xmlns:a16="http://schemas.microsoft.com/office/drawing/2014/main" id="{153403E2-9FFA-D758-98F2-C680D7E64080}"/>
              </a:ext>
            </a:extLst>
          </p:cNvPr>
          <p:cNvSpPr/>
          <p:nvPr/>
        </p:nvSpPr>
        <p:spPr>
          <a:xfrm>
            <a:off x="6355080" y="2414016"/>
            <a:ext cx="4892040" cy="1024128"/>
          </a:xfrm>
          <a:prstGeom prst="roundRect">
            <a:avLst>
              <a:gd name="adj" fmla="val 5357"/>
            </a:avLst>
          </a:prstGeom>
          <a:solidFill>
            <a:srgbClr val="0F2A42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62" name="Text 15">
            <a:extLst>
              <a:ext uri="{FF2B5EF4-FFF2-40B4-BE49-F238E27FC236}">
                <a16:creationId xmlns:a16="http://schemas.microsoft.com/office/drawing/2014/main" id="{FCA879A9-919F-763D-B6E0-C9F5C7F6D2C3}"/>
              </a:ext>
            </a:extLst>
          </p:cNvPr>
          <p:cNvSpPr/>
          <p:nvPr/>
        </p:nvSpPr>
        <p:spPr>
          <a:xfrm>
            <a:off x="6492240" y="2487168"/>
            <a:ext cx="46177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7E9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access-list 101 permit ip 192.168.1.0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7E9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0.0.0.255 192.168.3.0 0.0.0.255</a:t>
            </a:r>
            <a:endParaRPr lang="en-US" sz="950" dirty="0"/>
          </a:p>
        </p:txBody>
      </p:sp>
      <p:sp>
        <p:nvSpPr>
          <p:cNvPr id="64" name="Shape 16">
            <a:extLst>
              <a:ext uri="{FF2B5EF4-FFF2-40B4-BE49-F238E27FC236}">
                <a16:creationId xmlns:a16="http://schemas.microsoft.com/office/drawing/2014/main" id="{1C44E4EB-E060-34CF-0EB2-27C90FFA3BC8}"/>
              </a:ext>
            </a:extLst>
          </p:cNvPr>
          <p:cNvSpPr/>
          <p:nvPr/>
        </p:nvSpPr>
        <p:spPr>
          <a:xfrm>
            <a:off x="548640" y="3813048"/>
            <a:ext cx="5349240" cy="2103120"/>
          </a:xfrm>
          <a:prstGeom prst="roundRect">
            <a:avLst>
              <a:gd name="adj" fmla="val 3913"/>
            </a:avLst>
          </a:prstGeom>
          <a:solidFill>
            <a:srgbClr val="F2F5F8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66" name="Shape 17">
            <a:extLst>
              <a:ext uri="{FF2B5EF4-FFF2-40B4-BE49-F238E27FC236}">
                <a16:creationId xmlns:a16="http://schemas.microsoft.com/office/drawing/2014/main" id="{EB618C3C-BB44-02E2-6099-38DD9A57B4C4}"/>
              </a:ext>
            </a:extLst>
          </p:cNvPr>
          <p:cNvSpPr/>
          <p:nvPr/>
        </p:nvSpPr>
        <p:spPr>
          <a:xfrm>
            <a:off x="777240" y="4014216"/>
            <a:ext cx="402336" cy="402336"/>
          </a:xfrm>
          <a:prstGeom prst="ellipse">
            <a:avLst/>
          </a:prstGeom>
          <a:solidFill>
            <a:srgbClr val="0B3D5C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68" name="Text 18">
            <a:extLst>
              <a:ext uri="{FF2B5EF4-FFF2-40B4-BE49-F238E27FC236}">
                <a16:creationId xmlns:a16="http://schemas.microsoft.com/office/drawing/2014/main" id="{FF671C6A-1B75-1583-E025-EC17DBBC7551}"/>
              </a:ext>
            </a:extLst>
          </p:cNvPr>
          <p:cNvSpPr/>
          <p:nvPr/>
        </p:nvSpPr>
        <p:spPr>
          <a:xfrm>
            <a:off x="777240" y="40142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70" name="Text 19">
            <a:extLst>
              <a:ext uri="{FF2B5EF4-FFF2-40B4-BE49-F238E27FC236}">
                <a16:creationId xmlns:a16="http://schemas.microsoft.com/office/drawing/2014/main" id="{E129BDC2-26E8-9E0C-2FA0-8A7D83546168}"/>
              </a:ext>
            </a:extLst>
          </p:cNvPr>
          <p:cNvSpPr/>
          <p:nvPr/>
        </p:nvSpPr>
        <p:spPr>
          <a:xfrm>
            <a:off x="1325880" y="3995928"/>
            <a:ext cx="4343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Crypto Map</a:t>
            </a:r>
            <a:endParaRPr lang="en-US" sz="1350" dirty="0"/>
          </a:p>
        </p:txBody>
      </p:sp>
      <p:sp>
        <p:nvSpPr>
          <p:cNvPr id="72" name="Text 20">
            <a:extLst>
              <a:ext uri="{FF2B5EF4-FFF2-40B4-BE49-F238E27FC236}">
                <a16:creationId xmlns:a16="http://schemas.microsoft.com/office/drawing/2014/main" id="{E81749A0-0AB3-9F77-EB40-E9ACF99D32E4}"/>
              </a:ext>
            </a:extLst>
          </p:cNvPr>
          <p:cNvSpPr/>
          <p:nvPr/>
        </p:nvSpPr>
        <p:spPr>
          <a:xfrm>
            <a:off x="1325880" y="4288536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Binds peer + ACL + transform-set + PFS together.</a:t>
            </a:r>
            <a:endParaRPr lang="en-US" sz="1000" dirty="0"/>
          </a:p>
        </p:txBody>
      </p:sp>
      <p:sp>
        <p:nvSpPr>
          <p:cNvPr id="74" name="Shape 21">
            <a:extLst>
              <a:ext uri="{FF2B5EF4-FFF2-40B4-BE49-F238E27FC236}">
                <a16:creationId xmlns:a16="http://schemas.microsoft.com/office/drawing/2014/main" id="{BA5646FD-5F59-FE2F-89FC-B0DE867FA6A3}"/>
              </a:ext>
            </a:extLst>
          </p:cNvPr>
          <p:cNvSpPr/>
          <p:nvPr/>
        </p:nvSpPr>
        <p:spPr>
          <a:xfrm>
            <a:off x="777240" y="4745736"/>
            <a:ext cx="4892040" cy="1024128"/>
          </a:xfrm>
          <a:prstGeom prst="roundRect">
            <a:avLst>
              <a:gd name="adj" fmla="val 5357"/>
            </a:avLst>
          </a:prstGeom>
          <a:solidFill>
            <a:srgbClr val="0F2A42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76" name="Text 22">
            <a:extLst>
              <a:ext uri="{FF2B5EF4-FFF2-40B4-BE49-F238E27FC236}">
                <a16:creationId xmlns:a16="http://schemas.microsoft.com/office/drawing/2014/main" id="{5A10374E-C0F5-A9D1-E9E5-5776A7E60639}"/>
              </a:ext>
            </a:extLst>
          </p:cNvPr>
          <p:cNvSpPr/>
          <p:nvPr/>
        </p:nvSpPr>
        <p:spPr>
          <a:xfrm>
            <a:off x="914400" y="4818888"/>
            <a:ext cx="46177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7E9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crypto map CMAP 10 ipsec-isakmp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7E9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set peer 10.2.2.1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7E9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set pfs group24</a:t>
            </a:r>
            <a:endParaRPr lang="en-US" sz="950" dirty="0"/>
          </a:p>
        </p:txBody>
      </p:sp>
      <p:sp>
        <p:nvSpPr>
          <p:cNvPr id="78" name="Shape 23">
            <a:extLst>
              <a:ext uri="{FF2B5EF4-FFF2-40B4-BE49-F238E27FC236}">
                <a16:creationId xmlns:a16="http://schemas.microsoft.com/office/drawing/2014/main" id="{45C05D72-06A4-91E1-156E-D9775425F29B}"/>
              </a:ext>
            </a:extLst>
          </p:cNvPr>
          <p:cNvSpPr/>
          <p:nvPr/>
        </p:nvSpPr>
        <p:spPr>
          <a:xfrm>
            <a:off x="6126480" y="3813048"/>
            <a:ext cx="5349240" cy="2103120"/>
          </a:xfrm>
          <a:prstGeom prst="roundRect">
            <a:avLst>
              <a:gd name="adj" fmla="val 3913"/>
            </a:avLst>
          </a:prstGeom>
          <a:solidFill>
            <a:srgbClr val="F2F5F8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80" name="Shape 24">
            <a:extLst>
              <a:ext uri="{FF2B5EF4-FFF2-40B4-BE49-F238E27FC236}">
                <a16:creationId xmlns:a16="http://schemas.microsoft.com/office/drawing/2014/main" id="{2606BB7F-39D7-A52E-40FA-93324F3D09B1}"/>
              </a:ext>
            </a:extLst>
          </p:cNvPr>
          <p:cNvSpPr/>
          <p:nvPr/>
        </p:nvSpPr>
        <p:spPr>
          <a:xfrm>
            <a:off x="6355080" y="4014216"/>
            <a:ext cx="402336" cy="402336"/>
          </a:xfrm>
          <a:prstGeom prst="ellipse">
            <a:avLst/>
          </a:prstGeom>
          <a:solidFill>
            <a:srgbClr val="0B3D5C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82" name="Text 25">
            <a:extLst>
              <a:ext uri="{FF2B5EF4-FFF2-40B4-BE49-F238E27FC236}">
                <a16:creationId xmlns:a16="http://schemas.microsoft.com/office/drawing/2014/main" id="{D1CC7D80-46EB-289A-7A5E-22B307FE6557}"/>
              </a:ext>
            </a:extLst>
          </p:cNvPr>
          <p:cNvSpPr/>
          <p:nvPr/>
        </p:nvSpPr>
        <p:spPr>
          <a:xfrm>
            <a:off x="6355080" y="40142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84" name="Text 26">
            <a:extLst>
              <a:ext uri="{FF2B5EF4-FFF2-40B4-BE49-F238E27FC236}">
                <a16:creationId xmlns:a16="http://schemas.microsoft.com/office/drawing/2014/main" id="{67271093-2C8C-F07E-FC35-935E9B925031}"/>
              </a:ext>
            </a:extLst>
          </p:cNvPr>
          <p:cNvSpPr/>
          <p:nvPr/>
        </p:nvSpPr>
        <p:spPr>
          <a:xfrm>
            <a:off x="6903720" y="3995928"/>
            <a:ext cx="4343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Crypto Map to Interface</a:t>
            </a:r>
            <a:endParaRPr lang="en-US" sz="1350" dirty="0"/>
          </a:p>
        </p:txBody>
      </p:sp>
      <p:sp>
        <p:nvSpPr>
          <p:cNvPr id="86" name="Text 27">
            <a:extLst>
              <a:ext uri="{FF2B5EF4-FFF2-40B4-BE49-F238E27FC236}">
                <a16:creationId xmlns:a16="http://schemas.microsoft.com/office/drawing/2014/main" id="{05CBA4F5-B4FE-BB0C-B7F1-6314E222B0D6}"/>
              </a:ext>
            </a:extLst>
          </p:cNvPr>
          <p:cNvSpPr/>
          <p:nvPr/>
        </p:nvSpPr>
        <p:spPr>
          <a:xfrm>
            <a:off x="6903720" y="4288536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WHERE encryption is enforced.</a:t>
            </a:r>
            <a:endParaRPr lang="en-US" sz="1000" dirty="0"/>
          </a:p>
        </p:txBody>
      </p:sp>
      <p:sp>
        <p:nvSpPr>
          <p:cNvPr id="88" name="Shape 28">
            <a:extLst>
              <a:ext uri="{FF2B5EF4-FFF2-40B4-BE49-F238E27FC236}">
                <a16:creationId xmlns:a16="http://schemas.microsoft.com/office/drawing/2014/main" id="{6507E04A-40A5-66FC-33BF-8FBA10824ECF}"/>
              </a:ext>
            </a:extLst>
          </p:cNvPr>
          <p:cNvSpPr/>
          <p:nvPr/>
        </p:nvSpPr>
        <p:spPr>
          <a:xfrm>
            <a:off x="6355080" y="4745736"/>
            <a:ext cx="4892040" cy="1024128"/>
          </a:xfrm>
          <a:prstGeom prst="roundRect">
            <a:avLst>
              <a:gd name="adj" fmla="val 5357"/>
            </a:avLst>
          </a:prstGeom>
          <a:solidFill>
            <a:srgbClr val="0F2A42"/>
          </a:solidFill>
          <a:ln/>
        </p:spPr>
        <p:txBody>
          <a:bodyPr/>
          <a:lstStyle/>
          <a:p>
            <a:endParaRPr lang="ar-EG"/>
          </a:p>
        </p:txBody>
      </p:sp>
      <p:sp>
        <p:nvSpPr>
          <p:cNvPr id="90" name="Text 29">
            <a:extLst>
              <a:ext uri="{FF2B5EF4-FFF2-40B4-BE49-F238E27FC236}">
                <a16:creationId xmlns:a16="http://schemas.microsoft.com/office/drawing/2014/main" id="{6F63F6B5-AA4D-5B84-E283-9ABDA4B6862C}"/>
              </a:ext>
            </a:extLst>
          </p:cNvPr>
          <p:cNvSpPr/>
          <p:nvPr/>
        </p:nvSpPr>
        <p:spPr>
          <a:xfrm>
            <a:off x="6492240" y="4818888"/>
            <a:ext cx="46177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7E9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interface G0/0/0</a:t>
            </a:r>
            <a:endParaRPr lang="en-US" sz="9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50" dirty="0">
                <a:solidFill>
                  <a:srgbClr val="D7E9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crypto map CMAP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8A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 · THE LAB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Topology: R1 ↔ R2 ↔ R3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4415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8B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IPsec Tunnel (R1 ↔ R3, endpoints 10.1.1.1 / 10.2.2.1)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1417320" cy="822960"/>
          </a:xfrm>
          <a:prstGeom prst="rect">
            <a:avLst/>
          </a:prstGeom>
          <a:solidFill>
            <a:srgbClr val="5B6B7C"/>
          </a:solidFill>
        </p:spPr>
        <p:txBody>
          <a:bodyPr/>
          <a:lstStyle/>
          <a:p>
            <a:endParaRPr lang="ar-EG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1417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PC-A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468880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3E9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192.168.1.3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965960" y="2423160"/>
            <a:ext cx="518099" cy="0"/>
          </a:xfrm>
          <a:prstGeom prst="line">
            <a:avLst/>
          </a:prstGeom>
          <a:noFill/>
          <a:ln w="15875">
            <a:solidFill>
              <a:srgbClr val="9AA7B4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9" name="Shape 7"/>
          <p:cNvSpPr/>
          <p:nvPr/>
        </p:nvSpPr>
        <p:spPr>
          <a:xfrm>
            <a:off x="2484059" y="2011680"/>
            <a:ext cx="1417320" cy="822960"/>
          </a:xfrm>
          <a:prstGeom prst="rect">
            <a:avLst/>
          </a:prstGeom>
          <a:solidFill>
            <a:srgbClr val="5B6B7C"/>
          </a:solidFill>
        </p:spPr>
        <p:txBody>
          <a:bodyPr/>
          <a:lstStyle/>
          <a:p>
            <a:endParaRPr lang="ar-EG"/>
          </a:p>
        </p:txBody>
      </p:sp>
      <p:sp>
        <p:nvSpPr>
          <p:cNvPr id="10" name="Text 8"/>
          <p:cNvSpPr/>
          <p:nvPr/>
        </p:nvSpPr>
        <p:spPr>
          <a:xfrm>
            <a:off x="2484059" y="2103120"/>
            <a:ext cx="1417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484059" y="2468880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3E9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switch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901379" y="2423160"/>
            <a:ext cx="518099" cy="0"/>
          </a:xfrm>
          <a:prstGeom prst="line">
            <a:avLst/>
          </a:prstGeom>
          <a:noFill/>
          <a:ln w="15875">
            <a:solidFill>
              <a:srgbClr val="9AA7B4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3" name="Shape 11"/>
          <p:cNvSpPr/>
          <p:nvPr/>
        </p:nvSpPr>
        <p:spPr>
          <a:xfrm>
            <a:off x="4419478" y="2011680"/>
            <a:ext cx="1417320" cy="822960"/>
          </a:xfrm>
          <a:prstGeom prst="rect">
            <a:avLst/>
          </a:prstGeom>
          <a:solidFill>
            <a:srgbClr val="1B3A57"/>
          </a:solidFill>
        </p:spPr>
        <p:txBody>
          <a:bodyPr/>
          <a:lstStyle/>
          <a:p>
            <a:endParaRPr lang="ar-EG"/>
          </a:p>
        </p:txBody>
      </p:sp>
      <p:sp>
        <p:nvSpPr>
          <p:cNvPr id="14" name="Text 12"/>
          <p:cNvSpPr/>
          <p:nvPr/>
        </p:nvSpPr>
        <p:spPr>
          <a:xfrm>
            <a:off x="4419478" y="2103120"/>
            <a:ext cx="1417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R1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419478" y="2468880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3E9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192.168.1.1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836798" y="2423160"/>
            <a:ext cx="518099" cy="0"/>
          </a:xfrm>
          <a:prstGeom prst="line">
            <a:avLst/>
          </a:prstGeom>
          <a:noFill/>
          <a:ln w="15875">
            <a:solidFill>
              <a:srgbClr val="9AA7B4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17" name="Shape 15"/>
          <p:cNvSpPr/>
          <p:nvPr/>
        </p:nvSpPr>
        <p:spPr>
          <a:xfrm>
            <a:off x="6354897" y="2011680"/>
            <a:ext cx="1417320" cy="822960"/>
          </a:xfrm>
          <a:prstGeom prst="rect">
            <a:avLst/>
          </a:prstGeom>
          <a:solidFill>
            <a:srgbClr val="9AA7B4"/>
          </a:solidFill>
        </p:spPr>
        <p:txBody>
          <a:bodyPr/>
          <a:lstStyle/>
          <a:p>
            <a:endParaRPr lang="ar-EG"/>
          </a:p>
        </p:txBody>
      </p:sp>
      <p:sp>
        <p:nvSpPr>
          <p:cNvPr id="18" name="Text 16"/>
          <p:cNvSpPr/>
          <p:nvPr/>
        </p:nvSpPr>
        <p:spPr>
          <a:xfrm>
            <a:off x="6354897" y="2103120"/>
            <a:ext cx="1417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R2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354897" y="2468880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3E9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pass-through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772217" y="2423160"/>
            <a:ext cx="518099" cy="0"/>
          </a:xfrm>
          <a:prstGeom prst="line">
            <a:avLst/>
          </a:prstGeom>
          <a:noFill/>
          <a:ln w="15875">
            <a:solidFill>
              <a:srgbClr val="9AA7B4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1" name="Shape 19"/>
          <p:cNvSpPr/>
          <p:nvPr/>
        </p:nvSpPr>
        <p:spPr>
          <a:xfrm>
            <a:off x="8290316" y="2011680"/>
            <a:ext cx="1417320" cy="822960"/>
          </a:xfrm>
          <a:prstGeom prst="rect">
            <a:avLst/>
          </a:prstGeom>
          <a:solidFill>
            <a:srgbClr val="1B3A57"/>
          </a:solidFill>
        </p:spPr>
        <p:txBody>
          <a:bodyPr/>
          <a:lstStyle/>
          <a:p>
            <a:endParaRPr lang="ar-EG"/>
          </a:p>
        </p:txBody>
      </p:sp>
      <p:sp>
        <p:nvSpPr>
          <p:cNvPr id="22" name="Text 20"/>
          <p:cNvSpPr/>
          <p:nvPr/>
        </p:nvSpPr>
        <p:spPr>
          <a:xfrm>
            <a:off x="8290316" y="2103120"/>
            <a:ext cx="1417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R3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290316" y="2468880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3E9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192.168.3.1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9707636" y="2423160"/>
            <a:ext cx="518099" cy="0"/>
          </a:xfrm>
          <a:prstGeom prst="line">
            <a:avLst/>
          </a:prstGeom>
          <a:noFill/>
          <a:ln w="15875">
            <a:solidFill>
              <a:srgbClr val="9AA7B4"/>
            </a:solidFill>
            <a:prstDash val="solid"/>
          </a:ln>
        </p:spPr>
        <p:txBody>
          <a:bodyPr/>
          <a:lstStyle/>
          <a:p>
            <a:endParaRPr lang="ar-EG"/>
          </a:p>
        </p:txBody>
      </p:sp>
      <p:sp>
        <p:nvSpPr>
          <p:cNvPr id="25" name="Shape 23"/>
          <p:cNvSpPr/>
          <p:nvPr/>
        </p:nvSpPr>
        <p:spPr>
          <a:xfrm>
            <a:off x="10225735" y="2011680"/>
            <a:ext cx="1417320" cy="822960"/>
          </a:xfrm>
          <a:prstGeom prst="rect">
            <a:avLst/>
          </a:prstGeom>
          <a:solidFill>
            <a:srgbClr val="5B6B7C"/>
          </a:solidFill>
        </p:spPr>
        <p:txBody>
          <a:bodyPr/>
          <a:lstStyle/>
          <a:p>
            <a:endParaRPr lang="ar-EG"/>
          </a:p>
        </p:txBody>
      </p:sp>
      <p:sp>
        <p:nvSpPr>
          <p:cNvPr id="26" name="Text 24"/>
          <p:cNvSpPr/>
          <p:nvPr/>
        </p:nvSpPr>
        <p:spPr>
          <a:xfrm>
            <a:off x="10225735" y="2103120"/>
            <a:ext cx="14173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S3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0225735" y="2468880"/>
            <a:ext cx="141732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3E9E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switch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419478" y="1719072"/>
            <a:ext cx="1935419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3A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10.1.1.0/30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354897" y="1719072"/>
            <a:ext cx="1935419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3A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10.2.2.0/30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8640" y="2926080"/>
            <a:ext cx="3352739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192.168.1.0/24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290316" y="2926080"/>
            <a:ext cx="3352739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192.168.3.0/24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8640" y="3794760"/>
            <a:ext cx="5364328" cy="2194560"/>
          </a:xfrm>
          <a:prstGeom prst="roundRect">
            <a:avLst>
              <a:gd name="adj" fmla="val 2500"/>
            </a:avLst>
          </a:prstGeom>
          <a:solidFill>
            <a:srgbClr val="EEF2F6"/>
          </a:solidFill>
        </p:spPr>
        <p:txBody>
          <a:bodyPr/>
          <a:lstStyle/>
          <a:p>
            <a:endParaRPr lang="ar-EG"/>
          </a:p>
        </p:txBody>
      </p:sp>
      <p:sp>
        <p:nvSpPr>
          <p:cNvPr id="33" name="Text 31"/>
          <p:cNvSpPr/>
          <p:nvPr/>
        </p:nvSpPr>
        <p:spPr>
          <a:xfrm>
            <a:off x="777240" y="3977640"/>
            <a:ext cx="4907128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3A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R2 — the "public network"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777240" y="4343400"/>
            <a:ext cx="4907128" cy="1554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Simulates the Internet / provider path. It has no IPsec configuration at all — it just routes the encrypted ESP packets like any other IP traffic. OSPF area 0 provides underlying reachability so R1 and R3 can even reach each other before VPN negotiation starts.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278728" y="3794760"/>
            <a:ext cx="5364328" cy="2194560"/>
          </a:xfrm>
          <a:prstGeom prst="roundRect">
            <a:avLst>
              <a:gd name="adj" fmla="val 2500"/>
            </a:avLst>
          </a:prstGeom>
          <a:solidFill>
            <a:srgbClr val="EEF2F6"/>
          </a:solidFill>
        </p:spPr>
        <p:txBody>
          <a:bodyPr/>
          <a:lstStyle/>
          <a:p>
            <a:endParaRPr lang="ar-EG"/>
          </a:p>
        </p:txBody>
      </p:sp>
      <p:sp>
        <p:nvSpPr>
          <p:cNvPr id="36" name="Text 34"/>
          <p:cNvSpPr/>
          <p:nvPr/>
        </p:nvSpPr>
        <p:spPr>
          <a:xfrm>
            <a:off x="6507328" y="3977640"/>
            <a:ext cx="4907128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3A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Tunnel endpoints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6507328" y="4343400"/>
            <a:ext cx="4907128" cy="1554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VPN is built between the WAN-facing interfaces of R1 (10.1.1.1) and R3 (10.2.2.1) — not the LAN interfaces. Protected traffic is the LAN-to-LAN subnets: 192.168.1.0/24 ↔ 192.168.3.0/24.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8A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 · THE LAB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Tunnel Establishment — Step by Step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84048" cy="384048"/>
          </a:xfrm>
          <a:prstGeom prst="ellipse">
            <a:avLst/>
          </a:prstGeom>
          <a:solidFill>
            <a:srgbClr val="1B3A57"/>
          </a:solidFill>
        </p:spPr>
        <p:txBody>
          <a:bodyPr/>
          <a:lstStyle/>
          <a:p>
            <a:endParaRPr lang="ar-EG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43000" y="1399032"/>
            <a:ext cx="10500055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B3A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PC-A pings PC-C  </a:t>
            </a:r>
            <a:r>
              <a:rPr lang="en-US" sz="13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Packet matches ACL 101 on R1 → classified as "interesting traffic".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075688"/>
            <a:ext cx="384048" cy="384048"/>
          </a:xfrm>
          <a:prstGeom prst="ellipse">
            <a:avLst/>
          </a:prstGeom>
          <a:solidFill>
            <a:srgbClr val="1B3A57"/>
          </a:solidFill>
        </p:spPr>
        <p:txBody>
          <a:bodyPr/>
          <a:lstStyle/>
          <a:p>
            <a:endParaRPr lang="ar-EG"/>
          </a:p>
        </p:txBody>
      </p:sp>
      <p:sp>
        <p:nvSpPr>
          <p:cNvPr id="8" name="Text 6"/>
          <p:cNvSpPr/>
          <p:nvPr/>
        </p:nvSpPr>
        <p:spPr>
          <a:xfrm>
            <a:off x="548640" y="2075688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2057400"/>
            <a:ext cx="10500055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B3A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IKE Phase 1  </a:t>
            </a:r>
            <a:r>
              <a:rPr lang="en-US" sz="13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R1 initiates ISAKMP negotiation with 10.2.2.1 — DH exchange, PSK authentication → secure control channel.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734056"/>
            <a:ext cx="384048" cy="384048"/>
          </a:xfrm>
          <a:prstGeom prst="ellipse">
            <a:avLst/>
          </a:prstGeom>
          <a:solidFill>
            <a:srgbClr val="1B3A57"/>
          </a:solidFill>
        </p:spPr>
        <p:txBody>
          <a:bodyPr/>
          <a:lstStyle/>
          <a:p>
            <a:endParaRPr lang="ar-EG"/>
          </a:p>
        </p:txBody>
      </p:sp>
      <p:sp>
        <p:nvSpPr>
          <p:cNvPr id="11" name="Text 9"/>
          <p:cNvSpPr/>
          <p:nvPr/>
        </p:nvSpPr>
        <p:spPr>
          <a:xfrm>
            <a:off x="548640" y="2734056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43000" y="2715768"/>
            <a:ext cx="10500055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B3A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IKE Phase 2  </a:t>
            </a:r>
            <a:r>
              <a:rPr lang="en-US" sz="13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Quick Mode, inside the Phase 1 tunnel, negotiates the IPsec SAs using the transform set and PFS.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392424"/>
            <a:ext cx="384048" cy="384048"/>
          </a:xfrm>
          <a:prstGeom prst="ellipse">
            <a:avLst/>
          </a:prstGeom>
          <a:solidFill>
            <a:srgbClr val="1B3A57"/>
          </a:solidFill>
        </p:spPr>
        <p:txBody>
          <a:bodyPr/>
          <a:lstStyle/>
          <a:p>
            <a:endParaRPr lang="ar-EG"/>
          </a:p>
        </p:txBody>
      </p:sp>
      <p:sp>
        <p:nvSpPr>
          <p:cNvPr id="14" name="Text 12"/>
          <p:cNvSpPr/>
          <p:nvPr/>
        </p:nvSpPr>
        <p:spPr>
          <a:xfrm>
            <a:off x="548640" y="3392424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43000" y="3374136"/>
            <a:ext cx="10500055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B3A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Encrypt &amp; forward  </a:t>
            </a:r>
            <a:r>
              <a:rPr lang="en-US" sz="13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R1 encapsulates the packet with ESP (Tunnel mode) and forwards it — R2 just routes an opaque payload.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050792"/>
            <a:ext cx="384048" cy="384048"/>
          </a:xfrm>
          <a:prstGeom prst="ellipse">
            <a:avLst/>
          </a:prstGeom>
          <a:solidFill>
            <a:srgbClr val="1B3A57"/>
          </a:solidFill>
        </p:spPr>
        <p:txBody>
          <a:bodyPr/>
          <a:lstStyle/>
          <a:p>
            <a:endParaRPr lang="ar-EG"/>
          </a:p>
        </p:txBody>
      </p:sp>
      <p:sp>
        <p:nvSpPr>
          <p:cNvPr id="17" name="Text 15"/>
          <p:cNvSpPr/>
          <p:nvPr/>
        </p:nvSpPr>
        <p:spPr>
          <a:xfrm>
            <a:off x="548640" y="4050792"/>
            <a:ext cx="384048" cy="384048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4032504"/>
            <a:ext cx="10500055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00" b="1" dirty="0">
                <a:solidFill>
                  <a:srgbClr val="1B3A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Decrypt at R3  </a:t>
            </a:r>
            <a:r>
              <a:rPr lang="en-US" sz="13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R3 verifies integrity, decrypts, and forwards the original packet to PC-C.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846320"/>
            <a:ext cx="11094415" cy="594360"/>
          </a:xfrm>
          <a:prstGeom prst="roundRect">
            <a:avLst>
              <a:gd name="adj" fmla="val 9231"/>
            </a:avLst>
          </a:prstGeom>
          <a:solidFill>
            <a:srgbClr val="EEF2F6"/>
          </a:solidFill>
        </p:spPr>
        <p:txBody>
          <a:bodyPr/>
          <a:lstStyle/>
          <a:p>
            <a:endParaRPr lang="ar-EG"/>
          </a:p>
        </p:txBody>
      </p:sp>
      <p:sp>
        <p:nvSpPr>
          <p:cNvPr id="20" name="Text 18"/>
          <p:cNvSpPr/>
          <p:nvPr/>
        </p:nvSpPr>
        <p:spPr>
          <a:xfrm>
            <a:off x="777240" y="4846320"/>
            <a:ext cx="10637215" cy="5943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B3A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Result: ISAKMP SA state = ACTIVE, and IPsec SA packet counters (encaps / decaps) increment with every packet.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8A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 · VERIFICATION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094415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How Do You Know the Tunnel Is Working?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94415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Verification isn't about memorizing syntax — it's about confirming the two things that must both be true for the tunnel to be functional.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1094415" cy="1463040"/>
          </a:xfrm>
          <a:prstGeom prst="roundRect">
            <a:avLst>
              <a:gd name="adj" fmla="val 5000"/>
            </a:avLst>
          </a:prstGeom>
          <a:solidFill>
            <a:srgbClr val="EEF2F6"/>
          </a:solidFill>
        </p:spPr>
        <p:txBody>
          <a:bodyPr/>
          <a:lstStyle/>
          <a:p>
            <a:endParaRPr lang="ar-EG"/>
          </a:p>
        </p:txBody>
      </p:sp>
      <p:sp>
        <p:nvSpPr>
          <p:cNvPr id="6" name="Text 4"/>
          <p:cNvSpPr/>
          <p:nvPr/>
        </p:nvSpPr>
        <p:spPr>
          <a:xfrm>
            <a:off x="777240" y="2514600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98A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①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463040" y="2468880"/>
            <a:ext cx="990569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Is the control channel up?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63040" y="2834640"/>
            <a:ext cx="9905695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ISAKMP SA should show state QM_IDLE / ACTIVE between the correct source and destination IPs — confirming Phase 1 succeeded.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977640"/>
            <a:ext cx="11094415" cy="1463040"/>
          </a:xfrm>
          <a:prstGeom prst="roundRect">
            <a:avLst>
              <a:gd name="adj" fmla="val 5000"/>
            </a:avLst>
          </a:prstGeom>
          <a:solidFill>
            <a:srgbClr val="EEF2F6"/>
          </a:solidFill>
        </p:spPr>
        <p:txBody>
          <a:bodyPr/>
          <a:lstStyle/>
          <a:p>
            <a:endParaRPr lang="ar-EG"/>
          </a:p>
        </p:txBody>
      </p:sp>
      <p:sp>
        <p:nvSpPr>
          <p:cNvPr id="10" name="Text 8"/>
          <p:cNvSpPr/>
          <p:nvPr/>
        </p:nvSpPr>
        <p:spPr>
          <a:xfrm>
            <a:off x="777240" y="4206240"/>
            <a:ext cx="64008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D98A3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②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463040" y="4160520"/>
            <a:ext cx="990569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3A5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Is data actually being protected?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63040" y="4526280"/>
            <a:ext cx="9905695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IPsec SA should show a non-zero, incrementing packet counter for both encaps (outbound) and decaps (inbound) — confirming Phase 2 SAs are in active use, each identified by its own SPI.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551615" y="6446520"/>
            <a:ext cx="365760" cy="274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1769</Words>
  <Application>Microsoft Office PowerPoint</Application>
  <PresentationFormat>Widescreen</PresentationFormat>
  <Paragraphs>270</Paragraphs>
  <Slides>15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سهيله سعيد عبدالمنعم محمود بيصار</cp:lastModifiedBy>
  <cp:revision>10</cp:revision>
  <dcterms:created xsi:type="dcterms:W3CDTF">2026-08-11T07:21:00Z</dcterms:created>
  <dcterms:modified xsi:type="dcterms:W3CDTF">2026-08-16T06:03:26Z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9375197F536A484EA654C9302E86656B_13</vt:lpwstr>
  </property>
  <property fmtid="{D5CDD505-2E9C-101B-9397-08002B2CF9AE}" pid="3" name="KSOProductBuildVer">
    <vt:lpwstr>1033-12.1.0.28032</vt:lpwstr>
  </property>
</Properties>
</file>